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3"/>
  </p:notesMasterIdLst>
  <p:sldIdLst>
    <p:sldId id="1056" r:id="rId2"/>
    <p:sldId id="337" r:id="rId3"/>
    <p:sldId id="1136" r:id="rId4"/>
    <p:sldId id="1232" r:id="rId5"/>
    <p:sldId id="1208" r:id="rId6"/>
    <p:sldId id="1233" r:id="rId7"/>
    <p:sldId id="1234" r:id="rId8"/>
    <p:sldId id="1235" r:id="rId9"/>
    <p:sldId id="1236" r:id="rId10"/>
    <p:sldId id="1237" r:id="rId11"/>
    <p:sldId id="1239" r:id="rId12"/>
    <p:sldId id="1242" r:id="rId13"/>
    <p:sldId id="1244" r:id="rId14"/>
    <p:sldId id="1245" r:id="rId15"/>
    <p:sldId id="1238" r:id="rId16"/>
    <p:sldId id="1247" r:id="rId17"/>
    <p:sldId id="1249" r:id="rId18"/>
    <p:sldId id="1246" r:id="rId19"/>
    <p:sldId id="1240" r:id="rId20"/>
    <p:sldId id="1241" r:id="rId21"/>
    <p:sldId id="1248" r:id="rId22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6500"/>
    <a:srgbClr val="0072B2"/>
    <a:srgbClr val="34745D"/>
    <a:srgbClr val="B85C4B"/>
    <a:srgbClr val="674B85"/>
    <a:srgbClr val="2C8052"/>
    <a:srgbClr val="9B7801"/>
    <a:srgbClr val="8055A5"/>
    <a:srgbClr val="CCDCE8"/>
    <a:srgbClr val="942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07" autoAdjust="0"/>
    <p:restoredTop sz="82877" autoAdjust="0"/>
  </p:normalViewPr>
  <p:slideViewPr>
    <p:cSldViewPr>
      <p:cViewPr varScale="1">
        <p:scale>
          <a:sx n="104" d="100"/>
          <a:sy n="104" d="100"/>
        </p:scale>
        <p:origin x="403" y="8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40" d="100"/>
          <a:sy n="140" d="100"/>
        </p:scale>
        <p:origin x="461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0CEEB0C-5F5D-40CD-B7D2-65054E4BAA98}" type="datetimeFigureOut">
              <a:rPr lang="en-US"/>
              <a:pPr>
                <a:defRPr/>
              </a:pPr>
              <a:t>10/4/2026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C8291F1-6C4E-4372-8D3B-2C87FC6248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5737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083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952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2FEAC-E1B9-601C-7230-BAD16370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5C329-9994-A108-D184-31355CAE5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13171-D3A9-FBB3-310C-7DC2B4B52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x.com</a:t>
            </a:r>
            <a:r>
              <a:rPr lang="en-US" dirty="0"/>
              <a:t>/</a:t>
            </a:r>
            <a:r>
              <a:rPr lang="en-US" dirty="0" err="1"/>
              <a:t>tobi</a:t>
            </a:r>
            <a:r>
              <a:rPr lang="en-US" dirty="0"/>
              <a:t>/status/1935533422589399127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x.com</a:t>
            </a:r>
            <a:r>
              <a:rPr lang="en-US" dirty="0"/>
              <a:t>/</a:t>
            </a:r>
            <a:r>
              <a:rPr lang="en-US" dirty="0" err="1"/>
              <a:t>karpathy</a:t>
            </a:r>
            <a:r>
              <a:rPr lang="en-US" dirty="0"/>
              <a:t>/status/1937902205765607626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BA7EF-F171-AC91-3624-5D7796B3B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880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61A9-DAE5-DBA3-77F0-44ADC254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3A9FD-03FD-63FD-0EBD-FC702B4F5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F6C02-0705-85A1-4079-8B46B7D76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humanlayer</a:t>
            </a:r>
            <a:r>
              <a:rPr lang="en-US" dirty="0"/>
              <a:t>/12-factor-agents/blob/main/content/factor-03-own-your-context-window.md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F2FAC-87BA-CF99-D17B-E2E417CFC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786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70B5-A1AE-37B9-C805-66F3C8E55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A712D-DEF2-0A9D-2F81-4F20B5AFC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59CF2-8B4B-137F-93AE-C633B3DC3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www.anthropic.com</a:t>
            </a:r>
            <a:r>
              <a:rPr lang="en-US" dirty="0"/>
              <a:t>/engineering/effective-context-engineering-for-ai-agents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FE4FA-A37A-829D-0C38-2A76B687E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034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2A40-C654-17CA-EBBB-327622959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DC815-861C-12AB-758D-87DDF7DB0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1FD49-EC04-3AE0-5CA9-E9994BD11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17F0C-BD53-2F24-80B8-761AB84C7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793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FA26-0CAF-7046-F673-272902387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6856D-9655-AFAB-427B-835A29026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32F85-1727-7609-AF04-61FFA8C40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claude.com</a:t>
            </a:r>
            <a:r>
              <a:rPr lang="en-US" dirty="0"/>
              <a:t>/blog/context-management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=BER3EhUIyz0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537AA-6751-6D30-9CE7-3877667A8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386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693D0-159C-E151-6B27-96452D375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2CB2C-0E06-59D0-2374-5ED80F164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0D23D-897D-DD75-FBF6-D93431F4C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learn.microsoft.com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-us/azure/</a:t>
            </a:r>
            <a:r>
              <a:rPr lang="en-US" dirty="0" err="1"/>
              <a:t>databricks</a:t>
            </a:r>
            <a:r>
              <a:rPr lang="en-US" dirty="0"/>
              <a:t>/agents/retrieval-augmented-generation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/abs/2005.11401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F1A3E-94C6-F8AC-DAED-CEEC6493A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95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E80FC-C634-4E24-795B-AD7C27DC2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738DD-969F-49DF-6F36-91C873766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C3C0B-D5D5-BC57-E41E-32F317717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www.paloaltonetworks.com</a:t>
            </a:r>
            <a:r>
              <a:rPr lang="en-US" dirty="0"/>
              <a:t>/</a:t>
            </a:r>
            <a:r>
              <a:rPr lang="en-US" dirty="0" err="1"/>
              <a:t>cyberpedia</a:t>
            </a:r>
            <a:r>
              <a:rPr lang="en-US" dirty="0"/>
              <a:t>/what-is-retrieval-augmented-generation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FDB2B-21DF-4B5D-FB5E-C81E124EC6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365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9BAB9-42E7-6256-1E7B-F061FAE1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662FB-F9FA-1A43-3AD6-045DFE5A1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09908-C387-E0C7-394D-C9E58F03E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www.paloaltonetworks.com</a:t>
            </a:r>
            <a:r>
              <a:rPr lang="en-US" dirty="0"/>
              <a:t>/</a:t>
            </a:r>
            <a:r>
              <a:rPr lang="en-US" dirty="0" err="1"/>
              <a:t>cyberpedia</a:t>
            </a:r>
            <a:r>
              <a:rPr lang="en-US" dirty="0"/>
              <a:t>/what-is-retrieval-augmented-generation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F8BED-6C32-53C6-B439-A1E795DAD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06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8E6F9-B272-B5CE-8FA1-7E029E6D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69FEB-686E-25C7-6A33-01418692AA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082E1-DA58-3DC4-B8F8-9731F06A6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developers.openai.com</a:t>
            </a:r>
            <a:r>
              <a:rPr lang="en-US" dirty="0"/>
              <a:t>/</a:t>
            </a:r>
            <a:r>
              <a:rPr lang="en-US" dirty="0" err="1"/>
              <a:t>api</a:t>
            </a:r>
            <a:r>
              <a:rPr lang="en-US" dirty="0"/>
              <a:t>/docs/guides/</a:t>
            </a:r>
            <a:r>
              <a:rPr lang="en-US" dirty="0" err="1"/>
              <a:t>optimizing-llm-accuracy#retrieval-augmented-generation-rag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28314-B6DD-0C53-DDF4-A74A12C1F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223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B4B34-F69F-6C8E-1948-45E8AB854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0CFAF-3817-76D8-17BF-2E9E8DE3A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72392-1B0A-7180-F55F-E5199EF6E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developers.google.com</a:t>
            </a:r>
            <a:r>
              <a:rPr lang="en-US" dirty="0"/>
              <a:t>/machine-learning/crash-course/embeddings/embedding-space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1AD59-DEF7-A28E-CBEC-B989BB061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553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ED57-E6C9-7C87-419B-949225DD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08A1B-562B-A9D7-4709-B1C53E909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E0A14-25C9-3F8F-8790-379BA25C8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31498-95C5-8FFE-C670-9C4B01F7D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041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2EDB8-0F02-0585-3888-2AA3F2AC7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52317-377E-B5AD-86B6-A7A521FE4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7E9CD-E25C-83F1-F7EB-362308337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391F9-3F88-C605-2153-99B598CBBE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151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3A600-F833-E84A-D83E-0B214149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B68CE-C262-C97C-4751-3BAD5D9F0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A4F8B-A429-DF57-A5F4-00CBCE2AB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38925-B771-8EDB-4535-C827277CF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2202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EB738-1D4E-5507-7801-5DA095D8D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8FF504-27FA-A1FD-151F-573DE986C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56CB5-A3EA-8DAC-D0A1-EC06ECD57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developers.openai.com</a:t>
            </a:r>
            <a:r>
              <a:rPr lang="en-US" dirty="0"/>
              <a:t>/</a:t>
            </a:r>
            <a:r>
              <a:rPr lang="en-US" dirty="0" err="1"/>
              <a:t>api</a:t>
            </a:r>
            <a:r>
              <a:rPr lang="en-US" dirty="0"/>
              <a:t>/docs/guides/</a:t>
            </a:r>
            <a:r>
              <a:rPr lang="en-US" dirty="0" err="1"/>
              <a:t>optimizing-llm-accuracy#retrieval-augmented-generation-rag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05EEC-6384-0812-7E14-810F9E3EA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4358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9D2A-3283-FC41-8FA0-D93825C2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5B851-CAB5-B82C-60C8-C358491E9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274C7-8652-64ED-AB5A-A651DCF5F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huggingface.co</a:t>
            </a:r>
            <a:r>
              <a:rPr lang="en-US" dirty="0"/>
              <a:t>/blog/</a:t>
            </a:r>
            <a:r>
              <a:rPr lang="en-US" dirty="0" err="1"/>
              <a:t>nvidia</a:t>
            </a:r>
            <a:r>
              <a:rPr lang="en-US" dirty="0"/>
              <a:t>/nemotron-3-embed-wins-rteb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9DAF1-F65A-1B52-F5CB-33F360C85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760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ctrTitle"/>
          </p:nvPr>
        </p:nvSpPr>
        <p:spPr>
          <a:xfrm>
            <a:off x="685800" y="1597804"/>
            <a:ext cx="7772400" cy="1102519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7043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FontTx/>
              <a:buNone/>
              <a:defRPr smtClean="0"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52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55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759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28700"/>
            <a:ext cx="3810000" cy="3200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028700"/>
            <a:ext cx="3810000" cy="3200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21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576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55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98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322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4454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60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00" y="400050"/>
            <a:ext cx="1943100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0050"/>
            <a:ext cx="5676900" cy="3829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553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orizontal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67466" y="4492091"/>
            <a:ext cx="2447134" cy="55699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E93289-8F70-44EC-896F-3F66D5B34438}"/>
              </a:ext>
            </a:extLst>
          </p:cNvPr>
          <p:cNvSpPr/>
          <p:nvPr userDrawn="1"/>
        </p:nvSpPr>
        <p:spPr>
          <a:xfrm>
            <a:off x="4572001" y="0"/>
            <a:ext cx="4571999" cy="51435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BCFCAA-8D44-4EEB-9872-98662755C93C}"/>
              </a:ext>
            </a:extLst>
          </p:cNvPr>
          <p:cNvGrpSpPr/>
          <p:nvPr userDrawn="1"/>
        </p:nvGrpSpPr>
        <p:grpSpPr>
          <a:xfrm>
            <a:off x="524225" y="361989"/>
            <a:ext cx="8105000" cy="4265791"/>
            <a:chOff x="708393" y="482651"/>
            <a:chExt cx="10806667" cy="568772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C81AA0B-DEDC-4094-B5AC-745C0EC47914}"/>
                </a:ext>
              </a:extLst>
            </p:cNvPr>
            <p:cNvSpPr/>
            <p:nvPr/>
          </p:nvSpPr>
          <p:spPr>
            <a:xfrm>
              <a:off x="5227385" y="482651"/>
              <a:ext cx="6287675" cy="4732131"/>
            </a:xfrm>
            <a:prstGeom prst="rect">
              <a:avLst/>
            </a:prstGeom>
            <a:noFill/>
            <a:ln w="25400">
              <a:gradFill>
                <a:gsLst>
                  <a:gs pos="0">
                    <a:srgbClr val="CEB87B"/>
                  </a:gs>
                  <a:gs pos="99000">
                    <a:srgbClr val="B08456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2142EF-542A-4952-BD7D-E53E6054C19D}"/>
                </a:ext>
              </a:extLst>
            </p:cNvPr>
            <p:cNvSpPr/>
            <p:nvPr/>
          </p:nvSpPr>
          <p:spPr>
            <a:xfrm>
              <a:off x="708393" y="1438241"/>
              <a:ext cx="6287675" cy="4732131"/>
            </a:xfrm>
            <a:prstGeom prst="rect">
              <a:avLst/>
            </a:prstGeom>
            <a:noFill/>
            <a:ln w="25400">
              <a:gradFill>
                <a:gsLst>
                  <a:gs pos="0">
                    <a:srgbClr val="CEB87B"/>
                  </a:gs>
                  <a:gs pos="99000">
                    <a:srgbClr val="B08456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DE6F95-DCB7-411B-B006-AEA1742811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101D1B-33AC-41C7-9B0A-909D8999D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08" y="1379927"/>
            <a:ext cx="2709646" cy="99417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srgbClr val="191919"/>
                </a:solidFill>
                <a:latin typeface="Georgia" panose="02040502050405020303" pitchFamily="18" charset="0"/>
              </a:rPr>
              <a:t>This is a slide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41236E6-839F-4858-B1A1-343973B583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14750" y="615553"/>
            <a:ext cx="4716066" cy="3548063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64CE03A-04B7-4EBB-9410-C0DC30F4F5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0581" y="2491164"/>
            <a:ext cx="2709863" cy="484584"/>
          </a:xfrm>
        </p:spPr>
        <p:txBody>
          <a:bodyPr/>
          <a:lstStyle>
            <a:lvl1pPr>
              <a:defRPr sz="1650" i="0" baseline="0">
                <a:latin typeface="Georgia" panose="02040502050405020303" pitchFamily="18" charset="0"/>
              </a:defRPr>
            </a:lvl1pPr>
            <a:lvl2pPr>
              <a:defRPr sz="1350" i="1" baseline="0">
                <a:latin typeface="Georgia" panose="02040502050405020303" pitchFamily="18" charset="0"/>
              </a:defRPr>
            </a:lvl2pPr>
            <a:lvl3pPr>
              <a:defRPr sz="1350" i="1" baseline="0">
                <a:latin typeface="Georgia" panose="02040502050405020303" pitchFamily="18" charset="0"/>
              </a:defRPr>
            </a:lvl3pPr>
            <a:lvl4pPr>
              <a:defRPr sz="1350" i="1" baseline="0">
                <a:latin typeface="Georgia" panose="02040502050405020303" pitchFamily="18" charset="0"/>
              </a:defRPr>
            </a:lvl4pPr>
            <a:lvl5pPr>
              <a:defRPr sz="1350" i="1" baseline="0">
                <a:latin typeface="Georgia" panose="02040502050405020303" pitchFamily="18" charset="0"/>
              </a:defRPr>
            </a:lvl5pPr>
          </a:lstStyle>
          <a:p>
            <a:pPr lvl="0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D6B7D3-148E-4146-BC58-09A90389A4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921" y="3528187"/>
            <a:ext cx="2447134" cy="41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41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61950"/>
            <a:ext cx="8686800" cy="514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33450"/>
            <a:ext cx="86868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03BFF8-C785-9E59-0812-2B0269F705D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69" y="4629150"/>
            <a:ext cx="2250831" cy="34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5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A80000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A80000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A80000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A80000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FB87C"/>
        </a:buClr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FB87C"/>
        </a:buClr>
        <a:buFont typeface="Arial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CFB87C"/>
        </a:buClr>
        <a:buFont typeface="Arial" pitchFamily="34" charset="0"/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CFB87C"/>
        </a:buClr>
        <a:buFont typeface="Arial" pitchFamily="34" charset="0"/>
        <a:buChar char="•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2605.23170" TargetMode="External"/><Relationship Id="rId3" Type="http://schemas.openxmlformats.org/officeDocument/2006/relationships/image" Target="../media/image9.png"/><Relationship Id="rId7" Type="http://schemas.openxmlformats.org/officeDocument/2006/relationships/hyperlink" Target="https://arxiv.org/abs/2605.23170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pdf/2511.05850" TargetMode="External"/><Relationship Id="rId5" Type="http://schemas.openxmlformats.org/officeDocument/2006/relationships/hyperlink" Target="https://arxiv.org/abs/2511.05850" TargetMode="External"/><Relationship Id="rId4" Type="http://schemas.openxmlformats.org/officeDocument/2006/relationships/hyperlink" Target="https://arxiv.org/abs/2307.0317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huggingface.co/spaces/mteb/leaderboard" TargetMode="Externa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3BE453-A145-42E1-A483-742B5F1F76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D711E32-09F9-43E9-8380-735170AC0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316" y="1395412"/>
            <a:ext cx="2740392" cy="994172"/>
          </a:xfrm>
        </p:spPr>
        <p:txBody>
          <a:bodyPr/>
          <a:lstStyle/>
          <a:p>
            <a:r>
              <a:rPr lang="en-US" sz="2000" dirty="0"/>
              <a:t>MBAX 6418</a:t>
            </a:r>
            <a:br>
              <a:rPr lang="en-US" sz="2000" dirty="0"/>
            </a:br>
            <a:r>
              <a:rPr lang="en-US" sz="2000" dirty="0"/>
              <a:t>Context Engineering and RAG</a:t>
            </a:r>
          </a:p>
        </p:txBody>
      </p:sp>
      <p:pic>
        <p:nvPicPr>
          <p:cNvPr id="7" name="Picture 8" descr="TIM_7770-Edit-Edit-Edit-9 Koelbel Exterior Rankings Banner.jpg">
            <a:extLst>
              <a:ext uri="{FF2B5EF4-FFF2-40B4-BE49-F238E27FC236}">
                <a16:creationId xmlns:a16="http://schemas.microsoft.com/office/drawing/2014/main" id="{722B4232-198F-4E06-9A7D-C5C3FE8E2F1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50AD390-DF3E-4529-BB9B-C368A7F6B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0581" y="2315766"/>
            <a:ext cx="2709863" cy="484584"/>
          </a:xfrm>
        </p:spPr>
        <p:txBody>
          <a:bodyPr/>
          <a:lstStyle/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/>
              <a:t>David Dobolyi, PhD</a:t>
            </a:r>
          </a:p>
          <a:p>
            <a:pPr marL="0" indent="0" algn="ctr">
              <a:buNone/>
            </a:pPr>
            <a:r>
              <a:rPr lang="en-US" sz="1200" dirty="0"/>
              <a:t>Assistant Professor</a:t>
            </a:r>
          </a:p>
          <a:p>
            <a:pPr marL="0" indent="0" algn="ctr">
              <a:buNone/>
            </a:pPr>
            <a:r>
              <a:rPr lang="en-US" sz="1200" dirty="0"/>
              <a:t>Stone Family Faculty Scholar</a:t>
            </a:r>
          </a:p>
          <a:p>
            <a:pPr marL="0" indent="0" algn="ctr">
              <a:buNone/>
            </a:pPr>
            <a:r>
              <a:rPr lang="en-US" sz="1200" dirty="0"/>
              <a:t>david.dobolyi@colorado.edu</a:t>
            </a:r>
          </a:p>
        </p:txBody>
      </p:sp>
    </p:spTree>
    <p:extLst>
      <p:ext uri="{BB962C8B-B14F-4D97-AF65-F5344CB8AC3E}">
        <p14:creationId xmlns:p14="http://schemas.microsoft.com/office/powerpoint/2010/main" val="3911340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76300"/>
            <a:ext cx="8686800" cy="3543300"/>
          </a:xfrm>
        </p:spPr>
        <p:txBody>
          <a:bodyPr/>
          <a:lstStyle/>
          <a:p>
            <a:r>
              <a:rPr lang="en-US" dirty="0"/>
              <a:t>Context Engineering</a:t>
            </a:r>
          </a:p>
          <a:p>
            <a:r>
              <a:rPr lang="en-US" dirty="0"/>
              <a:t>Retrieval Augmented Generation (RAG)</a:t>
            </a:r>
          </a:p>
          <a:p>
            <a:r>
              <a:rPr lang="en-US" dirty="0"/>
              <a:t>Building a RAG System</a:t>
            </a:r>
          </a:p>
          <a:p>
            <a:r>
              <a:rPr lang="en-US" dirty="0"/>
              <a:t>Class Exercise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FF55F-6AD4-9B05-D537-23840181E8B6}"/>
              </a:ext>
            </a:extLst>
          </p:cNvPr>
          <p:cNvSpPr txBox="1"/>
          <p:nvPr/>
        </p:nvSpPr>
        <p:spPr>
          <a:xfrm>
            <a:off x="8649730" y="4916329"/>
            <a:ext cx="4942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00A98A8-CDB6-824A-B288-C8279A020685}" type="slidenum">
              <a:rPr lang="en-US" sz="1000" smtClean="0">
                <a:latin typeface="+mn-lt"/>
              </a:rPr>
              <a:pPr algn="r"/>
              <a:t>2</a:t>
            </a:fld>
            <a:endParaRPr lang="en-US" sz="1000" dirty="0">
              <a:latin typeface="+mn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DB8D80-7F93-0601-7797-AE146549C089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69342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Topics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54730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F23D3-6D9B-4AD8-6F1E-E67C81F0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8CFB14-49AD-676D-82F7-C75B3237D650}"/>
              </a:ext>
            </a:extLst>
          </p:cNvPr>
          <p:cNvSpPr txBox="1">
            <a:spLocks/>
          </p:cNvSpPr>
          <p:nvPr/>
        </p:nvSpPr>
        <p:spPr bwMode="auto">
          <a:xfrm>
            <a:off x="228600" y="2314575"/>
            <a:ext cx="8686800" cy="514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/>
              <a:t>Context Engineering</a:t>
            </a:r>
          </a:p>
        </p:txBody>
      </p:sp>
    </p:spTree>
    <p:extLst>
      <p:ext uri="{BB962C8B-B14F-4D97-AF65-F5344CB8AC3E}">
        <p14:creationId xmlns:p14="http://schemas.microsoft.com/office/powerpoint/2010/main" val="283907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C2D75-E451-47AD-2BD8-A08EDC290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14D6951-E02C-BCF5-B9B4-282835B76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8AE1A27-7A3B-1B4F-D578-AF63D9A33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980D1D0-0341-653E-052B-7BAB1FDE649E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From Prompts to Context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F0CD8-8149-0287-2951-D2DD2984FE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442891"/>
            <a:ext cx="5087082" cy="2257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88D1AE-0AE2-5E3B-FA85-A65F2FAF3E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072" y="30824"/>
            <a:ext cx="3281328" cy="508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5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8A3E-2C05-04D9-96EF-9606323B3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AA5102D-3959-1277-E9DC-49946801D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10230DE-E528-CBF2-7A78-EC80C9373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3516790-6C0E-E5D8-53E6-84B66A405DC5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But What Is Context Engineering?</a:t>
            </a:r>
            <a:endParaRPr lang="en-US" kern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1D4E69-E270-D996-8DE5-DD967A847C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774844"/>
            <a:ext cx="7391400" cy="415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1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52C5F-B0BA-A6B0-A99D-F27B6ED38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3825B01-2FE6-07B3-FBCA-6F9519895B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908AD730-F299-C09B-27DB-CC08BD9BF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716FB84-DBA0-4A38-3F43-1B15D9C5AC39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Expanding the Scope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2382A-A072-E0D4-DC74-FC28333E76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10" y="827528"/>
            <a:ext cx="7296062" cy="41064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505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FB9A-0B0B-1E71-16C4-C86C758E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071710-ED3C-2B6C-1AF8-1CED6E05CE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917" y="100798"/>
            <a:ext cx="3558171" cy="4941904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88395C2-D094-3C0B-F9A8-A4E44577918A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Context Location Matters?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56999C-76F3-01B4-1B33-00A9B68E5B90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4953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Historically, models suffered from a </a:t>
            </a:r>
            <a:r>
              <a:rPr lang="en-US" sz="2000" b="1" kern="0" dirty="0"/>
              <a:t>Lost in the Middle (LITM)</a:t>
            </a:r>
            <a:r>
              <a:rPr lang="en-US" sz="2000" kern="0" dirty="0"/>
              <a:t> effect: LLM accuracy dropped when relevant facts occurred in the middle of input context (</a:t>
            </a:r>
            <a:r>
              <a:rPr lang="en-US" sz="2000" kern="0" dirty="0">
                <a:hlinkClick r:id="rId4"/>
              </a:rPr>
              <a:t>Liu et al. 2023</a:t>
            </a:r>
            <a:r>
              <a:rPr lang="en-US" sz="2000" kern="0" dirty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Some newer models are more resistant to this effect, but performance still depends on the model, task, and/or surrounding content</a:t>
            </a:r>
            <a:r>
              <a:rPr lang="en-US" sz="2000" kern="0" dirty="0"/>
              <a:t> (e.g., </a:t>
            </a:r>
            <a:r>
              <a:rPr lang="en-US" sz="2000" kern="0" dirty="0">
                <a:hlinkClick r:id="rId5"/>
              </a:rPr>
              <a:t>McKinnon</a:t>
            </a:r>
            <a:r>
              <a:rPr lang="en-US" sz="2000" kern="0" dirty="0">
                <a:hlinkClick r:id="rId6"/>
              </a:rPr>
              <a:t> 2025</a:t>
            </a:r>
            <a:r>
              <a:rPr lang="en-US" sz="2000" kern="0" dirty="0"/>
              <a:t>; </a:t>
            </a:r>
            <a:r>
              <a:rPr lang="en-US" sz="2000" kern="0" dirty="0">
                <a:hlinkClick r:id="rId7"/>
              </a:rPr>
              <a:t>Zhang</a:t>
            </a:r>
            <a:r>
              <a:rPr lang="en-US" sz="2000" kern="0" dirty="0">
                <a:hlinkClick r:id="rId8"/>
              </a:rPr>
              <a:t> et al. 2026</a:t>
            </a:r>
            <a:r>
              <a:rPr lang="en-US" sz="2000" kern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8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42EC-E776-55A1-44F8-ECE42281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DC4897F-7F98-14F4-074B-5829CD969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16" name="Picture 1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A0944DD-820A-EE4A-6217-23810C1A6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4A5FC69-3E69-E336-8355-B8F2CDEC9C89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Context Is Not Infinite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0983B7-9C39-B5CB-F1F5-771DB80C5EC7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85665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kern="0" dirty="0"/>
              <a:t>Even very large context windows can fill up during long-running or complex tasks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Older information may need to be removed or summarized</a:t>
            </a:r>
            <a:endParaRPr lang="en-US" kern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kern="0" dirty="0"/>
              <a:t>Agent harnesses (e.g., Hermes) can manage this for you automatically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kern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kern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kern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kern="0" dirty="0"/>
              <a:t>But what about context engineering for apps you create?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D98184-7E44-4235-0B97-58A39BA82F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066536"/>
            <a:ext cx="7772400" cy="11816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3460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13E83-FAFF-0EFB-F254-A311BB016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616A291-B899-F596-8830-D667B9A28571}"/>
              </a:ext>
            </a:extLst>
          </p:cNvPr>
          <p:cNvSpPr txBox="1">
            <a:spLocks/>
          </p:cNvSpPr>
          <p:nvPr/>
        </p:nvSpPr>
        <p:spPr bwMode="auto">
          <a:xfrm>
            <a:off x="228600" y="2314575"/>
            <a:ext cx="8686800" cy="514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/>
              <a:t>Retrieval Augmented Generation (RAG)</a:t>
            </a:r>
          </a:p>
        </p:txBody>
      </p:sp>
    </p:spTree>
    <p:extLst>
      <p:ext uri="{BB962C8B-B14F-4D97-AF65-F5344CB8AC3E}">
        <p14:creationId xmlns:p14="http://schemas.microsoft.com/office/powerpoint/2010/main" val="140441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061EF-DCB4-A7EF-ECFE-D0A0A65B3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5A140FA-0F99-B04D-D394-B3C948E21C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6200" y="1047750"/>
            <a:ext cx="6515100" cy="358140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D6D6C0D-CA8D-B2CF-DB96-0589580553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660A45F-31D3-D52B-8557-946F876FA1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2AE1B39-A654-5483-E6F5-D00A22B20E5C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What Is RAG?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800E6D-91AA-3B55-F924-5BA79837B40B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28194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kern="0" dirty="0"/>
              <a:t>Retrieval-augmented generation (RAG)</a:t>
            </a:r>
            <a:r>
              <a:rPr lang="en-US" sz="2000" kern="0" dirty="0"/>
              <a:t> </a:t>
            </a:r>
            <a:r>
              <a:rPr lang="en-US" sz="2000" dirty="0"/>
              <a:t>retrieves relevant information from documents, databases, and other data sources and adds it to a model’s context to help generate a response to a user’s prompt/question</a:t>
            </a:r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207238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5ADFB-B8B3-74A7-6E78-718A6256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C0EB71-D1D0-1BA7-631C-9F1A1AFED3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1250" y="1013750"/>
            <a:ext cx="5967856" cy="3354124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890606D-F489-0C97-9270-F78DB6AD93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8A88CC0-2971-1DAD-8808-D78F42B27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6176AE8-7764-3EDE-B410-81CF93E11798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Why Use RAG?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C2FCAE2-1ABB-62FF-E7D1-71D0A7D6780D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3657600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RAG </a:t>
            </a:r>
            <a:r>
              <a:rPr lang="en-US" sz="2000" dirty="0"/>
              <a:t>gives a model access to information beyond its training data</a:t>
            </a:r>
            <a:r>
              <a:rPr lang="en-US" sz="2000" kern="0" dirty="0"/>
              <a:t>, </a:t>
            </a:r>
            <a:r>
              <a:rPr lang="en-US" sz="2000" dirty="0"/>
              <a:t>including more recent or private information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It selects relevant material from a large collection – or </a:t>
            </a:r>
            <a:r>
              <a:rPr lang="en-US" sz="2000" b="1" dirty="0"/>
              <a:t>corpus</a:t>
            </a:r>
            <a:r>
              <a:rPr lang="en-US" sz="2000" dirty="0"/>
              <a:t> – and grounds responses in sources, making answers easier to verify, potentially reducing hallucinations</a:t>
            </a:r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1989759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457D4-EEBB-5F62-3D62-DD892E3FD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1E0847-FD89-0B0D-0B37-8FABB21316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94" b="13394"/>
          <a:stretch/>
        </p:blipFill>
        <p:spPr>
          <a:xfrm>
            <a:off x="808137" y="438150"/>
            <a:ext cx="7407475" cy="304800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39C4E4B-64BD-9613-B641-50C87814ED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9E095164-F254-FF63-0164-4BF0B0454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480A9AF-CB58-55CC-7ED4-150015F4FB7B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RAG Use Cases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E446886-2C00-AF8D-5DA0-F11C751CDA7D}"/>
              </a:ext>
            </a:extLst>
          </p:cNvPr>
          <p:cNvSpPr txBox="1">
            <a:spLocks/>
          </p:cNvSpPr>
          <p:nvPr/>
        </p:nvSpPr>
        <p:spPr bwMode="auto">
          <a:xfrm>
            <a:off x="228600" y="3638550"/>
            <a:ext cx="85665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RAG lets your app draw on codebases, course materials, private documents, and other information sources to support a variety of tasks</a:t>
            </a:r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254938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678A3-5146-7411-7E45-663E3455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C98920-1A6D-43EE-3B63-83BA07B4A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067" y="523711"/>
            <a:ext cx="6667866" cy="3399305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D6DFF8D-8B94-0017-65A9-B73FBB291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70FD3A2-4355-0B08-D312-2CBDBDBF2F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1FEA9DE-17E7-EE29-1200-998BB368C87C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Context Optimization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AEFF14-A696-FEE8-8194-5EB8B2DEF2C5}"/>
              </a:ext>
            </a:extLst>
          </p:cNvPr>
          <p:cNvSpPr txBox="1">
            <a:spLocks/>
          </p:cNvSpPr>
          <p:nvPr/>
        </p:nvSpPr>
        <p:spPr bwMode="auto">
          <a:xfrm>
            <a:off x="228600" y="3638550"/>
            <a:ext cx="85665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RAG optimizes context by supplying relevant information when the model responds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kern="0" dirty="0"/>
              <a:t>Fine-tuning</a:t>
            </a:r>
            <a:r>
              <a:rPr lang="en-US" sz="2000" kern="0" dirty="0"/>
              <a:t> adapts the model itself through additional training—a topic we’ll cover later</a:t>
            </a:r>
          </a:p>
        </p:txBody>
      </p:sp>
    </p:spTree>
    <p:extLst>
      <p:ext uri="{BB962C8B-B14F-4D97-AF65-F5344CB8AC3E}">
        <p14:creationId xmlns:p14="http://schemas.microsoft.com/office/powerpoint/2010/main" val="254728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7AB84-85CE-93ED-51AC-243177FDE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631B0F-5F04-469B-25FD-28F49EBDA0C5}"/>
              </a:ext>
            </a:extLst>
          </p:cNvPr>
          <p:cNvSpPr txBox="1">
            <a:spLocks/>
          </p:cNvSpPr>
          <p:nvPr/>
        </p:nvSpPr>
        <p:spPr bwMode="auto">
          <a:xfrm>
            <a:off x="228600" y="2314575"/>
            <a:ext cx="8686800" cy="514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/>
              <a:t>Building a RAG System</a:t>
            </a:r>
          </a:p>
        </p:txBody>
      </p:sp>
    </p:spTree>
    <p:extLst>
      <p:ext uri="{BB962C8B-B14F-4D97-AF65-F5344CB8AC3E}">
        <p14:creationId xmlns:p14="http://schemas.microsoft.com/office/powerpoint/2010/main" val="28229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13D3-A0DB-13A0-0824-27CA25B0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4F836FC-D56F-51C5-6390-653F4EE62B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657" y="878703"/>
            <a:ext cx="4674943" cy="3569472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E2F362E-2FED-93C0-9841-6E399213A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04BF5BE-148C-451F-D298-0C1F023CD0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CBEA91B-BAD8-CFFC-93AD-2A9963972DF4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Semantic Search and Embeddings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BCDCE9-C598-7607-8A09-2293AA2CD05E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4953000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RAG often uses </a:t>
            </a:r>
            <a:r>
              <a:rPr lang="en-US" sz="2000" b="1" kern="0" dirty="0"/>
              <a:t>semantic search</a:t>
            </a:r>
            <a:r>
              <a:rPr lang="en-US" sz="2000" kern="0" dirty="0"/>
              <a:t>, or search based on meaning, to retrieve info relevant to the user’s question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Semantic search typically uses </a:t>
            </a:r>
            <a:r>
              <a:rPr lang="en-US" sz="2000" b="1" kern="0" dirty="0"/>
              <a:t>embeddings</a:t>
            </a:r>
            <a:r>
              <a:rPr lang="en-US" sz="2000" kern="0" dirty="0"/>
              <a:t> to numerically represent text, images, and other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Embeddings are like coordinates</a:t>
            </a:r>
            <a:br>
              <a:rPr lang="en-US" sz="2000" kern="0" dirty="0"/>
            </a:br>
            <a:r>
              <a:rPr lang="en-US" sz="2000" kern="0" dirty="0"/>
              <a:t>in high-dimensional space: similar </a:t>
            </a:r>
            <a:br>
              <a:rPr lang="en-US" sz="2000" kern="0" dirty="0"/>
            </a:br>
            <a:r>
              <a:rPr lang="en-US" sz="2000" kern="0" dirty="0"/>
              <a:t>items tend to lie closer together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kern="0" dirty="0"/>
              <a:t>Vector search </a:t>
            </a:r>
            <a:r>
              <a:rPr lang="en-US" sz="2000" kern="0" dirty="0"/>
              <a:t>compares the question’s embedding with data embeddings to find potential matches</a:t>
            </a:r>
          </a:p>
        </p:txBody>
      </p:sp>
    </p:spTree>
    <p:extLst>
      <p:ext uri="{BB962C8B-B14F-4D97-AF65-F5344CB8AC3E}">
        <p14:creationId xmlns:p14="http://schemas.microsoft.com/office/powerpoint/2010/main" val="353070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E8B6A-2BB0-55F4-49B0-BA1F7D2F5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264E17CF-04E5-244C-9A53-730C7D7314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666750"/>
            <a:ext cx="7772400" cy="155448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824328C-096A-E488-8B5B-70C197120A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8C976A3-2DDD-1534-AFB9-F5FE660F9C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2C6AAA1-4596-4CDA-1AA5-D8FC9C46E0BD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Preparing Documents (Docs) for Search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BF03BB-4A98-B28B-FDC6-5E74991AF9AC}"/>
              </a:ext>
            </a:extLst>
          </p:cNvPr>
          <p:cNvSpPr txBox="1">
            <a:spLocks/>
          </p:cNvSpPr>
          <p:nvPr/>
        </p:nvSpPr>
        <p:spPr bwMode="auto">
          <a:xfrm>
            <a:off x="228600" y="2221230"/>
            <a:ext cx="8566550" cy="222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Docs added or updated in the RAG corpus must be prepared for search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kern="0" dirty="0">
                <a:solidFill>
                  <a:srgbClr val="674B85"/>
                </a:solidFill>
              </a:rPr>
              <a:t>Parsing</a:t>
            </a:r>
            <a:r>
              <a:rPr lang="en-US" sz="2000" kern="0" dirty="0"/>
              <a:t> extracts text and structure from each doc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kern="0" dirty="0">
                <a:solidFill>
                  <a:srgbClr val="B85C4B"/>
                </a:solidFill>
              </a:rPr>
              <a:t>Chunking</a:t>
            </a:r>
            <a:r>
              <a:rPr lang="en-US" sz="2000" kern="0" dirty="0">
                <a:solidFill>
                  <a:srgbClr val="B85C4B"/>
                </a:solidFill>
              </a:rPr>
              <a:t> </a:t>
            </a:r>
            <a:r>
              <a:rPr lang="en-US" sz="2000" kern="0" dirty="0"/>
              <a:t>divides the parsed content of each doc into useful passages while preserving source metadata (e.g., doc name, page number)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kern="0" dirty="0">
                <a:solidFill>
                  <a:srgbClr val="34745D"/>
                </a:solidFill>
              </a:rPr>
              <a:t>Indexing</a:t>
            </a:r>
            <a:r>
              <a:rPr lang="en-US" sz="2000" kern="0" dirty="0"/>
              <a:t> prepares the chunked passages for both:</a:t>
            </a:r>
          </a:p>
          <a:p>
            <a:pPr marL="692150" lvl="1" indent="-233363"/>
            <a:r>
              <a:rPr lang="en-US" kern="0" dirty="0"/>
              <a:t>K</a:t>
            </a:r>
            <a:r>
              <a:rPr lang="en-US" sz="2000" kern="0" dirty="0"/>
              <a:t>eyword (lexical) search to find chunks containing matching words</a:t>
            </a:r>
          </a:p>
          <a:p>
            <a:pPr marL="692150" lvl="1" indent="-233363"/>
            <a:r>
              <a:rPr lang="en-US" sz="2000" kern="0" dirty="0"/>
              <a:t>Vector search, which uses embeddings to find chunks with similar meanings</a:t>
            </a:r>
          </a:p>
        </p:txBody>
      </p:sp>
    </p:spTree>
    <p:extLst>
      <p:ext uri="{BB962C8B-B14F-4D97-AF65-F5344CB8AC3E}">
        <p14:creationId xmlns:p14="http://schemas.microsoft.com/office/powerpoint/2010/main" val="334570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EDBF-9C85-C098-55F8-8EE18A926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8519CC-0397-73B2-9FE6-63B42BB9C7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25349"/>
            <a:ext cx="5867400" cy="2141601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156167E7-738A-4C9A-1294-814A19F857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B867229-0F54-DE87-3C54-3BBD87B25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D87112-C66E-AC7A-0413-EDDAFD786B23}"/>
              </a:ext>
            </a:extLst>
          </p:cNvPr>
          <p:cNvSpPr txBox="1">
            <a:spLocks/>
          </p:cNvSpPr>
          <p:nvPr/>
        </p:nvSpPr>
        <p:spPr bwMode="auto">
          <a:xfrm>
            <a:off x="228600" y="2221230"/>
            <a:ext cx="8566550" cy="222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Each chunk should contain just enough context to be useful in isolation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Common chunking strategies:</a:t>
            </a:r>
          </a:p>
          <a:p>
            <a:pPr marL="692150" lvl="1" indent="-233363"/>
            <a:r>
              <a:rPr lang="en-US" b="1" kern="0" dirty="0"/>
              <a:t>Fixed size</a:t>
            </a:r>
            <a:r>
              <a:rPr lang="en-US" kern="0" dirty="0"/>
              <a:t> – chunks with a set size, often with overlap</a:t>
            </a:r>
          </a:p>
          <a:p>
            <a:pPr marL="692150" lvl="1" indent="-233363"/>
            <a:r>
              <a:rPr lang="en-US" b="1" kern="0" dirty="0"/>
              <a:t>Recursive</a:t>
            </a:r>
            <a:r>
              <a:rPr lang="en-US" kern="0" dirty="0"/>
              <a:t> – split at boundaries like paragraphs, then divide oversized chunks at finer boundaries like sentences</a:t>
            </a:r>
          </a:p>
          <a:p>
            <a:pPr marL="692150" lvl="1" indent="-233363"/>
            <a:r>
              <a:rPr lang="en-US" b="1" kern="0" dirty="0"/>
              <a:t>Document-based</a:t>
            </a:r>
            <a:r>
              <a:rPr lang="en-US" kern="0" dirty="0"/>
              <a:t> – keep related information together based on structural boundaries such as headings (see example above)</a:t>
            </a:r>
          </a:p>
          <a:p>
            <a:pPr marL="692150" lvl="1" indent="-233363"/>
            <a:r>
              <a:rPr lang="en-US" b="1" kern="0" dirty="0"/>
              <a:t>Semantic</a:t>
            </a:r>
            <a:r>
              <a:rPr lang="en-US" kern="0" dirty="0"/>
              <a:t> – split based on changing topics or meanings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65A9014-594A-D720-0806-79509DF18E17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48"/>
            <a:ext cx="3200400" cy="1435608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Chunking: How Much Context Is Enough?</a:t>
            </a:r>
          </a:p>
        </p:txBody>
      </p:sp>
    </p:spTree>
    <p:extLst>
      <p:ext uri="{BB962C8B-B14F-4D97-AF65-F5344CB8AC3E}">
        <p14:creationId xmlns:p14="http://schemas.microsoft.com/office/powerpoint/2010/main" val="235464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82FD5-8299-43B8-0FBA-FB5BE221C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17F648B-C0FF-A955-E52F-6173A37ACE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590550"/>
            <a:ext cx="7772400" cy="2190403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B86332C-8DE9-268E-53B8-7466929253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9CBD6163-1D95-FFA4-3F55-CC67E46C7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490596E-23FB-8359-DFF1-D47FB1C61377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Hybrid RAG Pipeline with Reranking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B6D0E1-8C6A-C47C-B8C1-B8E240C246AC}"/>
              </a:ext>
            </a:extLst>
          </p:cNvPr>
          <p:cNvSpPr txBox="1">
            <a:spLocks/>
          </p:cNvSpPr>
          <p:nvPr/>
        </p:nvSpPr>
        <p:spPr bwMode="auto">
          <a:xfrm>
            <a:off x="228600" y="2667348"/>
            <a:ext cx="8566550" cy="1780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RAG uses information from prepared documents to help an LLM answer the user’s question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kern="0" dirty="0">
                <a:solidFill>
                  <a:srgbClr val="0072B2"/>
                </a:solidFill>
              </a:rPr>
              <a:t>Retrieval</a:t>
            </a:r>
            <a:r>
              <a:rPr lang="en-US" sz="2000" kern="0" dirty="0"/>
              <a:t> finds relevant </a:t>
            </a:r>
            <a:r>
              <a:rPr lang="en-US" sz="2000" i="1" kern="0" dirty="0"/>
              <a:t>candidate chunks</a:t>
            </a:r>
            <a:r>
              <a:rPr lang="en-US" sz="2000" kern="0" dirty="0"/>
              <a:t> using </a:t>
            </a:r>
            <a:r>
              <a:rPr lang="en-US" sz="2000" dirty="0"/>
              <a:t>both keyword search and vector search in </a:t>
            </a:r>
            <a:r>
              <a:rPr lang="en-US" sz="2000" b="1" dirty="0"/>
              <a:t>Hybrid RAG</a:t>
            </a:r>
            <a:endParaRPr lang="en-US" sz="2000" b="1" kern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kern="0" dirty="0">
                <a:solidFill>
                  <a:srgbClr val="C56500"/>
                </a:solidFill>
              </a:rPr>
              <a:t>Reranking</a:t>
            </a:r>
            <a:r>
              <a:rPr lang="en-US" sz="2000" kern="0" dirty="0"/>
              <a:t> compares these candidates to the original question and prioritizes which chunks are supplied to the LLM as context</a:t>
            </a:r>
          </a:p>
        </p:txBody>
      </p:sp>
    </p:spTree>
    <p:extLst>
      <p:ext uri="{BB962C8B-B14F-4D97-AF65-F5344CB8AC3E}">
        <p14:creationId xmlns:p14="http://schemas.microsoft.com/office/powerpoint/2010/main" val="205699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0ECF-9854-5225-F578-EFD96BE2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A9D1FC-251A-06AF-1B5E-626CD06FA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36" y="666750"/>
            <a:ext cx="7703328" cy="3186884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66FBDB4-5A51-B48C-41B6-D57A13C56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DD072D37-D965-1307-07D2-86A9D86028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4FFD5AC-5266-5D73-FCC9-F155E2A95F93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Accurate RAG is Challenging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AE98B01-04B1-BB76-B869-BA1199C6F595}"/>
              </a:ext>
            </a:extLst>
          </p:cNvPr>
          <p:cNvSpPr txBox="1">
            <a:spLocks/>
          </p:cNvSpPr>
          <p:nvPr/>
        </p:nvSpPr>
        <p:spPr bwMode="auto">
          <a:xfrm>
            <a:off x="228600" y="3638550"/>
            <a:ext cx="85665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Accurate RAG requires checking both </a:t>
            </a:r>
            <a:r>
              <a:rPr lang="en-US" sz="2000" i="1" dirty="0"/>
              <a:t>retrieval quality</a:t>
            </a:r>
            <a:r>
              <a:rPr lang="en-US" sz="2000" dirty="0"/>
              <a:t> and </a:t>
            </a:r>
            <a:r>
              <a:rPr lang="en-US" sz="2000" i="1" dirty="0"/>
              <a:t>answer accuracy</a:t>
            </a:r>
            <a:r>
              <a:rPr lang="en-US" sz="2000" dirty="0"/>
              <a:t> using questions relevant to your app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Use the </a:t>
            </a:r>
            <a:r>
              <a:rPr lang="en-US" sz="2000" kern="0" dirty="0">
                <a:hlinkClick r:id="rId5"/>
              </a:rPr>
              <a:t>MTEB Leaderboard</a:t>
            </a:r>
            <a:r>
              <a:rPr lang="en-US" sz="2000" kern="0" dirty="0"/>
              <a:t> </a:t>
            </a:r>
            <a:r>
              <a:rPr lang="en-US" sz="2000" dirty="0"/>
              <a:t>to shortlist retrieval models and then test them on your own documents and questions</a:t>
            </a:r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113069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36FFA-EF45-35C2-6B9A-025F204C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2D8DEC-BDC5-D6B7-2938-F9B9AE9C4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75" y="617025"/>
            <a:ext cx="6781800" cy="3402525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15F5EE0-59C2-6784-6625-E1FF795E9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D8B94B7E-B5DE-24A1-E703-9BA4298A30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5BC5716-B3BE-B884-5A0E-49626D22BC5C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RAG Done Right Can Be Valuable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8695B9-3966-E69C-F422-17610D16C3A4}"/>
              </a:ext>
            </a:extLst>
          </p:cNvPr>
          <p:cNvSpPr txBox="1">
            <a:spLocks/>
          </p:cNvSpPr>
          <p:nvPr/>
        </p:nvSpPr>
        <p:spPr bwMode="auto">
          <a:xfrm>
            <a:off x="228600" y="3910784"/>
            <a:ext cx="8566550" cy="537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Retrieving relevant evidence early can reduce tokens spent processing irrelevant information, repeating searches, and performing unnecessary reasoning – and this can save money, improve efficiency, etc.</a:t>
            </a:r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338224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101C9-9A12-1B4E-2BCF-13FE843A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5A816AF-BB0F-2EF8-7979-9075BCC66D21}"/>
              </a:ext>
            </a:extLst>
          </p:cNvPr>
          <p:cNvSpPr txBox="1">
            <a:spLocks/>
          </p:cNvSpPr>
          <p:nvPr/>
        </p:nvSpPr>
        <p:spPr bwMode="auto">
          <a:xfrm>
            <a:off x="228600" y="2314575"/>
            <a:ext cx="8686800" cy="514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/>
              <a:t>Class Exercise</a:t>
            </a:r>
          </a:p>
        </p:txBody>
      </p:sp>
    </p:spTree>
    <p:extLst>
      <p:ext uri="{BB962C8B-B14F-4D97-AF65-F5344CB8AC3E}">
        <p14:creationId xmlns:p14="http://schemas.microsoft.com/office/powerpoint/2010/main" val="22853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Boulder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5689"/>
      </a:hlink>
      <a:folHlink>
        <a:srgbClr val="005689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UBoulder" id="{22C9E7FD-29F8-440A-83A3-6026F7243698}" vid="{C4BF4658-6518-4491-BFF2-1B126C95D8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INAL CU LEEDS COLORS">
    <a:dk1>
      <a:srgbClr val="000000"/>
    </a:dk1>
    <a:lt1>
      <a:srgbClr val="FFFFFF"/>
    </a:lt1>
    <a:dk2>
      <a:srgbClr val="1D1D1D"/>
    </a:dk2>
    <a:lt2>
      <a:srgbClr val="E7E6E6"/>
    </a:lt2>
    <a:accent1>
      <a:srgbClr val="CEB87B"/>
    </a:accent1>
    <a:accent2>
      <a:srgbClr val="AF8356"/>
    </a:accent2>
    <a:accent3>
      <a:srgbClr val="A0A3AE"/>
    </a:accent3>
    <a:accent4>
      <a:srgbClr val="5E5E64"/>
    </a:accent4>
    <a:accent5>
      <a:srgbClr val="1D1D1D"/>
    </a:accent5>
    <a:accent6>
      <a:srgbClr val="000000"/>
    </a:accent6>
    <a:hlink>
      <a:srgbClr val="CEB87B"/>
    </a:hlink>
    <a:folHlink>
      <a:srgbClr val="AF835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CUBoulder</Template>
  <TotalTime>17611</TotalTime>
  <Words>922</Words>
  <Application>Microsoft Office PowerPoint</Application>
  <PresentationFormat>On-screen Show (16:9)</PresentationFormat>
  <Paragraphs>111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Georgia</vt:lpstr>
      <vt:lpstr>Times New Roman</vt:lpstr>
      <vt:lpstr>CUBoulder</vt:lpstr>
      <vt:lpstr>MBAX 6418 Context Engineering and RAG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McIntire School of Commerce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Dobolyi</dc:creator>
  <cp:lastModifiedBy>Christopher Burnham</cp:lastModifiedBy>
  <cp:revision>393</cp:revision>
  <dcterms:created xsi:type="dcterms:W3CDTF">2017-01-22T22:53:20Z</dcterms:created>
  <dcterms:modified xsi:type="dcterms:W3CDTF">2026-10-04T22:18:20Z</dcterms:modified>
</cp:coreProperties>
</file>