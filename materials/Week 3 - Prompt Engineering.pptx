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5"/>
  </p:notesMasterIdLst>
  <p:sldIdLst>
    <p:sldId id="1056" r:id="rId2"/>
    <p:sldId id="337" r:id="rId3"/>
    <p:sldId id="1136" r:id="rId4"/>
    <p:sldId id="1180" r:id="rId5"/>
    <p:sldId id="1181" r:id="rId6"/>
    <p:sldId id="1182" r:id="rId7"/>
    <p:sldId id="1173" r:id="rId8"/>
    <p:sldId id="1177" r:id="rId9"/>
    <p:sldId id="1178" r:id="rId10"/>
    <p:sldId id="1179" r:id="rId11"/>
    <p:sldId id="1183" r:id="rId12"/>
    <p:sldId id="1184" r:id="rId13"/>
    <p:sldId id="1185" r:id="rId14"/>
    <p:sldId id="1186" r:id="rId15"/>
    <p:sldId id="1187" r:id="rId16"/>
    <p:sldId id="1188" r:id="rId17"/>
    <p:sldId id="1189" r:id="rId18"/>
    <p:sldId id="1191" r:id="rId19"/>
    <p:sldId id="1192" r:id="rId20"/>
    <p:sldId id="1201" r:id="rId21"/>
    <p:sldId id="1202" r:id="rId22"/>
    <p:sldId id="1205" r:id="rId23"/>
    <p:sldId id="1203" r:id="rId24"/>
    <p:sldId id="1194" r:id="rId25"/>
    <p:sldId id="1190" r:id="rId26"/>
    <p:sldId id="1195" r:id="rId27"/>
    <p:sldId id="1196" r:id="rId28"/>
    <p:sldId id="1204" r:id="rId29"/>
    <p:sldId id="1193" r:id="rId30"/>
    <p:sldId id="1198" r:id="rId31"/>
    <p:sldId id="1199" r:id="rId32"/>
    <p:sldId id="1200" r:id="rId33"/>
    <p:sldId id="1206" r:id="rId34"/>
  </p:sldIdLst>
  <p:sldSz cx="9144000" cy="5143500" type="screen16x9"/>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7003"/>
    <a:srgbClr val="0B853E"/>
    <a:srgbClr val="942092"/>
    <a:srgbClr val="FF40FF"/>
    <a:srgbClr val="00FA00"/>
    <a:srgbClr val="FFF500"/>
    <a:srgbClr val="0D5D2B"/>
    <a:srgbClr val="000000"/>
    <a:srgbClr val="D98D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3014" autoAdjust="0"/>
  </p:normalViewPr>
  <p:slideViewPr>
    <p:cSldViewPr>
      <p:cViewPr varScale="1">
        <p:scale>
          <a:sx n="105" d="100"/>
          <a:sy n="105" d="100"/>
        </p:scale>
        <p:origin x="221" y="6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140" d="100"/>
          <a:sy n="140" d="100"/>
        </p:scale>
        <p:origin x="4614"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0CEEB0C-5F5D-40CD-B7D2-65054E4BAA98}" type="datetimeFigureOut">
              <a:rPr lang="en-US"/>
              <a:pPr>
                <a:defRPr/>
              </a:pPr>
              <a:t>10/4/2026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DC8291F1-6C4E-4372-8D3B-2C87FC62486A}" type="slidenum">
              <a:rPr lang="en-US"/>
              <a:pPr>
                <a:defRPr/>
              </a:pPr>
              <a:t>‹#›</a:t>
            </a:fld>
            <a:endParaRPr lang="en-US" dirty="0"/>
          </a:p>
        </p:txBody>
      </p:sp>
    </p:spTree>
    <p:extLst>
      <p:ext uri="{BB962C8B-B14F-4D97-AF65-F5344CB8AC3E}">
        <p14:creationId xmlns:p14="http://schemas.microsoft.com/office/powerpoint/2010/main" val="12935737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vllm.ai/en/stable/features/structured_outputs/"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docs.sglang.io/docs/advanced_features/structured_outputs"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C8291F1-6C4E-4372-8D3B-2C87FC62486A}" type="slidenum">
              <a:rPr lang="en-US" smtClean="0"/>
              <a:pPr>
                <a:defRPr/>
              </a:pPr>
              <a:t>1</a:t>
            </a:fld>
            <a:endParaRPr lang="en-US" dirty="0"/>
          </a:p>
        </p:txBody>
      </p:sp>
    </p:spTree>
    <p:extLst>
      <p:ext uri="{BB962C8B-B14F-4D97-AF65-F5344CB8AC3E}">
        <p14:creationId xmlns:p14="http://schemas.microsoft.com/office/powerpoint/2010/main" val="1901083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C8291F1-6C4E-4372-8D3B-2C87FC62486A}" type="slidenum">
              <a:rPr lang="en-US" smtClean="0"/>
              <a:pPr>
                <a:defRPr/>
              </a:pPr>
              <a:t>2</a:t>
            </a:fld>
            <a:endParaRPr lang="en-US" dirty="0"/>
          </a:p>
        </p:txBody>
      </p:sp>
    </p:spTree>
    <p:extLst>
      <p:ext uri="{BB962C8B-B14F-4D97-AF65-F5344CB8AC3E}">
        <p14:creationId xmlns:p14="http://schemas.microsoft.com/office/powerpoint/2010/main" val="223195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339E-C7A0-2CB7-A45A-742E1CED0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094F3-BCB8-1CC0-9737-3B9F11327A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2CF3AB-A298-1ED1-CE0D-7D7B09729594}"/>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4A0D4977-0704-73D2-7724-821EC01DC263}"/>
              </a:ext>
            </a:extLst>
          </p:cNvPr>
          <p:cNvSpPr>
            <a:spLocks noGrp="1"/>
          </p:cNvSpPr>
          <p:nvPr>
            <p:ph type="sldNum" sz="quarter" idx="5"/>
          </p:nvPr>
        </p:nvSpPr>
        <p:spPr/>
        <p:txBody>
          <a:bodyPr/>
          <a:lstStyle/>
          <a:p>
            <a:pPr>
              <a:defRPr/>
            </a:pPr>
            <a:fld id="{DC8291F1-6C4E-4372-8D3B-2C87FC62486A}" type="slidenum">
              <a:rPr lang="en-US" smtClean="0"/>
              <a:pPr>
                <a:defRPr/>
              </a:pPr>
              <a:t>4</a:t>
            </a:fld>
            <a:endParaRPr lang="en-US" dirty="0"/>
          </a:p>
        </p:txBody>
      </p:sp>
    </p:spTree>
    <p:extLst>
      <p:ext uri="{BB962C8B-B14F-4D97-AF65-F5344CB8AC3E}">
        <p14:creationId xmlns:p14="http://schemas.microsoft.com/office/powerpoint/2010/main" val="584647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950E-F906-8D97-10E8-3D8109461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B4D3E-1A7D-5B4A-436B-888D9590A6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0D17DC-567A-EA74-AD87-DF86C3FABA86}"/>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16D23145-B52A-12D7-7D15-D6ADF92CDF16}"/>
              </a:ext>
            </a:extLst>
          </p:cNvPr>
          <p:cNvSpPr>
            <a:spLocks noGrp="1"/>
          </p:cNvSpPr>
          <p:nvPr>
            <p:ph type="sldNum" sz="quarter" idx="5"/>
          </p:nvPr>
        </p:nvSpPr>
        <p:spPr/>
        <p:txBody>
          <a:bodyPr/>
          <a:lstStyle/>
          <a:p>
            <a:pPr>
              <a:defRPr/>
            </a:pPr>
            <a:fld id="{DC8291F1-6C4E-4372-8D3B-2C87FC62486A}" type="slidenum">
              <a:rPr lang="en-US" smtClean="0"/>
              <a:pPr>
                <a:defRPr/>
              </a:pPr>
              <a:t>5</a:t>
            </a:fld>
            <a:endParaRPr lang="en-US" dirty="0"/>
          </a:p>
        </p:txBody>
      </p:sp>
    </p:spTree>
    <p:extLst>
      <p:ext uri="{BB962C8B-B14F-4D97-AF65-F5344CB8AC3E}">
        <p14:creationId xmlns:p14="http://schemas.microsoft.com/office/powerpoint/2010/main" val="373954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3DEE-CC6E-8949-38FB-B6F8401EB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62505-AAF9-3ACD-05F7-10F436343E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8B190C-C1E1-8F82-0FD7-085B6FFD1785}"/>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D5DBCED3-4D3B-0096-7D52-62DD90465ABE}"/>
              </a:ext>
            </a:extLst>
          </p:cNvPr>
          <p:cNvSpPr>
            <a:spLocks noGrp="1"/>
          </p:cNvSpPr>
          <p:nvPr>
            <p:ph type="sldNum" sz="quarter" idx="5"/>
          </p:nvPr>
        </p:nvSpPr>
        <p:spPr/>
        <p:txBody>
          <a:bodyPr/>
          <a:lstStyle/>
          <a:p>
            <a:pPr>
              <a:defRPr/>
            </a:pPr>
            <a:fld id="{DC8291F1-6C4E-4372-8D3B-2C87FC62486A}" type="slidenum">
              <a:rPr lang="en-US" smtClean="0"/>
              <a:pPr>
                <a:defRPr/>
              </a:pPr>
              <a:t>6</a:t>
            </a:fld>
            <a:endParaRPr lang="en-US" dirty="0"/>
          </a:p>
        </p:txBody>
      </p:sp>
    </p:spTree>
    <p:extLst>
      <p:ext uri="{BB962C8B-B14F-4D97-AF65-F5344CB8AC3E}">
        <p14:creationId xmlns:p14="http://schemas.microsoft.com/office/powerpoint/2010/main" val="2545153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02E9-5B45-931D-E0CA-CB8E289F0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DD3B5-289D-8DD3-7F8C-7A9CD785A1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59061F-AD51-FB70-41B0-4B9256822910}"/>
              </a:ext>
            </a:extLst>
          </p:cNvPr>
          <p:cNvSpPr>
            <a:spLocks noGrp="1"/>
          </p:cNvSpPr>
          <p:nvPr>
            <p:ph type="body" idx="1"/>
          </p:nvPr>
        </p:nvSpPr>
        <p:spPr/>
        <p:txBody>
          <a:bodyPr/>
          <a:lstStyle/>
          <a:p>
            <a:pPr marL="171450" indent="-171450">
              <a:buFontTx/>
              <a:buChar char="-"/>
            </a:pPr>
            <a:r>
              <a:rPr lang="en-US" dirty="0"/>
              <a:t>&lt;|</a:t>
            </a:r>
            <a:r>
              <a:rPr lang="en-US" dirty="0" err="1"/>
              <a:t>eot_id</a:t>
            </a:r>
            <a:r>
              <a:rPr lang="en-US" dirty="0"/>
              <a:t>&gt; indicates an end-of-turn ID in a Llama-style chat template</a:t>
            </a:r>
          </a:p>
          <a:p>
            <a:pPr marL="171450" indent="-171450">
              <a:buFontTx/>
              <a:buChar char="-"/>
            </a:pPr>
            <a:r>
              <a:rPr lang="en-US" dirty="0"/>
              <a:t>&lt;|</a:t>
            </a:r>
            <a:r>
              <a:rPr lang="en-US" dirty="0" err="1"/>
              <a:t>im_start</a:t>
            </a:r>
            <a:r>
              <a:rPr lang="en-US" dirty="0"/>
              <a:t>|&gt; represents instruction (or input) message start (ending with &lt;|</a:t>
            </a:r>
            <a:r>
              <a:rPr lang="en-US" dirty="0" err="1"/>
              <a:t>im_end</a:t>
            </a:r>
            <a:r>
              <a:rPr lang="en-US" dirty="0"/>
              <a:t>|&gt;) in a </a:t>
            </a:r>
            <a:r>
              <a:rPr lang="en-US" dirty="0" err="1"/>
              <a:t>ChatML</a:t>
            </a:r>
            <a:r>
              <a:rPr lang="en-US" dirty="0"/>
              <a:t>-style format</a:t>
            </a:r>
          </a:p>
        </p:txBody>
      </p:sp>
      <p:sp>
        <p:nvSpPr>
          <p:cNvPr id="4" name="Slide Number Placeholder 3">
            <a:extLst>
              <a:ext uri="{FF2B5EF4-FFF2-40B4-BE49-F238E27FC236}">
                <a16:creationId xmlns:a16="http://schemas.microsoft.com/office/drawing/2014/main" id="{04F6F002-38EB-2531-459E-DA539D1E6FE5}"/>
              </a:ext>
            </a:extLst>
          </p:cNvPr>
          <p:cNvSpPr>
            <a:spLocks noGrp="1"/>
          </p:cNvSpPr>
          <p:nvPr>
            <p:ph type="sldNum" sz="quarter" idx="5"/>
          </p:nvPr>
        </p:nvSpPr>
        <p:spPr/>
        <p:txBody>
          <a:bodyPr/>
          <a:lstStyle/>
          <a:p>
            <a:pPr>
              <a:defRPr/>
            </a:pPr>
            <a:fld id="{DC8291F1-6C4E-4372-8D3B-2C87FC62486A}" type="slidenum">
              <a:rPr lang="en-US" smtClean="0"/>
              <a:pPr>
                <a:defRPr/>
              </a:pPr>
              <a:t>7</a:t>
            </a:fld>
            <a:endParaRPr lang="en-US" dirty="0"/>
          </a:p>
        </p:txBody>
      </p:sp>
    </p:spTree>
    <p:extLst>
      <p:ext uri="{BB962C8B-B14F-4D97-AF65-F5344CB8AC3E}">
        <p14:creationId xmlns:p14="http://schemas.microsoft.com/office/powerpoint/2010/main" val="253399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72DB2-12FF-7C77-CEF4-A0DDCB28C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AE2AD-6EFD-6218-BA2D-CAD06FD2F2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1304C0-F6C2-9D16-3DA5-0015425CA866}"/>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082A851D-CA5C-0EA5-9354-A4D5B6864DDB}"/>
              </a:ext>
            </a:extLst>
          </p:cNvPr>
          <p:cNvSpPr>
            <a:spLocks noGrp="1"/>
          </p:cNvSpPr>
          <p:nvPr>
            <p:ph type="sldNum" sz="quarter" idx="5"/>
          </p:nvPr>
        </p:nvSpPr>
        <p:spPr/>
        <p:txBody>
          <a:bodyPr/>
          <a:lstStyle/>
          <a:p>
            <a:pPr>
              <a:defRPr/>
            </a:pPr>
            <a:fld id="{DC8291F1-6C4E-4372-8D3B-2C87FC62486A}" type="slidenum">
              <a:rPr lang="en-US" smtClean="0"/>
              <a:pPr>
                <a:defRPr/>
              </a:pPr>
              <a:t>8</a:t>
            </a:fld>
            <a:endParaRPr lang="en-US" dirty="0"/>
          </a:p>
        </p:txBody>
      </p:sp>
    </p:spTree>
    <p:extLst>
      <p:ext uri="{BB962C8B-B14F-4D97-AF65-F5344CB8AC3E}">
        <p14:creationId xmlns:p14="http://schemas.microsoft.com/office/powerpoint/2010/main" val="2005267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FB2A-F6E7-4C02-F6EA-F581BCEE3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0903D-E6A9-8E57-53DE-9631BD2222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AF041B-42CD-A55B-14A4-4D4F5B1CA9F9}"/>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dirty="0"/>
              <a:t>https://</a:t>
            </a:r>
            <a:r>
              <a:rPr lang="en-US" dirty="0" err="1"/>
              <a:t>huggingface.co</a:t>
            </a:r>
            <a:r>
              <a:rPr lang="en-US" dirty="0"/>
              <a:t>/Qwen/Qwen3.8-27B/blob/main/</a:t>
            </a:r>
            <a:r>
              <a:rPr lang="en-US" dirty="0" err="1"/>
              <a:t>chat_template.jinja</a:t>
            </a:r>
            <a:endParaRPr lang="en-US"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C392F953-7D01-9B78-98B1-DA145BF75C0F}"/>
              </a:ext>
            </a:extLst>
          </p:cNvPr>
          <p:cNvSpPr>
            <a:spLocks noGrp="1"/>
          </p:cNvSpPr>
          <p:nvPr>
            <p:ph type="sldNum" sz="quarter" idx="5"/>
          </p:nvPr>
        </p:nvSpPr>
        <p:spPr/>
        <p:txBody>
          <a:bodyPr/>
          <a:lstStyle/>
          <a:p>
            <a:pPr>
              <a:defRPr/>
            </a:pPr>
            <a:fld id="{DC8291F1-6C4E-4372-8D3B-2C87FC62486A}" type="slidenum">
              <a:rPr lang="en-US" smtClean="0"/>
              <a:pPr>
                <a:defRPr/>
              </a:pPr>
              <a:t>9</a:t>
            </a:fld>
            <a:endParaRPr lang="en-US" dirty="0"/>
          </a:p>
        </p:txBody>
      </p:sp>
    </p:spTree>
    <p:extLst>
      <p:ext uri="{BB962C8B-B14F-4D97-AF65-F5344CB8AC3E}">
        <p14:creationId xmlns:p14="http://schemas.microsoft.com/office/powerpoint/2010/main" val="2044871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99432-87F0-C00B-C2A0-DBE29A06D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19521-665F-32DA-78A1-1048A86CD0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87E2AA-E288-B9D9-34CB-E22D57A25CC6}"/>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47F3D7A8-FD05-3C36-B949-89D250CAB434}"/>
              </a:ext>
            </a:extLst>
          </p:cNvPr>
          <p:cNvSpPr>
            <a:spLocks noGrp="1"/>
          </p:cNvSpPr>
          <p:nvPr>
            <p:ph type="sldNum" sz="quarter" idx="5"/>
          </p:nvPr>
        </p:nvSpPr>
        <p:spPr/>
        <p:txBody>
          <a:bodyPr/>
          <a:lstStyle/>
          <a:p>
            <a:pPr>
              <a:defRPr/>
            </a:pPr>
            <a:fld id="{DC8291F1-6C4E-4372-8D3B-2C87FC62486A}" type="slidenum">
              <a:rPr lang="en-US" smtClean="0"/>
              <a:pPr>
                <a:defRPr/>
              </a:pPr>
              <a:t>10</a:t>
            </a:fld>
            <a:endParaRPr lang="en-US" dirty="0"/>
          </a:p>
        </p:txBody>
      </p:sp>
    </p:spTree>
    <p:extLst>
      <p:ext uri="{BB962C8B-B14F-4D97-AF65-F5344CB8AC3E}">
        <p14:creationId xmlns:p14="http://schemas.microsoft.com/office/powerpoint/2010/main" val="3543417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B8A5-01C6-D74E-8CA5-4D1BCBF1C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584F-0BA5-A52A-C035-52AE8406E9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3A6973-96D4-985B-2D4B-28D2FA8A6A42}"/>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dirty="0"/>
              <a:t>https://</a:t>
            </a:r>
            <a:r>
              <a:rPr lang="en-US" dirty="0" err="1"/>
              <a:t>hermes-agent.nousresearch.com</a:t>
            </a:r>
            <a:r>
              <a:rPr lang="en-US" dirty="0"/>
              <a:t>/docs/guides/use-soul-with-Hermes</a:t>
            </a:r>
          </a:p>
        </p:txBody>
      </p:sp>
      <p:sp>
        <p:nvSpPr>
          <p:cNvPr id="4" name="Slide Number Placeholder 3">
            <a:extLst>
              <a:ext uri="{FF2B5EF4-FFF2-40B4-BE49-F238E27FC236}">
                <a16:creationId xmlns:a16="http://schemas.microsoft.com/office/drawing/2014/main" id="{858954A5-A3EA-3057-54D4-052632205D8B}"/>
              </a:ext>
            </a:extLst>
          </p:cNvPr>
          <p:cNvSpPr>
            <a:spLocks noGrp="1"/>
          </p:cNvSpPr>
          <p:nvPr>
            <p:ph type="sldNum" sz="quarter" idx="5"/>
          </p:nvPr>
        </p:nvSpPr>
        <p:spPr/>
        <p:txBody>
          <a:bodyPr/>
          <a:lstStyle/>
          <a:p>
            <a:pPr>
              <a:defRPr/>
            </a:pPr>
            <a:fld id="{DC8291F1-6C4E-4372-8D3B-2C87FC62486A}" type="slidenum">
              <a:rPr lang="en-US" smtClean="0"/>
              <a:pPr>
                <a:defRPr/>
              </a:pPr>
              <a:t>11</a:t>
            </a:fld>
            <a:endParaRPr lang="en-US" dirty="0"/>
          </a:p>
        </p:txBody>
      </p:sp>
    </p:spTree>
    <p:extLst>
      <p:ext uri="{BB962C8B-B14F-4D97-AF65-F5344CB8AC3E}">
        <p14:creationId xmlns:p14="http://schemas.microsoft.com/office/powerpoint/2010/main" val="1336985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AB85C-C65A-1898-D6DF-F8BF54A80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AC5FA-A3BC-A857-9845-F1534071D8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476540-F3D3-1861-8119-8200E80D581D}"/>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F64D3690-BD20-4B39-5223-737B5317B5C7}"/>
              </a:ext>
            </a:extLst>
          </p:cNvPr>
          <p:cNvSpPr>
            <a:spLocks noGrp="1"/>
          </p:cNvSpPr>
          <p:nvPr>
            <p:ph type="sldNum" sz="quarter" idx="5"/>
          </p:nvPr>
        </p:nvSpPr>
        <p:spPr/>
        <p:txBody>
          <a:bodyPr/>
          <a:lstStyle/>
          <a:p>
            <a:pPr>
              <a:defRPr/>
            </a:pPr>
            <a:fld id="{DC8291F1-6C4E-4372-8D3B-2C87FC62486A}" type="slidenum">
              <a:rPr lang="en-US" smtClean="0"/>
              <a:pPr>
                <a:defRPr/>
              </a:pPr>
              <a:t>12</a:t>
            </a:fld>
            <a:endParaRPr lang="en-US" dirty="0"/>
          </a:p>
        </p:txBody>
      </p:sp>
    </p:spTree>
    <p:extLst>
      <p:ext uri="{BB962C8B-B14F-4D97-AF65-F5344CB8AC3E}">
        <p14:creationId xmlns:p14="http://schemas.microsoft.com/office/powerpoint/2010/main" val="3476832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4FDF8-9B02-A907-690F-62DE6FA79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5AF3F-EE7D-7B81-BB41-D8FC90C362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E9D45F-F8EE-ED10-FC59-2EEDF1CC402F}"/>
              </a:ext>
            </a:extLst>
          </p:cNvPr>
          <p:cNvSpPr>
            <a:spLocks noGrp="1"/>
          </p:cNvSpPr>
          <p:nvPr>
            <p:ph type="body" idx="1"/>
          </p:nvPr>
        </p:nvSpPr>
        <p:spPr/>
        <p:txBody>
          <a:bodyPr/>
          <a:lstStyle/>
          <a:p>
            <a:pPr marL="171450" indent="-171450">
              <a:buFontTx/>
              <a:buChar char="-"/>
            </a:pPr>
            <a:r>
              <a:rPr lang="en-US" dirty="0"/>
              <a:t>temperature: controls randomness in token selection (lower = more deterministic; higher = more random)</a:t>
            </a:r>
          </a:p>
          <a:p>
            <a:pPr marL="171450" indent="-171450">
              <a:buFontTx/>
              <a:buChar char="-"/>
            </a:pPr>
            <a:r>
              <a:rPr lang="en-US" dirty="0"/>
              <a:t>top-p: samples only from the smallest set of tokens whose cumulative probability reaches p</a:t>
            </a:r>
          </a:p>
          <a:p>
            <a:pPr marL="171450" indent="-171450">
              <a:buFontTx/>
              <a:buChar char="-"/>
            </a:pPr>
            <a:r>
              <a:rPr lang="en-US" dirty="0"/>
              <a:t>top-k: samples only from the k most probable next tokens</a:t>
            </a:r>
          </a:p>
          <a:p>
            <a:pPr marL="171450" indent="-171450">
              <a:buFontTx/>
              <a:buChar char="-"/>
            </a:pPr>
            <a:r>
              <a:rPr lang="en-US" dirty="0"/>
              <a:t>penalties (repetition/presence/frequency): discourage repeated tokens/sequences</a:t>
            </a:r>
          </a:p>
          <a:p>
            <a:pPr marL="171450" indent="-171450">
              <a:buFontTx/>
              <a:buChar char="-"/>
            </a:pPr>
            <a:r>
              <a:rPr lang="en-US" dirty="0"/>
              <a:t>seed: controls the random number generator for sampling, which can help with reproducibility </a:t>
            </a:r>
          </a:p>
        </p:txBody>
      </p:sp>
      <p:sp>
        <p:nvSpPr>
          <p:cNvPr id="4" name="Slide Number Placeholder 3">
            <a:extLst>
              <a:ext uri="{FF2B5EF4-FFF2-40B4-BE49-F238E27FC236}">
                <a16:creationId xmlns:a16="http://schemas.microsoft.com/office/drawing/2014/main" id="{38C14C7A-0FDC-F1BE-91E3-F2829319F0B0}"/>
              </a:ext>
            </a:extLst>
          </p:cNvPr>
          <p:cNvSpPr>
            <a:spLocks noGrp="1"/>
          </p:cNvSpPr>
          <p:nvPr>
            <p:ph type="sldNum" sz="quarter" idx="5"/>
          </p:nvPr>
        </p:nvSpPr>
        <p:spPr/>
        <p:txBody>
          <a:bodyPr/>
          <a:lstStyle/>
          <a:p>
            <a:pPr>
              <a:defRPr/>
            </a:pPr>
            <a:fld id="{DC8291F1-6C4E-4372-8D3B-2C87FC62486A}" type="slidenum">
              <a:rPr lang="en-US" smtClean="0"/>
              <a:pPr>
                <a:defRPr/>
              </a:pPr>
              <a:t>14</a:t>
            </a:fld>
            <a:endParaRPr lang="en-US" dirty="0"/>
          </a:p>
        </p:txBody>
      </p:sp>
    </p:spTree>
    <p:extLst>
      <p:ext uri="{BB962C8B-B14F-4D97-AF65-F5344CB8AC3E}">
        <p14:creationId xmlns:p14="http://schemas.microsoft.com/office/powerpoint/2010/main" val="79431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D657C-EB85-7989-5EEF-F30E30874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D1631-E638-6F5C-35BF-66D3751DC2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5E94A1-044A-0DF3-A5A3-97BE4729EF9A}"/>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B239619B-F91A-7F6B-A1C6-CB385034B28B}"/>
              </a:ext>
            </a:extLst>
          </p:cNvPr>
          <p:cNvSpPr>
            <a:spLocks noGrp="1"/>
          </p:cNvSpPr>
          <p:nvPr>
            <p:ph type="sldNum" sz="quarter" idx="5"/>
          </p:nvPr>
        </p:nvSpPr>
        <p:spPr/>
        <p:txBody>
          <a:bodyPr/>
          <a:lstStyle/>
          <a:p>
            <a:pPr>
              <a:defRPr/>
            </a:pPr>
            <a:fld id="{DC8291F1-6C4E-4372-8D3B-2C87FC62486A}" type="slidenum">
              <a:rPr lang="en-US" smtClean="0"/>
              <a:pPr>
                <a:defRPr/>
              </a:pPr>
              <a:t>15</a:t>
            </a:fld>
            <a:endParaRPr lang="en-US" dirty="0"/>
          </a:p>
        </p:txBody>
      </p:sp>
    </p:spTree>
    <p:extLst>
      <p:ext uri="{BB962C8B-B14F-4D97-AF65-F5344CB8AC3E}">
        <p14:creationId xmlns:p14="http://schemas.microsoft.com/office/powerpoint/2010/main" val="3628378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BF3D2-1550-F23B-A13E-4D0414708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05444-9AD8-4A1E-E665-AA9EE3E426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DC8185-375D-EF44-1E52-CA5523AFA2E0}"/>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9C4BDD23-C880-354A-4AAA-13BB44AAFEEA}"/>
              </a:ext>
            </a:extLst>
          </p:cNvPr>
          <p:cNvSpPr>
            <a:spLocks noGrp="1"/>
          </p:cNvSpPr>
          <p:nvPr>
            <p:ph type="sldNum" sz="quarter" idx="5"/>
          </p:nvPr>
        </p:nvSpPr>
        <p:spPr/>
        <p:txBody>
          <a:bodyPr/>
          <a:lstStyle/>
          <a:p>
            <a:pPr>
              <a:defRPr/>
            </a:pPr>
            <a:fld id="{DC8291F1-6C4E-4372-8D3B-2C87FC62486A}" type="slidenum">
              <a:rPr lang="en-US" smtClean="0"/>
              <a:pPr>
                <a:defRPr/>
              </a:pPr>
              <a:t>16</a:t>
            </a:fld>
            <a:endParaRPr lang="en-US" dirty="0"/>
          </a:p>
        </p:txBody>
      </p:sp>
    </p:spTree>
    <p:extLst>
      <p:ext uri="{BB962C8B-B14F-4D97-AF65-F5344CB8AC3E}">
        <p14:creationId xmlns:p14="http://schemas.microsoft.com/office/powerpoint/2010/main" val="1161576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58C09-5641-C302-6477-20ED6F6F5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65EAB-3A30-E9A4-5985-9554F10B36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EA1BA3-0441-DE90-0B0E-6AFFE4A6B8D1}"/>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D5F7F2C3-E193-A7D2-845E-CBCD06E94173}"/>
              </a:ext>
            </a:extLst>
          </p:cNvPr>
          <p:cNvSpPr>
            <a:spLocks noGrp="1"/>
          </p:cNvSpPr>
          <p:nvPr>
            <p:ph type="sldNum" sz="quarter" idx="5"/>
          </p:nvPr>
        </p:nvSpPr>
        <p:spPr/>
        <p:txBody>
          <a:bodyPr/>
          <a:lstStyle/>
          <a:p>
            <a:pPr>
              <a:defRPr/>
            </a:pPr>
            <a:fld id="{DC8291F1-6C4E-4372-8D3B-2C87FC62486A}" type="slidenum">
              <a:rPr lang="en-US" smtClean="0"/>
              <a:pPr>
                <a:defRPr/>
              </a:pPr>
              <a:t>17</a:t>
            </a:fld>
            <a:endParaRPr lang="en-US" dirty="0"/>
          </a:p>
        </p:txBody>
      </p:sp>
    </p:spTree>
    <p:extLst>
      <p:ext uri="{BB962C8B-B14F-4D97-AF65-F5344CB8AC3E}">
        <p14:creationId xmlns:p14="http://schemas.microsoft.com/office/powerpoint/2010/main" val="162354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6093F-739C-04EA-F2B2-D9DA69914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45276-23F7-C4E0-1E63-58560B4670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2A8A5C-C1E7-F6EF-0329-D3E94679DD00}"/>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A99244F6-CBE4-3710-04D0-B5DD46B922F8}"/>
              </a:ext>
            </a:extLst>
          </p:cNvPr>
          <p:cNvSpPr>
            <a:spLocks noGrp="1"/>
          </p:cNvSpPr>
          <p:nvPr>
            <p:ph type="sldNum" sz="quarter" idx="5"/>
          </p:nvPr>
        </p:nvSpPr>
        <p:spPr/>
        <p:txBody>
          <a:bodyPr/>
          <a:lstStyle/>
          <a:p>
            <a:pPr>
              <a:defRPr/>
            </a:pPr>
            <a:fld id="{DC8291F1-6C4E-4372-8D3B-2C87FC62486A}" type="slidenum">
              <a:rPr lang="en-US" smtClean="0"/>
              <a:pPr>
                <a:defRPr/>
              </a:pPr>
              <a:t>18</a:t>
            </a:fld>
            <a:endParaRPr lang="en-US" dirty="0"/>
          </a:p>
        </p:txBody>
      </p:sp>
    </p:spTree>
    <p:extLst>
      <p:ext uri="{BB962C8B-B14F-4D97-AF65-F5344CB8AC3E}">
        <p14:creationId xmlns:p14="http://schemas.microsoft.com/office/powerpoint/2010/main" val="27144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637E2-9C87-DE8D-B91F-A8CC87E0E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C488-296E-15B2-5375-D326A46C14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A647C7-06E1-E651-47FF-1A246F5C3112}"/>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dirty="0"/>
              <a:t>https://</a:t>
            </a:r>
            <a:r>
              <a:rPr lang="en-US" dirty="0" err="1"/>
              <a:t>ieeexplore.ieee.org</a:t>
            </a:r>
            <a:r>
              <a:rPr lang="en-US" dirty="0"/>
              <a:t>/document/11486290</a:t>
            </a:r>
          </a:p>
          <a:p>
            <a:pPr marL="171450" indent="-171450">
              <a:buFontTx/>
              <a:buChar char="-"/>
            </a:pPr>
            <a:r>
              <a:rPr lang="en-US" dirty="0"/>
              <a:t>Regarding all caps (which may be model dependent), see: </a:t>
            </a:r>
            <a:r>
              <a:rPr lang="en-US" sz="1200" b="0" i="0" u="none" strike="noStrike" kern="1200" dirty="0">
                <a:solidFill>
                  <a:schemeClr val="tx1"/>
                </a:solidFill>
                <a:effectLst/>
                <a:latin typeface="+mn-lt"/>
                <a:ea typeface="+mn-ea"/>
                <a:cs typeface="+mn-cs"/>
              </a:rPr>
              <a:t>Sclar, M., Choi, Y., Tsvetkov, Y., &amp; Suhr, A. (2024). Quantifying language models’ sensitivity to spurious features in prompt design or: How I learned to start worrying about prompt formatting. </a:t>
            </a:r>
            <a:r>
              <a:rPr lang="en-US" sz="1200" b="0" i="1" kern="1200" dirty="0">
                <a:solidFill>
                  <a:schemeClr val="tx1"/>
                </a:solidFill>
                <a:effectLst/>
                <a:latin typeface="+mn-lt"/>
                <a:ea typeface="+mn-ea"/>
                <a:cs typeface="+mn-cs"/>
              </a:rPr>
              <a:t>International Conference on Learning Representations (ICLR). </a:t>
            </a:r>
            <a:r>
              <a:rPr lang="en-US" sz="1200" b="0" i="0" kern="1200" dirty="0">
                <a:solidFill>
                  <a:schemeClr val="tx1"/>
                </a:solidFill>
                <a:effectLst/>
                <a:latin typeface="+mn-lt"/>
                <a:ea typeface="+mn-ea"/>
                <a:cs typeface="+mn-cs"/>
              </a:rPr>
              <a:t>https://</a:t>
            </a:r>
            <a:r>
              <a:rPr lang="en-US" sz="1200" b="0" i="0" kern="1200" dirty="0" err="1">
                <a:solidFill>
                  <a:schemeClr val="tx1"/>
                </a:solidFill>
                <a:effectLst/>
                <a:latin typeface="+mn-lt"/>
                <a:ea typeface="+mn-ea"/>
                <a:cs typeface="+mn-cs"/>
              </a:rPr>
              <a:t>arxiv.org</a:t>
            </a:r>
            <a:r>
              <a:rPr lang="en-US" sz="1200" b="0" i="0" kern="1200" dirty="0">
                <a:solidFill>
                  <a:schemeClr val="tx1"/>
                </a:solidFill>
                <a:effectLst/>
                <a:latin typeface="+mn-lt"/>
                <a:ea typeface="+mn-ea"/>
                <a:cs typeface="+mn-cs"/>
              </a:rPr>
              <a:t>/abs/2310.11324</a:t>
            </a:r>
            <a:endParaRPr lang="en-US" i="0" dirty="0"/>
          </a:p>
        </p:txBody>
      </p:sp>
      <p:sp>
        <p:nvSpPr>
          <p:cNvPr id="4" name="Slide Number Placeholder 3">
            <a:extLst>
              <a:ext uri="{FF2B5EF4-FFF2-40B4-BE49-F238E27FC236}">
                <a16:creationId xmlns:a16="http://schemas.microsoft.com/office/drawing/2014/main" id="{60C04410-3C93-C4EC-8184-F848CC3715AD}"/>
              </a:ext>
            </a:extLst>
          </p:cNvPr>
          <p:cNvSpPr>
            <a:spLocks noGrp="1"/>
          </p:cNvSpPr>
          <p:nvPr>
            <p:ph type="sldNum" sz="quarter" idx="5"/>
          </p:nvPr>
        </p:nvSpPr>
        <p:spPr/>
        <p:txBody>
          <a:bodyPr/>
          <a:lstStyle/>
          <a:p>
            <a:pPr>
              <a:defRPr/>
            </a:pPr>
            <a:fld id="{DC8291F1-6C4E-4372-8D3B-2C87FC62486A}" type="slidenum">
              <a:rPr lang="en-US" smtClean="0"/>
              <a:pPr>
                <a:defRPr/>
              </a:pPr>
              <a:t>19</a:t>
            </a:fld>
            <a:endParaRPr lang="en-US" dirty="0"/>
          </a:p>
        </p:txBody>
      </p:sp>
    </p:spTree>
    <p:extLst>
      <p:ext uri="{BB962C8B-B14F-4D97-AF65-F5344CB8AC3E}">
        <p14:creationId xmlns:p14="http://schemas.microsoft.com/office/powerpoint/2010/main" val="190270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0D9A1-F306-C471-648C-A2ACC711A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590CD-FAC7-31A1-EE02-7006669C5C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C66654-59BB-C1B0-DB8A-A404EACEFDFC}"/>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sz="1200" b="0" i="0" u="none" strike="noStrike" kern="1200" dirty="0">
                <a:solidFill>
                  <a:schemeClr val="tx1"/>
                </a:solidFill>
                <a:effectLst/>
                <a:latin typeface="+mn-lt"/>
                <a:ea typeface="+mn-ea"/>
                <a:cs typeface="+mn-cs"/>
              </a:rPr>
              <a:t>Gao, X., &amp; Das, K. (2024). Customizing language model responses with contrastive in-context learning. </a:t>
            </a:r>
            <a:r>
              <a:rPr lang="en-US" sz="1200" b="0" i="1" kern="1200" dirty="0">
                <a:solidFill>
                  <a:schemeClr val="tx1"/>
                </a:solidFill>
                <a:effectLst/>
                <a:latin typeface="+mn-lt"/>
                <a:ea typeface="+mn-ea"/>
                <a:cs typeface="+mn-cs"/>
              </a:rPr>
              <a:t>Proceedings of the AAAI Conference on Artificial Intelligence, 38</a:t>
            </a:r>
            <a:r>
              <a:rPr lang="en-US" sz="1200" b="0" i="0" u="none" strike="noStrike" kern="1200" dirty="0">
                <a:solidFill>
                  <a:schemeClr val="tx1"/>
                </a:solidFill>
                <a:effectLst/>
                <a:latin typeface="+mn-lt"/>
                <a:ea typeface="+mn-ea"/>
                <a:cs typeface="+mn-cs"/>
              </a:rPr>
              <a:t>(16), 18039–18046. </a:t>
            </a:r>
            <a:r>
              <a:rPr lang="en-US" sz="1200" b="0" i="0" kern="1200" dirty="0">
                <a:solidFill>
                  <a:schemeClr val="tx1"/>
                </a:solidFill>
                <a:effectLst/>
                <a:latin typeface="+mn-lt"/>
                <a:ea typeface="+mn-ea"/>
                <a:cs typeface="+mn-cs"/>
              </a:rPr>
              <a:t>https://</a:t>
            </a:r>
            <a:r>
              <a:rPr lang="en-US" sz="1200" b="0" i="0" kern="1200" dirty="0" err="1">
                <a:solidFill>
                  <a:schemeClr val="tx1"/>
                </a:solidFill>
                <a:effectLst/>
                <a:latin typeface="+mn-lt"/>
                <a:ea typeface="+mn-ea"/>
                <a:cs typeface="+mn-cs"/>
              </a:rPr>
              <a:t>doi.org</a:t>
            </a:r>
            <a:r>
              <a:rPr lang="en-US" sz="1200" b="0" i="0" kern="1200" dirty="0">
                <a:solidFill>
                  <a:schemeClr val="tx1"/>
                </a:solidFill>
                <a:effectLst/>
                <a:latin typeface="+mn-lt"/>
                <a:ea typeface="+mn-ea"/>
                <a:cs typeface="+mn-cs"/>
              </a:rPr>
              <a:t>/10.1609/aaai.v38i16.29760</a:t>
            </a:r>
            <a:endParaRPr lang="en-US" dirty="0"/>
          </a:p>
        </p:txBody>
      </p:sp>
      <p:sp>
        <p:nvSpPr>
          <p:cNvPr id="4" name="Slide Number Placeholder 3">
            <a:extLst>
              <a:ext uri="{FF2B5EF4-FFF2-40B4-BE49-F238E27FC236}">
                <a16:creationId xmlns:a16="http://schemas.microsoft.com/office/drawing/2014/main" id="{E4FF2B96-16E1-60C4-3D32-4624E53BECC7}"/>
              </a:ext>
            </a:extLst>
          </p:cNvPr>
          <p:cNvSpPr>
            <a:spLocks noGrp="1"/>
          </p:cNvSpPr>
          <p:nvPr>
            <p:ph type="sldNum" sz="quarter" idx="5"/>
          </p:nvPr>
        </p:nvSpPr>
        <p:spPr/>
        <p:txBody>
          <a:bodyPr/>
          <a:lstStyle/>
          <a:p>
            <a:pPr>
              <a:defRPr/>
            </a:pPr>
            <a:fld id="{DC8291F1-6C4E-4372-8D3B-2C87FC62486A}" type="slidenum">
              <a:rPr lang="en-US" smtClean="0"/>
              <a:pPr>
                <a:defRPr/>
              </a:pPr>
              <a:t>20</a:t>
            </a:fld>
            <a:endParaRPr lang="en-US" dirty="0"/>
          </a:p>
        </p:txBody>
      </p:sp>
    </p:spTree>
    <p:extLst>
      <p:ext uri="{BB962C8B-B14F-4D97-AF65-F5344CB8AC3E}">
        <p14:creationId xmlns:p14="http://schemas.microsoft.com/office/powerpoint/2010/main" val="2868160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696D0-00C0-C633-590C-4D1719404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D5D3C-C51A-A2D9-70BB-821D50CEF2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089481-A64B-C54D-E973-6E2C0EE8C048}"/>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dirty="0"/>
              <a:t>https://</a:t>
            </a:r>
            <a:r>
              <a:rPr lang="en-US" dirty="0" err="1"/>
              <a:t>ieeexplore.ieee.org</a:t>
            </a:r>
            <a:r>
              <a:rPr lang="en-US" dirty="0"/>
              <a:t>/document/11486290</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FD8CFD2E-DA0B-7FC4-8D03-FDC144C80EAC}"/>
              </a:ext>
            </a:extLst>
          </p:cNvPr>
          <p:cNvSpPr>
            <a:spLocks noGrp="1"/>
          </p:cNvSpPr>
          <p:nvPr>
            <p:ph type="sldNum" sz="quarter" idx="5"/>
          </p:nvPr>
        </p:nvSpPr>
        <p:spPr/>
        <p:txBody>
          <a:bodyPr/>
          <a:lstStyle/>
          <a:p>
            <a:pPr>
              <a:defRPr/>
            </a:pPr>
            <a:fld id="{DC8291F1-6C4E-4372-8D3B-2C87FC62486A}" type="slidenum">
              <a:rPr lang="en-US" smtClean="0"/>
              <a:pPr>
                <a:defRPr/>
              </a:pPr>
              <a:t>21</a:t>
            </a:fld>
            <a:endParaRPr lang="en-US" dirty="0"/>
          </a:p>
        </p:txBody>
      </p:sp>
    </p:spTree>
    <p:extLst>
      <p:ext uri="{BB962C8B-B14F-4D97-AF65-F5344CB8AC3E}">
        <p14:creationId xmlns:p14="http://schemas.microsoft.com/office/powerpoint/2010/main" val="1722868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3D3D0-92A2-108A-F1A7-FDE27D71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7992E-B4C4-9B33-A359-55481935AE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5EF513-A807-5F41-F9CA-CA1DB2AF6B6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a:t>
            </a:r>
            <a:r>
              <a:rPr lang="en-US" sz="1200" kern="0" dirty="0"/>
              <a:t>See serving frameworks’ (e.g., </a:t>
            </a:r>
            <a:r>
              <a:rPr lang="en-US" sz="1200" kern="0" dirty="0">
                <a:hlinkClick r:id="rId3"/>
              </a:rPr>
              <a:t>vLLM</a:t>
            </a:r>
            <a:r>
              <a:rPr lang="en-US" sz="1200" kern="0" dirty="0"/>
              <a:t>, </a:t>
            </a:r>
            <a:r>
              <a:rPr lang="en-US" sz="1200" kern="0" dirty="0">
                <a:hlinkClick r:id="rId4"/>
              </a:rPr>
              <a:t>SGLang</a:t>
            </a:r>
            <a:r>
              <a:rPr lang="en-US" sz="1200" kern="0" dirty="0"/>
              <a:t>) documentation</a:t>
            </a:r>
          </a:p>
        </p:txBody>
      </p:sp>
      <p:sp>
        <p:nvSpPr>
          <p:cNvPr id="4" name="Slide Number Placeholder 3">
            <a:extLst>
              <a:ext uri="{FF2B5EF4-FFF2-40B4-BE49-F238E27FC236}">
                <a16:creationId xmlns:a16="http://schemas.microsoft.com/office/drawing/2014/main" id="{A8FFD42F-92E0-5848-DD0B-BDA2B93DC778}"/>
              </a:ext>
            </a:extLst>
          </p:cNvPr>
          <p:cNvSpPr>
            <a:spLocks noGrp="1"/>
          </p:cNvSpPr>
          <p:nvPr>
            <p:ph type="sldNum" sz="quarter" idx="5"/>
          </p:nvPr>
        </p:nvSpPr>
        <p:spPr/>
        <p:txBody>
          <a:bodyPr/>
          <a:lstStyle/>
          <a:p>
            <a:pPr>
              <a:defRPr/>
            </a:pPr>
            <a:fld id="{DC8291F1-6C4E-4372-8D3B-2C87FC62486A}" type="slidenum">
              <a:rPr lang="en-US" smtClean="0"/>
              <a:pPr>
                <a:defRPr/>
              </a:pPr>
              <a:t>22</a:t>
            </a:fld>
            <a:endParaRPr lang="en-US" dirty="0"/>
          </a:p>
        </p:txBody>
      </p:sp>
    </p:spTree>
    <p:extLst>
      <p:ext uri="{BB962C8B-B14F-4D97-AF65-F5344CB8AC3E}">
        <p14:creationId xmlns:p14="http://schemas.microsoft.com/office/powerpoint/2010/main" val="1263561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861D-5DB8-872E-92C0-08A65513F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2FCF3-3866-56DC-6D3C-A526FE30E4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2660E6-73C5-0739-E9EA-5C0DE4EF7CD0}"/>
              </a:ext>
            </a:extLst>
          </p:cNvPr>
          <p:cNvSpPr>
            <a:spLocks noGrp="1"/>
          </p:cNvSpPr>
          <p:nvPr>
            <p:ph type="body" idx="1"/>
          </p:nvPr>
        </p:nvSpPr>
        <p:spPr/>
        <p:txBody>
          <a:bodyPr/>
          <a:lstStyle/>
          <a:p>
            <a:pPr marL="0" indent="0">
              <a:buFontTx/>
              <a:buNone/>
            </a:pPr>
            <a:r>
              <a:rPr lang="en-US" dirty="0"/>
              <a:t>Sources: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sz="1200" b="0" i="0" u="none" strike="noStrike" kern="1200" dirty="0">
                <a:solidFill>
                  <a:schemeClr val="tx1"/>
                </a:solidFill>
                <a:effectLst/>
                <a:latin typeface="+mn-lt"/>
                <a:ea typeface="+mn-ea"/>
                <a:cs typeface="+mn-cs"/>
              </a:rPr>
              <a:t>Walter, Y. (2024). Embracing the future of artificial intelligence in the classroom: The relevance of AI literacy, prompt engineering, and critical thinking in modern education. </a:t>
            </a:r>
            <a:r>
              <a:rPr lang="en-US" sz="1200" b="0" i="1" kern="1200" dirty="0">
                <a:solidFill>
                  <a:schemeClr val="tx1"/>
                </a:solidFill>
                <a:effectLst/>
                <a:latin typeface="+mn-lt"/>
                <a:ea typeface="+mn-ea"/>
                <a:cs typeface="+mn-cs"/>
              </a:rPr>
              <a:t>International Journal of Educational Technology in Higher Education, 21</a:t>
            </a:r>
            <a:r>
              <a:rPr lang="en-US" sz="1200" b="0" i="0" u="none" strike="noStrike" kern="1200" dirty="0">
                <a:solidFill>
                  <a:schemeClr val="tx1"/>
                </a:solidFill>
                <a:effectLst/>
                <a:latin typeface="+mn-lt"/>
                <a:ea typeface="+mn-ea"/>
                <a:cs typeface="+mn-cs"/>
              </a:rPr>
              <a:t>, Article 15. </a:t>
            </a:r>
            <a:r>
              <a:rPr lang="en-US" dirty="0"/>
              <a:t>https://</a:t>
            </a:r>
            <a:r>
              <a:rPr lang="en-US" dirty="0" err="1"/>
              <a:t>link.springer.com</a:t>
            </a:r>
            <a:r>
              <a:rPr lang="en-US" dirty="0"/>
              <a:t>/article/10.1186/s41239-024-00448-3</a:t>
            </a:r>
          </a:p>
        </p:txBody>
      </p:sp>
      <p:sp>
        <p:nvSpPr>
          <p:cNvPr id="4" name="Slide Number Placeholder 3">
            <a:extLst>
              <a:ext uri="{FF2B5EF4-FFF2-40B4-BE49-F238E27FC236}">
                <a16:creationId xmlns:a16="http://schemas.microsoft.com/office/drawing/2014/main" id="{8A2D7775-14B6-A8EC-C159-3D638F3CDFA0}"/>
              </a:ext>
            </a:extLst>
          </p:cNvPr>
          <p:cNvSpPr>
            <a:spLocks noGrp="1"/>
          </p:cNvSpPr>
          <p:nvPr>
            <p:ph type="sldNum" sz="quarter" idx="5"/>
          </p:nvPr>
        </p:nvSpPr>
        <p:spPr/>
        <p:txBody>
          <a:bodyPr/>
          <a:lstStyle/>
          <a:p>
            <a:pPr>
              <a:defRPr/>
            </a:pPr>
            <a:fld id="{DC8291F1-6C4E-4372-8D3B-2C87FC62486A}" type="slidenum">
              <a:rPr lang="en-US" smtClean="0"/>
              <a:pPr>
                <a:defRPr/>
              </a:pPr>
              <a:t>23</a:t>
            </a:fld>
            <a:endParaRPr lang="en-US" dirty="0"/>
          </a:p>
        </p:txBody>
      </p:sp>
    </p:spTree>
    <p:extLst>
      <p:ext uri="{BB962C8B-B14F-4D97-AF65-F5344CB8AC3E}">
        <p14:creationId xmlns:p14="http://schemas.microsoft.com/office/powerpoint/2010/main" val="826275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F4B9-CD2A-BE48-ADAC-9CC423D09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928C4-5A1D-E42E-7FED-3F431D446A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6AE52C-B4E1-9140-10EA-417846CBC704}"/>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A6644971-F38F-D08C-7D44-BCEBE659B516}"/>
              </a:ext>
            </a:extLst>
          </p:cNvPr>
          <p:cNvSpPr>
            <a:spLocks noGrp="1"/>
          </p:cNvSpPr>
          <p:nvPr>
            <p:ph type="sldNum" sz="quarter" idx="5"/>
          </p:nvPr>
        </p:nvSpPr>
        <p:spPr/>
        <p:txBody>
          <a:bodyPr/>
          <a:lstStyle/>
          <a:p>
            <a:pPr>
              <a:defRPr/>
            </a:pPr>
            <a:fld id="{DC8291F1-6C4E-4372-8D3B-2C87FC62486A}" type="slidenum">
              <a:rPr lang="en-US" smtClean="0"/>
              <a:pPr>
                <a:defRPr/>
              </a:pPr>
              <a:t>24</a:t>
            </a:fld>
            <a:endParaRPr lang="en-US" dirty="0"/>
          </a:p>
        </p:txBody>
      </p:sp>
    </p:spTree>
    <p:extLst>
      <p:ext uri="{BB962C8B-B14F-4D97-AF65-F5344CB8AC3E}">
        <p14:creationId xmlns:p14="http://schemas.microsoft.com/office/powerpoint/2010/main" val="3605485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40A6-A2DF-C00A-832B-B1E27D331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70686-BF25-6D97-5B07-346337867C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52F614-A06F-01D9-36DB-765B3C37DED6}"/>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3452E508-B80A-DD0D-F38E-52EDC48E6DC0}"/>
              </a:ext>
            </a:extLst>
          </p:cNvPr>
          <p:cNvSpPr>
            <a:spLocks noGrp="1"/>
          </p:cNvSpPr>
          <p:nvPr>
            <p:ph type="sldNum" sz="quarter" idx="5"/>
          </p:nvPr>
        </p:nvSpPr>
        <p:spPr/>
        <p:txBody>
          <a:bodyPr/>
          <a:lstStyle/>
          <a:p>
            <a:pPr>
              <a:defRPr/>
            </a:pPr>
            <a:fld id="{DC8291F1-6C4E-4372-8D3B-2C87FC62486A}" type="slidenum">
              <a:rPr lang="en-US" smtClean="0"/>
              <a:pPr>
                <a:defRPr/>
              </a:pPr>
              <a:t>25</a:t>
            </a:fld>
            <a:endParaRPr lang="en-US" dirty="0"/>
          </a:p>
        </p:txBody>
      </p:sp>
    </p:spTree>
    <p:extLst>
      <p:ext uri="{BB962C8B-B14F-4D97-AF65-F5344CB8AC3E}">
        <p14:creationId xmlns:p14="http://schemas.microsoft.com/office/powerpoint/2010/main" val="3102209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8F610-6116-66FF-79C6-FDFC583AC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ECBA2-BD87-AB78-E6A9-E7842EAF59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98F0F5-5E79-6C6E-3A11-C47DBA70F18D}"/>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1FC3F091-C4E0-EF6B-8800-FAF0B968E113}"/>
              </a:ext>
            </a:extLst>
          </p:cNvPr>
          <p:cNvSpPr>
            <a:spLocks noGrp="1"/>
          </p:cNvSpPr>
          <p:nvPr>
            <p:ph type="sldNum" sz="quarter" idx="5"/>
          </p:nvPr>
        </p:nvSpPr>
        <p:spPr/>
        <p:txBody>
          <a:bodyPr/>
          <a:lstStyle/>
          <a:p>
            <a:pPr>
              <a:defRPr/>
            </a:pPr>
            <a:fld id="{DC8291F1-6C4E-4372-8D3B-2C87FC62486A}" type="slidenum">
              <a:rPr lang="en-US" smtClean="0"/>
              <a:pPr>
                <a:defRPr/>
              </a:pPr>
              <a:t>26</a:t>
            </a:fld>
            <a:endParaRPr lang="en-US" dirty="0"/>
          </a:p>
        </p:txBody>
      </p:sp>
    </p:spTree>
    <p:extLst>
      <p:ext uri="{BB962C8B-B14F-4D97-AF65-F5344CB8AC3E}">
        <p14:creationId xmlns:p14="http://schemas.microsoft.com/office/powerpoint/2010/main" val="2424821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FA6A1-BFF9-8430-FD2A-E6D4FDA4F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3FC54-B7F0-F904-E467-2D688D7E74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B98525-8E15-E1C2-0031-5A1A3E94FFC4}"/>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sz="1200" b="0" i="0" u="none" strike="noStrike" kern="1200" dirty="0">
                <a:solidFill>
                  <a:schemeClr val="tx1"/>
                </a:solidFill>
                <a:effectLst/>
                <a:latin typeface="+mn-lt"/>
                <a:ea typeface="+mn-ea"/>
                <a:cs typeface="+mn-cs"/>
              </a:rPr>
              <a:t>Acuna, K. (2015, March 31). </a:t>
            </a:r>
            <a:r>
              <a:rPr lang="en-US" sz="1200" b="0" i="1" kern="1200" dirty="0">
                <a:solidFill>
                  <a:schemeClr val="tx1"/>
                </a:solidFill>
                <a:effectLst/>
                <a:latin typeface="+mn-lt"/>
                <a:ea typeface="+mn-ea"/>
                <a:cs typeface="+mn-cs"/>
              </a:rPr>
              <a:t>The ‘Interstellar’ robot was actually a 200-pound puppet an actor carried on set</a:t>
            </a:r>
            <a:r>
              <a:rPr lang="en-US" sz="1200" b="0" i="0" u="none" strike="noStrike" kern="1200" dirty="0">
                <a:solidFill>
                  <a:schemeClr val="tx1"/>
                </a:solidFill>
                <a:effectLst/>
                <a:latin typeface="+mn-lt"/>
                <a:ea typeface="+mn-ea"/>
                <a:cs typeface="+mn-cs"/>
              </a:rPr>
              <a:t>. Business Insider. https://</a:t>
            </a:r>
            <a:r>
              <a:rPr lang="en-US" sz="1200" b="0" i="0" u="none" strike="noStrike" kern="1200" dirty="0" err="1">
                <a:solidFill>
                  <a:schemeClr val="tx1"/>
                </a:solidFill>
                <a:effectLst/>
                <a:latin typeface="+mn-lt"/>
                <a:ea typeface="+mn-ea"/>
                <a:cs typeface="+mn-cs"/>
              </a:rPr>
              <a:t>www.businessinsider.com</a:t>
            </a:r>
            <a:r>
              <a:rPr lang="en-US" sz="1200" b="0" i="0" u="none" strike="noStrike" kern="1200" dirty="0">
                <a:solidFill>
                  <a:schemeClr val="tx1"/>
                </a:solidFill>
                <a:effectLst/>
                <a:latin typeface="+mn-lt"/>
                <a:ea typeface="+mn-ea"/>
                <a:cs typeface="+mn-cs"/>
              </a:rPr>
              <a:t>/interstellar-how-tars-was-built-2015-3</a:t>
            </a:r>
            <a:endParaRPr lang="en-US" sz="1200" b="0" i="0" kern="1200" dirty="0">
              <a:solidFill>
                <a:schemeClr val="tx1"/>
              </a:solidFill>
              <a:effectLst/>
              <a:latin typeface="+mn-lt"/>
              <a:ea typeface="+mn-ea"/>
              <a:cs typeface="+mn-cs"/>
            </a:endParaRPr>
          </a:p>
          <a:p>
            <a:pPr marL="171450" indent="-171450">
              <a:buFontTx/>
              <a:buChar char="-"/>
            </a:pPr>
            <a:r>
              <a:rPr lang="en-US" sz="1200" b="0" i="0" kern="1200" dirty="0">
                <a:solidFill>
                  <a:schemeClr val="tx1"/>
                </a:solidFill>
                <a:effectLst/>
                <a:latin typeface="+mn-lt"/>
                <a:ea typeface="+mn-ea"/>
                <a:cs typeface="+mn-cs"/>
              </a:rPr>
              <a:t>Nolan, C. (Director). (2014). </a:t>
            </a:r>
            <a:r>
              <a:rPr lang="en-US" sz="1200" b="0" i="1" kern="1200" dirty="0">
                <a:solidFill>
                  <a:schemeClr val="tx1"/>
                </a:solidFill>
                <a:effectLst/>
                <a:latin typeface="+mn-lt"/>
                <a:ea typeface="+mn-ea"/>
                <a:cs typeface="+mn-cs"/>
              </a:rPr>
              <a:t>Interstellar</a:t>
            </a:r>
            <a:r>
              <a:rPr lang="en-US" sz="1200" b="0" i="0" kern="1200" dirty="0">
                <a:solidFill>
                  <a:schemeClr val="tx1"/>
                </a:solidFill>
                <a:effectLst/>
                <a:latin typeface="+mn-lt"/>
                <a:ea typeface="+mn-ea"/>
                <a:cs typeface="+mn-cs"/>
              </a:rPr>
              <a:t> [Film]. Paramount Pictures; Warner Bros. Pictures.</a:t>
            </a:r>
          </a:p>
          <a:p>
            <a:pPr marL="0" indent="0">
              <a:buFontTx/>
              <a:buNone/>
            </a:pPr>
            <a:endParaRPr lang="en-US" dirty="0"/>
          </a:p>
        </p:txBody>
      </p:sp>
      <p:sp>
        <p:nvSpPr>
          <p:cNvPr id="4" name="Slide Number Placeholder 3">
            <a:extLst>
              <a:ext uri="{FF2B5EF4-FFF2-40B4-BE49-F238E27FC236}">
                <a16:creationId xmlns:a16="http://schemas.microsoft.com/office/drawing/2014/main" id="{3CA1F3DF-D393-064B-62C7-D01F4FA66AE2}"/>
              </a:ext>
            </a:extLst>
          </p:cNvPr>
          <p:cNvSpPr>
            <a:spLocks noGrp="1"/>
          </p:cNvSpPr>
          <p:nvPr>
            <p:ph type="sldNum" sz="quarter" idx="5"/>
          </p:nvPr>
        </p:nvSpPr>
        <p:spPr/>
        <p:txBody>
          <a:bodyPr/>
          <a:lstStyle/>
          <a:p>
            <a:pPr>
              <a:defRPr/>
            </a:pPr>
            <a:fld id="{DC8291F1-6C4E-4372-8D3B-2C87FC62486A}" type="slidenum">
              <a:rPr lang="en-US" smtClean="0"/>
              <a:pPr>
                <a:defRPr/>
              </a:pPr>
              <a:t>27</a:t>
            </a:fld>
            <a:endParaRPr lang="en-US" dirty="0"/>
          </a:p>
        </p:txBody>
      </p:sp>
    </p:spTree>
    <p:extLst>
      <p:ext uri="{BB962C8B-B14F-4D97-AF65-F5344CB8AC3E}">
        <p14:creationId xmlns:p14="http://schemas.microsoft.com/office/powerpoint/2010/main" val="32070479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D082B-10B4-9FFC-00DE-BE5A695D9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8438A-1612-AF40-6C88-CC024F9BFE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557956-850E-256F-E27D-10BBF6EA8716}"/>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7542DDA9-DF87-8A40-3774-34B88CE9EAAB}"/>
              </a:ext>
            </a:extLst>
          </p:cNvPr>
          <p:cNvSpPr>
            <a:spLocks noGrp="1"/>
          </p:cNvSpPr>
          <p:nvPr>
            <p:ph type="sldNum" sz="quarter" idx="5"/>
          </p:nvPr>
        </p:nvSpPr>
        <p:spPr/>
        <p:txBody>
          <a:bodyPr/>
          <a:lstStyle/>
          <a:p>
            <a:pPr>
              <a:defRPr/>
            </a:pPr>
            <a:fld id="{DC8291F1-6C4E-4372-8D3B-2C87FC62486A}" type="slidenum">
              <a:rPr lang="en-US" smtClean="0"/>
              <a:pPr>
                <a:defRPr/>
              </a:pPr>
              <a:t>29</a:t>
            </a:fld>
            <a:endParaRPr lang="en-US" dirty="0"/>
          </a:p>
        </p:txBody>
      </p:sp>
    </p:spTree>
    <p:extLst>
      <p:ext uri="{BB962C8B-B14F-4D97-AF65-F5344CB8AC3E}">
        <p14:creationId xmlns:p14="http://schemas.microsoft.com/office/powerpoint/2010/main" val="1894663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05911-A5FE-1E98-13B9-EDAB864E5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8DA3A-2046-763D-63CB-6D3A3C097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DE90C6-6421-6318-993D-FD58F74D8EF3}"/>
              </a:ext>
            </a:extLst>
          </p:cNvPr>
          <p:cNvSpPr>
            <a:spLocks noGrp="1"/>
          </p:cNvSpPr>
          <p:nvPr>
            <p:ph type="body" idx="1"/>
          </p:nvPr>
        </p:nvSpPr>
        <p:spPr/>
        <p:txBody>
          <a:bodyPr/>
          <a:lstStyle/>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The are several ways to create a new project in the Desktop Application, including the </a:t>
            </a:r>
            <a:r>
              <a:rPr lang="en-US" b="1" dirty="0"/>
              <a:t>Command Palette</a:t>
            </a:r>
            <a:r>
              <a:rPr lang="en-US" dirty="0"/>
              <a:t>: “</a:t>
            </a:r>
            <a:r>
              <a:rPr lang="en-US" sz="1200" b="1" i="0" kern="1200" dirty="0" err="1">
                <a:solidFill>
                  <a:schemeClr val="tx1"/>
                </a:solidFill>
                <a:effectLst/>
                <a:latin typeface="+mn-lt"/>
                <a:ea typeface="+mn-ea"/>
                <a:cs typeface="+mn-cs"/>
              </a:rPr>
              <a:t>Cmd+K</a:t>
            </a:r>
            <a:r>
              <a:rPr lang="en-US" sz="1200" b="0" i="0" u="none" strike="noStrike" kern="1200" dirty="0">
                <a:solidFill>
                  <a:schemeClr val="tx1"/>
                </a:solidFill>
                <a:effectLst/>
                <a:latin typeface="+mn-lt"/>
                <a:ea typeface="+mn-ea"/>
                <a:cs typeface="+mn-cs"/>
              </a:rPr>
              <a:t> or </a:t>
            </a:r>
            <a:r>
              <a:rPr lang="en-US" sz="1200" b="1" i="0" kern="1200" dirty="0" err="1">
                <a:solidFill>
                  <a:schemeClr val="tx1"/>
                </a:solidFill>
                <a:effectLst/>
                <a:latin typeface="+mn-lt"/>
                <a:ea typeface="+mn-ea"/>
                <a:cs typeface="+mn-cs"/>
              </a:rPr>
              <a:t>Cmd+P</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Ctrl+K</a:t>
            </a:r>
            <a:r>
              <a:rPr lang="en-US" sz="1200" b="0" i="0" u="none" strike="noStrike" kern="1200" dirty="0">
                <a:solidFill>
                  <a:schemeClr val="tx1"/>
                </a:solidFill>
                <a:effectLst/>
                <a:latin typeface="+mn-lt"/>
                <a:ea typeface="+mn-ea"/>
                <a:cs typeface="+mn-cs"/>
              </a:rPr>
              <a:t> / Ctrl+P on Windows/Linux)” (type in “project” and pick a folder) – see https://</a:t>
            </a:r>
            <a:r>
              <a:rPr lang="en-US" sz="1200" b="0" i="0" u="none" strike="noStrike" kern="1200" dirty="0" err="1">
                <a:solidFill>
                  <a:schemeClr val="tx1"/>
                </a:solidFill>
                <a:effectLst/>
                <a:latin typeface="+mn-lt"/>
                <a:ea typeface="+mn-ea"/>
                <a:cs typeface="+mn-cs"/>
              </a:rPr>
              <a:t>hermes-agent.nousresearch.com</a:t>
            </a:r>
            <a:r>
              <a:rPr lang="en-US" sz="1200" b="0" i="0" u="none" strike="noStrike" kern="1200" dirty="0">
                <a:solidFill>
                  <a:schemeClr val="tx1"/>
                </a:solidFill>
                <a:effectLst/>
                <a:latin typeface="+mn-lt"/>
                <a:ea typeface="+mn-ea"/>
                <a:cs typeface="+mn-cs"/>
              </a:rPr>
              <a:t>/docs/user-guide/</a:t>
            </a:r>
            <a:r>
              <a:rPr lang="en-US" sz="1200" b="0" i="0" u="none" strike="noStrike" kern="1200" dirty="0" err="1">
                <a:solidFill>
                  <a:schemeClr val="tx1"/>
                </a:solidFill>
                <a:effectLst/>
                <a:latin typeface="+mn-lt"/>
                <a:ea typeface="+mn-ea"/>
                <a:cs typeface="+mn-cs"/>
              </a:rPr>
              <a:t>desktop#keyboard</a:t>
            </a:r>
            <a:r>
              <a:rPr lang="en-US" sz="1200" b="0" i="0" u="none" strike="noStrike" kern="1200" dirty="0">
                <a:solidFill>
                  <a:schemeClr val="tx1"/>
                </a:solidFill>
                <a:effectLst/>
                <a:latin typeface="+mn-lt"/>
                <a:ea typeface="+mn-ea"/>
                <a:cs typeface="+mn-cs"/>
              </a:rPr>
              <a:t>--navigation</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sz="1200" b="0" i="0" u="none" strike="noStrike" kern="1200" dirty="0">
                <a:solidFill>
                  <a:schemeClr val="tx1"/>
                </a:solidFill>
                <a:effectLst/>
                <a:latin typeface="+mn-lt"/>
                <a:ea typeface="+mn-ea"/>
                <a:cs typeface="+mn-cs"/>
              </a:rPr>
              <a:t>You can also change the view in the Desktop Application to show projects via the döner menu next to ”SESSIONS”; click it and adjust the “Grouping” to “Project”</a:t>
            </a:r>
            <a:endParaRPr lang="en-US" dirty="0"/>
          </a:p>
          <a:p>
            <a:pPr marL="171450" indent="-171450">
              <a:buFontTx/>
              <a:buChar char="-"/>
            </a:pPr>
            <a:r>
              <a:rPr lang="en-US" dirty="0" err="1"/>
              <a:t>IDEA.md</a:t>
            </a:r>
            <a:r>
              <a:rPr lang="en-US" dirty="0"/>
              <a:t> is also created when creating new Projects via Hermes Desktop</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C4AF1975-52CF-23A5-0CB5-1D7CE368FE37}"/>
              </a:ext>
            </a:extLst>
          </p:cNvPr>
          <p:cNvSpPr>
            <a:spLocks noGrp="1"/>
          </p:cNvSpPr>
          <p:nvPr>
            <p:ph type="sldNum" sz="quarter" idx="5"/>
          </p:nvPr>
        </p:nvSpPr>
        <p:spPr/>
        <p:txBody>
          <a:bodyPr/>
          <a:lstStyle/>
          <a:p>
            <a:pPr>
              <a:defRPr/>
            </a:pPr>
            <a:fld id="{DC8291F1-6C4E-4372-8D3B-2C87FC62486A}" type="slidenum">
              <a:rPr lang="en-US" smtClean="0"/>
              <a:pPr>
                <a:defRPr/>
              </a:pPr>
              <a:t>30</a:t>
            </a:fld>
            <a:endParaRPr lang="en-US" dirty="0"/>
          </a:p>
        </p:txBody>
      </p:sp>
    </p:spTree>
    <p:extLst>
      <p:ext uri="{BB962C8B-B14F-4D97-AF65-F5344CB8AC3E}">
        <p14:creationId xmlns:p14="http://schemas.microsoft.com/office/powerpoint/2010/main" val="2778799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97E45-C680-480F-0AAC-CD3DE62C7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E0700-87C7-07C8-EB70-851D1B83FF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90ED93-BDBA-4F3D-183E-E88E2ECF4738}"/>
              </a:ext>
            </a:extLst>
          </p:cNvPr>
          <p:cNvSpPr>
            <a:spLocks noGrp="1"/>
          </p:cNvSpPr>
          <p:nvPr>
            <p:ph type="body" idx="1"/>
          </p:nvPr>
        </p:nvSpPr>
        <p:spPr/>
        <p:txBody>
          <a:bodyPr/>
          <a:lstStyle/>
          <a:p>
            <a:pPr marL="0" indent="0">
              <a:buFontTx/>
              <a:buNone/>
            </a:pPr>
            <a:r>
              <a:rPr lang="en-US" dirty="0"/>
              <a:t>Sources:</a:t>
            </a:r>
          </a:p>
          <a:p>
            <a:pPr marL="171450" indent="-171450">
              <a:buFontTx/>
              <a:buChar char="-"/>
            </a:pPr>
            <a:r>
              <a:rPr lang="en-US" dirty="0"/>
              <a:t>https://</a:t>
            </a:r>
            <a:r>
              <a:rPr lang="en-US" dirty="0" err="1"/>
              <a:t>hermes-agent.nousresearch.com</a:t>
            </a:r>
            <a:r>
              <a:rPr lang="en-US" dirty="0"/>
              <a:t>/docs/user-guide/features/context-files</a:t>
            </a:r>
          </a:p>
        </p:txBody>
      </p:sp>
      <p:sp>
        <p:nvSpPr>
          <p:cNvPr id="4" name="Slide Number Placeholder 3">
            <a:extLst>
              <a:ext uri="{FF2B5EF4-FFF2-40B4-BE49-F238E27FC236}">
                <a16:creationId xmlns:a16="http://schemas.microsoft.com/office/drawing/2014/main" id="{068FD0D2-3EEC-DD54-2F14-9B37096D9BE2}"/>
              </a:ext>
            </a:extLst>
          </p:cNvPr>
          <p:cNvSpPr>
            <a:spLocks noGrp="1"/>
          </p:cNvSpPr>
          <p:nvPr>
            <p:ph type="sldNum" sz="quarter" idx="5"/>
          </p:nvPr>
        </p:nvSpPr>
        <p:spPr/>
        <p:txBody>
          <a:bodyPr/>
          <a:lstStyle/>
          <a:p>
            <a:pPr>
              <a:defRPr/>
            </a:pPr>
            <a:fld id="{DC8291F1-6C4E-4372-8D3B-2C87FC62486A}" type="slidenum">
              <a:rPr lang="en-US" smtClean="0"/>
              <a:pPr>
                <a:defRPr/>
              </a:pPr>
              <a:t>31</a:t>
            </a:fld>
            <a:endParaRPr lang="en-US" dirty="0"/>
          </a:p>
        </p:txBody>
      </p:sp>
    </p:spTree>
    <p:extLst>
      <p:ext uri="{BB962C8B-B14F-4D97-AF65-F5344CB8AC3E}">
        <p14:creationId xmlns:p14="http://schemas.microsoft.com/office/powerpoint/2010/main" val="27030890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DC173-4664-8E22-49F8-5618BD092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9FF84-143F-3221-879F-7ABA889712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179A48-5459-D578-58F5-D8289C8C508B}"/>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A7FBA064-FBCF-022F-C18B-8EC9218BBF14}"/>
              </a:ext>
            </a:extLst>
          </p:cNvPr>
          <p:cNvSpPr>
            <a:spLocks noGrp="1"/>
          </p:cNvSpPr>
          <p:nvPr>
            <p:ph type="sldNum" sz="quarter" idx="5"/>
          </p:nvPr>
        </p:nvSpPr>
        <p:spPr/>
        <p:txBody>
          <a:bodyPr/>
          <a:lstStyle/>
          <a:p>
            <a:pPr>
              <a:defRPr/>
            </a:pPr>
            <a:fld id="{DC8291F1-6C4E-4372-8D3B-2C87FC62486A}" type="slidenum">
              <a:rPr lang="en-US" smtClean="0"/>
              <a:pPr>
                <a:defRPr/>
              </a:pPr>
              <a:t>32</a:t>
            </a:fld>
            <a:endParaRPr lang="en-US" dirty="0"/>
          </a:p>
        </p:txBody>
      </p:sp>
    </p:spTree>
    <p:extLst>
      <p:ext uri="{BB962C8B-B14F-4D97-AF65-F5344CB8AC3E}">
        <p14:creationId xmlns:p14="http://schemas.microsoft.com/office/powerpoint/2010/main" val="3357355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7042" name="Rectangle 7"/>
          <p:cNvSpPr>
            <a:spLocks noGrp="1" noChangeArrowheads="1"/>
          </p:cNvSpPr>
          <p:nvPr>
            <p:ph type="ctrTitle"/>
          </p:nvPr>
        </p:nvSpPr>
        <p:spPr>
          <a:xfrm>
            <a:off x="685800" y="1597804"/>
            <a:ext cx="7772400" cy="1102519"/>
          </a:xfrm>
        </p:spPr>
        <p:txBody>
          <a:bodyPr/>
          <a:lstStyle>
            <a:lvl1pPr>
              <a:defRPr smtClean="0"/>
            </a:lvl1pPr>
          </a:lstStyle>
          <a:p>
            <a:r>
              <a:rPr lang="en-US"/>
              <a:t>Click to edit Master title style</a:t>
            </a:r>
          </a:p>
        </p:txBody>
      </p:sp>
      <p:sp>
        <p:nvSpPr>
          <p:cNvPr id="87043" name="Rectangle 8"/>
          <p:cNvSpPr>
            <a:spLocks noGrp="1" noChangeArrowheads="1"/>
          </p:cNvSpPr>
          <p:nvPr>
            <p:ph type="subTitle" idx="1"/>
          </p:nvPr>
        </p:nvSpPr>
        <p:spPr>
          <a:xfrm>
            <a:off x="1371600" y="2914650"/>
            <a:ext cx="6400800" cy="1314450"/>
          </a:xfrm>
        </p:spPr>
        <p:txBody>
          <a:bodyPr/>
          <a:lstStyle>
            <a:lvl1pPr marL="0" indent="0" algn="ctr">
              <a:buFontTx/>
              <a:buNone/>
              <a:defRPr smtClean="0"/>
            </a:lvl1pPr>
          </a:lstStyle>
          <a:p>
            <a:r>
              <a:rPr lang="en-US"/>
              <a:t>Click to edit Master subtitle style</a:t>
            </a:r>
            <a:endParaRPr lang="en-US" dirty="0"/>
          </a:p>
        </p:txBody>
      </p:sp>
    </p:spTree>
    <p:extLst>
      <p:ext uri="{BB962C8B-B14F-4D97-AF65-F5344CB8AC3E}">
        <p14:creationId xmlns:p14="http://schemas.microsoft.com/office/powerpoint/2010/main" val="84552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5556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2759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028700"/>
            <a:ext cx="3810000" cy="3200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1028700"/>
            <a:ext cx="3810000" cy="3200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218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576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955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498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43229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8445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02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38900" y="400050"/>
            <a:ext cx="1943100" cy="3829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400050"/>
            <a:ext cx="5676900" cy="3829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53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orizontal Image">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67466" y="4492091"/>
            <a:ext cx="2447134" cy="55699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dirty="0"/>
          </a:p>
        </p:txBody>
      </p:sp>
      <p:sp>
        <p:nvSpPr>
          <p:cNvPr id="4" name="Rectangle 3">
            <a:extLst>
              <a:ext uri="{FF2B5EF4-FFF2-40B4-BE49-F238E27FC236}">
                <a16:creationId xmlns:a16="http://schemas.microsoft.com/office/drawing/2014/main" id="{21E93289-8F70-44EC-896F-3F66D5B34438}"/>
              </a:ext>
            </a:extLst>
          </p:cNvPr>
          <p:cNvSpPr/>
          <p:nvPr userDrawn="1"/>
        </p:nvSpPr>
        <p:spPr>
          <a:xfrm>
            <a:off x="4572001" y="0"/>
            <a:ext cx="4571999" cy="5143500"/>
          </a:xfrm>
          <a:prstGeom prst="rect">
            <a:avLst/>
          </a:prstGeom>
          <a:solidFill>
            <a:srgbClr val="1D1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Arial" panose="020B0604020202020204" pitchFamily="34" charset="0"/>
            </a:endParaRPr>
          </a:p>
        </p:txBody>
      </p:sp>
      <p:grpSp>
        <p:nvGrpSpPr>
          <p:cNvPr id="6" name="Group 5">
            <a:extLst>
              <a:ext uri="{FF2B5EF4-FFF2-40B4-BE49-F238E27FC236}">
                <a16:creationId xmlns:a16="http://schemas.microsoft.com/office/drawing/2014/main" id="{5ABCFCAA-8D44-4EEB-9872-98662755C93C}"/>
              </a:ext>
            </a:extLst>
          </p:cNvPr>
          <p:cNvGrpSpPr/>
          <p:nvPr userDrawn="1"/>
        </p:nvGrpSpPr>
        <p:grpSpPr>
          <a:xfrm>
            <a:off x="524225" y="361989"/>
            <a:ext cx="8105000" cy="4265791"/>
            <a:chOff x="708393" y="482651"/>
            <a:chExt cx="10806667" cy="5687721"/>
          </a:xfrm>
        </p:grpSpPr>
        <p:sp>
          <p:nvSpPr>
            <p:cNvPr id="10" name="Rectangle 9">
              <a:extLst>
                <a:ext uri="{FF2B5EF4-FFF2-40B4-BE49-F238E27FC236}">
                  <a16:creationId xmlns:a16="http://schemas.microsoft.com/office/drawing/2014/main" id="{CC81AA0B-DEDC-4094-B5AC-745C0EC47914}"/>
                </a:ext>
              </a:extLst>
            </p:cNvPr>
            <p:cNvSpPr/>
            <p:nvPr/>
          </p:nvSpPr>
          <p:spPr>
            <a:xfrm>
              <a:off x="5227385" y="482651"/>
              <a:ext cx="6287675" cy="4732131"/>
            </a:xfrm>
            <a:prstGeom prst="rect">
              <a:avLst/>
            </a:prstGeom>
            <a:noFill/>
            <a:ln w="25400">
              <a:gradFill>
                <a:gsLst>
                  <a:gs pos="0">
                    <a:srgbClr val="CEB87B"/>
                  </a:gs>
                  <a:gs pos="99000">
                    <a:srgbClr val="B0845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latin typeface="Arial" panose="020B0604020202020204" pitchFamily="34" charset="0"/>
              </a:endParaRPr>
            </a:p>
          </p:txBody>
        </p:sp>
        <p:sp>
          <p:nvSpPr>
            <p:cNvPr id="11" name="Rectangle 10">
              <a:extLst>
                <a:ext uri="{FF2B5EF4-FFF2-40B4-BE49-F238E27FC236}">
                  <a16:creationId xmlns:a16="http://schemas.microsoft.com/office/drawing/2014/main" id="{562142EF-542A-4952-BD7D-E53E6054C19D}"/>
                </a:ext>
              </a:extLst>
            </p:cNvPr>
            <p:cNvSpPr/>
            <p:nvPr/>
          </p:nvSpPr>
          <p:spPr>
            <a:xfrm>
              <a:off x="708393" y="1438241"/>
              <a:ext cx="6287675" cy="4732131"/>
            </a:xfrm>
            <a:prstGeom prst="rect">
              <a:avLst/>
            </a:prstGeom>
            <a:noFill/>
            <a:ln w="25400">
              <a:gradFill>
                <a:gsLst>
                  <a:gs pos="0">
                    <a:srgbClr val="CEB87B"/>
                  </a:gs>
                  <a:gs pos="99000">
                    <a:srgbClr val="B08456"/>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latin typeface="Arial" panose="020B0604020202020204" pitchFamily="34" charset="0"/>
              </a:endParaRPr>
            </a:p>
          </p:txBody>
        </p:sp>
      </p:grpSp>
      <p:sp>
        <p:nvSpPr>
          <p:cNvPr id="3" name="Slide Number Placeholder 2">
            <a:extLst>
              <a:ext uri="{FF2B5EF4-FFF2-40B4-BE49-F238E27FC236}">
                <a16:creationId xmlns:a16="http://schemas.microsoft.com/office/drawing/2014/main" id="{37DE6F95-DCB7-411B-B006-AEA174281164}"/>
              </a:ext>
            </a:extLst>
          </p:cNvPr>
          <p:cNvSpPr>
            <a:spLocks noGrp="1"/>
          </p:cNvSpPr>
          <p:nvPr>
            <p:ph type="sldNum" sz="quarter" idx="10"/>
          </p:nvPr>
        </p:nvSpPr>
        <p:spPr/>
        <p:txBody>
          <a:bodyPr/>
          <a:lstStyle/>
          <a:p>
            <a:endParaRPr lang="en-US" dirty="0"/>
          </a:p>
        </p:txBody>
      </p:sp>
      <p:sp>
        <p:nvSpPr>
          <p:cNvPr id="2" name="Title 1">
            <a:extLst>
              <a:ext uri="{FF2B5EF4-FFF2-40B4-BE49-F238E27FC236}">
                <a16:creationId xmlns:a16="http://schemas.microsoft.com/office/drawing/2014/main" id="{9E101D1B-33AC-41C7-9B0A-909D8999DEEC}"/>
              </a:ext>
            </a:extLst>
          </p:cNvPr>
          <p:cNvSpPr>
            <a:spLocks noGrp="1"/>
          </p:cNvSpPr>
          <p:nvPr>
            <p:ph type="title" hasCustomPrompt="1"/>
          </p:nvPr>
        </p:nvSpPr>
        <p:spPr>
          <a:xfrm>
            <a:off x="841008" y="1379927"/>
            <a:ext cx="2709646" cy="994172"/>
          </a:xfrm>
        </p:spPr>
        <p:txBody>
          <a:bodyPr/>
          <a:lstStyle>
            <a:lvl1pPr>
              <a:defRPr/>
            </a:lvl1pPr>
          </a:lstStyle>
          <a:p>
            <a:r>
              <a:rPr lang="en-US" dirty="0">
                <a:solidFill>
                  <a:srgbClr val="191919"/>
                </a:solidFill>
                <a:latin typeface="Georgia" panose="02040502050405020303" pitchFamily="18" charset="0"/>
              </a:rPr>
              <a:t>This is a slide title</a:t>
            </a:r>
          </a:p>
        </p:txBody>
      </p:sp>
      <p:sp>
        <p:nvSpPr>
          <p:cNvPr id="14" name="Picture Placeholder 13">
            <a:extLst>
              <a:ext uri="{FF2B5EF4-FFF2-40B4-BE49-F238E27FC236}">
                <a16:creationId xmlns:a16="http://schemas.microsoft.com/office/drawing/2014/main" id="{041236E6-839F-4858-B1A1-343973B58391}"/>
              </a:ext>
            </a:extLst>
          </p:cNvPr>
          <p:cNvSpPr>
            <a:spLocks noGrp="1"/>
          </p:cNvSpPr>
          <p:nvPr>
            <p:ph type="pic" sz="quarter" idx="11"/>
          </p:nvPr>
        </p:nvSpPr>
        <p:spPr>
          <a:xfrm>
            <a:off x="3714750" y="615553"/>
            <a:ext cx="4716066" cy="3548063"/>
          </a:xfrm>
          <a:noFill/>
        </p:spPr>
        <p:txBody>
          <a:bodyPr/>
          <a:lstStyle/>
          <a:p>
            <a:endParaRPr lang="en-US" dirty="0"/>
          </a:p>
        </p:txBody>
      </p:sp>
      <p:sp>
        <p:nvSpPr>
          <p:cNvPr id="18" name="Text Placeholder 17">
            <a:extLst>
              <a:ext uri="{FF2B5EF4-FFF2-40B4-BE49-F238E27FC236}">
                <a16:creationId xmlns:a16="http://schemas.microsoft.com/office/drawing/2014/main" id="{F64CE03A-04B7-4EBB-9410-C0DC30F4F5A9}"/>
              </a:ext>
            </a:extLst>
          </p:cNvPr>
          <p:cNvSpPr>
            <a:spLocks noGrp="1"/>
          </p:cNvSpPr>
          <p:nvPr>
            <p:ph type="body" sz="quarter" idx="13"/>
          </p:nvPr>
        </p:nvSpPr>
        <p:spPr>
          <a:xfrm>
            <a:off x="840581" y="2491164"/>
            <a:ext cx="2709863" cy="484584"/>
          </a:xfrm>
        </p:spPr>
        <p:txBody>
          <a:bodyPr/>
          <a:lstStyle>
            <a:lvl1pPr>
              <a:defRPr sz="1650" i="0" baseline="0">
                <a:latin typeface="Georgia" panose="02040502050405020303" pitchFamily="18" charset="0"/>
              </a:defRPr>
            </a:lvl1pPr>
            <a:lvl2pPr>
              <a:defRPr sz="1350" i="1" baseline="0">
                <a:latin typeface="Georgia" panose="02040502050405020303" pitchFamily="18" charset="0"/>
              </a:defRPr>
            </a:lvl2pPr>
            <a:lvl3pPr>
              <a:defRPr sz="1350" i="1" baseline="0">
                <a:latin typeface="Georgia" panose="02040502050405020303" pitchFamily="18" charset="0"/>
              </a:defRPr>
            </a:lvl3pPr>
            <a:lvl4pPr>
              <a:defRPr sz="1350" i="1" baseline="0">
                <a:latin typeface="Georgia" panose="02040502050405020303" pitchFamily="18" charset="0"/>
              </a:defRPr>
            </a:lvl4pPr>
            <a:lvl5pPr>
              <a:defRPr sz="1350" i="1" baseline="0">
                <a:latin typeface="Georgia" panose="02040502050405020303" pitchFamily="18" charset="0"/>
              </a:defRPr>
            </a:lvl5pPr>
          </a:lstStyle>
          <a:p>
            <a:pPr lvl="0"/>
            <a:endParaRPr lang="en-US" dirty="0"/>
          </a:p>
        </p:txBody>
      </p:sp>
      <p:pic>
        <p:nvPicPr>
          <p:cNvPr id="9" name="Picture 8">
            <a:extLst>
              <a:ext uri="{FF2B5EF4-FFF2-40B4-BE49-F238E27FC236}">
                <a16:creationId xmlns:a16="http://schemas.microsoft.com/office/drawing/2014/main" id="{2CD6B7D3-148E-4146-BC58-09A90389A4B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95921" y="3528187"/>
            <a:ext cx="2447134" cy="411465"/>
          </a:xfrm>
          <a:prstGeom prst="rect">
            <a:avLst/>
          </a:prstGeom>
        </p:spPr>
      </p:pic>
    </p:spTree>
    <p:extLst>
      <p:ext uri="{BB962C8B-B14F-4D97-AF65-F5344CB8AC3E}">
        <p14:creationId xmlns:p14="http://schemas.microsoft.com/office/powerpoint/2010/main" val="9314127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Grp="1" noChangeArrowheads="1"/>
          </p:cNvSpPr>
          <p:nvPr>
            <p:ph type="title"/>
          </p:nvPr>
        </p:nvSpPr>
        <p:spPr bwMode="auto">
          <a:xfrm>
            <a:off x="228600" y="361950"/>
            <a:ext cx="8686800" cy="514350"/>
          </a:xfrm>
          <a:prstGeom prst="rect">
            <a:avLst/>
          </a:prstGeom>
          <a:noFill/>
          <a:ln>
            <a:noFill/>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8"/>
          <p:cNvSpPr>
            <a:spLocks noGrp="1" noChangeArrowheads="1"/>
          </p:cNvSpPr>
          <p:nvPr>
            <p:ph type="body" idx="1"/>
          </p:nvPr>
        </p:nvSpPr>
        <p:spPr bwMode="auto">
          <a:xfrm>
            <a:off x="228600" y="933450"/>
            <a:ext cx="86868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3" name="Picture 2">
            <a:extLst>
              <a:ext uri="{FF2B5EF4-FFF2-40B4-BE49-F238E27FC236}">
                <a16:creationId xmlns:a16="http://schemas.microsoft.com/office/drawing/2014/main" id="{3003BFF8-C785-9E59-0812-2B0269F705D8}"/>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87569" y="4629150"/>
            <a:ext cx="2250831" cy="340390"/>
          </a:xfrm>
          <a:prstGeom prst="rect">
            <a:avLst/>
          </a:prstGeom>
        </p:spPr>
      </p:pic>
    </p:spTree>
    <p:extLst>
      <p:ext uri="{BB962C8B-B14F-4D97-AF65-F5344CB8AC3E}">
        <p14:creationId xmlns:p14="http://schemas.microsoft.com/office/powerpoint/2010/main" val="373115257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1" fontAlgn="base" hangingPunct="1">
        <a:spcBef>
          <a:spcPct val="0"/>
        </a:spcBef>
        <a:spcAft>
          <a:spcPct val="0"/>
        </a:spcAft>
        <a:defRPr sz="3200" b="1">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lr>
          <a:srgbClr val="CFB87C"/>
        </a:buClr>
        <a:buFont typeface="Arial" pitchFamily="34" charset="0"/>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hyperlink" Target="https://hermes-agent.nousresearch.com/docs/guides/use-soul-with-herme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creativecommons.org/licenses/by-sa/4.0/" TargetMode="External"/><Relationship Id="rId3" Type="http://schemas.openxmlformats.org/officeDocument/2006/relationships/hyperlink" Target="https://daringfireball.net/projects/markdown/" TargetMode="External"/><Relationship Id="rId7" Type="http://schemas.openxmlformats.org/officeDocument/2006/relationships/hyperlink" Target="https://www.markdownguide.org/cheat-sheet/#basic-syntax"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docs.github.com/en/get-started/writing-on-github/getting-started-with-writing-and-formatting-on-github/basic-writing-and-formatting-syntax" TargetMode="External"/><Relationship Id="rId4" Type="http://schemas.openxmlformats.org/officeDocument/2006/relationships/hyperlink" Target="https://www.markdownguide.org/cheat-sheet/"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link.springer.com/article/10.1186/s41239-025-00503-7"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hermes-agent.nousresearch.com/docs/user-guide/features/context-file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hyperlink" Target="https://hermes-agent.nousresearch.com/docs/user-guide/features/context-files" TargetMode="Externa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hermes-agent.nousresearch.com/docs/guides/work-with-skills" TargetMode="External"/><Relationship Id="rId4" Type="http://schemas.openxmlformats.org/officeDocument/2006/relationships/hyperlink" Target="https://hermes-agent.nousresearch.com/docs/user-guide/features/memor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3BE453-A145-42E1-A483-742B5F1F766B}"/>
              </a:ext>
            </a:extLst>
          </p:cNvPr>
          <p:cNvSpPr>
            <a:spLocks noGrp="1"/>
          </p:cNvSpPr>
          <p:nvPr>
            <p:ph type="sldNum" sz="quarter" idx="10"/>
          </p:nvPr>
        </p:nvSpPr>
        <p:spPr/>
        <p:txBody>
          <a:bodyPr/>
          <a:lstStyle/>
          <a:p>
            <a:r>
              <a:rPr lang="en-US" dirty="0"/>
              <a:t> </a:t>
            </a:r>
          </a:p>
        </p:txBody>
      </p:sp>
      <p:sp>
        <p:nvSpPr>
          <p:cNvPr id="10" name="Title 9">
            <a:extLst>
              <a:ext uri="{FF2B5EF4-FFF2-40B4-BE49-F238E27FC236}">
                <a16:creationId xmlns:a16="http://schemas.microsoft.com/office/drawing/2014/main" id="{CD711E32-09F9-43E9-8380-735170AC03BC}"/>
              </a:ext>
            </a:extLst>
          </p:cNvPr>
          <p:cNvSpPr>
            <a:spLocks noGrp="1"/>
          </p:cNvSpPr>
          <p:nvPr>
            <p:ph type="title"/>
          </p:nvPr>
        </p:nvSpPr>
        <p:spPr/>
        <p:txBody>
          <a:bodyPr/>
          <a:lstStyle/>
          <a:p>
            <a:r>
              <a:rPr lang="en-US" sz="2000" dirty="0"/>
              <a:t>MBAX 6418</a:t>
            </a:r>
            <a:br>
              <a:rPr lang="en-US" sz="2000" dirty="0"/>
            </a:br>
            <a:r>
              <a:rPr lang="en-US" sz="2000" dirty="0"/>
              <a:t>Prompt Engineering</a:t>
            </a:r>
          </a:p>
        </p:txBody>
      </p:sp>
      <p:pic>
        <p:nvPicPr>
          <p:cNvPr id="7" name="Picture 8" descr="TIM_7770-Edit-Edit-Edit-9 Koelbel Exterior Rankings Banner.jpg">
            <a:extLst>
              <a:ext uri="{FF2B5EF4-FFF2-40B4-BE49-F238E27FC236}">
                <a16:creationId xmlns:a16="http://schemas.microsoft.com/office/drawing/2014/main" id="{722B4232-198F-4E06-9A7D-C5C3FE8E2F17}"/>
              </a:ext>
            </a:extLst>
          </p:cNvPr>
          <p:cNvPicPr>
            <a:picLocks noGrp="1" noChangeAspect="1"/>
          </p:cNvPicPr>
          <p:nvPr>
            <p:ph type="pic" sz="quarter" idx="11"/>
          </p:nvPr>
        </p:nvPicPr>
        <p:blipFill>
          <a:blip r:embed="rId3" cstate="email">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a:ext>
            </a:extLst>
          </a:blip>
          <a:srcRect/>
          <a:stretch>
            <a:fillRect/>
          </a:stretch>
        </p:blipFill>
        <p:spPr/>
      </p:pic>
      <p:sp>
        <p:nvSpPr>
          <p:cNvPr id="11" name="Text Placeholder 10">
            <a:extLst>
              <a:ext uri="{FF2B5EF4-FFF2-40B4-BE49-F238E27FC236}">
                <a16:creationId xmlns:a16="http://schemas.microsoft.com/office/drawing/2014/main" id="{850AD390-DF3E-4529-BB9B-C368A7F6B308}"/>
              </a:ext>
            </a:extLst>
          </p:cNvPr>
          <p:cNvSpPr>
            <a:spLocks noGrp="1"/>
          </p:cNvSpPr>
          <p:nvPr>
            <p:ph type="body" sz="quarter" idx="13"/>
          </p:nvPr>
        </p:nvSpPr>
        <p:spPr>
          <a:xfrm>
            <a:off x="840581" y="2315766"/>
            <a:ext cx="2709863" cy="484584"/>
          </a:xfrm>
        </p:spPr>
        <p:txBody>
          <a:bodyPr/>
          <a:lstStyle/>
          <a:p>
            <a:pPr marL="0" indent="0" algn="ctr">
              <a:buNone/>
            </a:pPr>
            <a:endParaRPr lang="en-US" sz="1200" dirty="0"/>
          </a:p>
          <a:p>
            <a:pPr marL="0" indent="0" algn="ctr">
              <a:buNone/>
            </a:pPr>
            <a:r>
              <a:rPr lang="en-US" sz="1200" dirty="0"/>
              <a:t>David Dobolyi, PhD</a:t>
            </a:r>
          </a:p>
          <a:p>
            <a:pPr marL="0" indent="0" algn="ctr">
              <a:buNone/>
            </a:pPr>
            <a:r>
              <a:rPr lang="en-US" sz="1200" dirty="0"/>
              <a:t>Assistant Professor</a:t>
            </a:r>
          </a:p>
          <a:p>
            <a:pPr marL="0" indent="0" algn="ctr">
              <a:buNone/>
            </a:pPr>
            <a:r>
              <a:rPr lang="en-US" sz="1200" dirty="0"/>
              <a:t>Stone Family Faculty Scholar</a:t>
            </a:r>
          </a:p>
          <a:p>
            <a:pPr marL="0" indent="0" algn="ctr">
              <a:buNone/>
            </a:pPr>
            <a:r>
              <a:rPr lang="en-US" sz="1200" dirty="0"/>
              <a:t>david.dobolyi@colorado.edu</a:t>
            </a:r>
          </a:p>
        </p:txBody>
      </p:sp>
    </p:spTree>
    <p:extLst>
      <p:ext uri="{BB962C8B-B14F-4D97-AF65-F5344CB8AC3E}">
        <p14:creationId xmlns:p14="http://schemas.microsoft.com/office/powerpoint/2010/main" val="3911340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76300"/>
            <a:ext cx="8686800" cy="3543300"/>
          </a:xfrm>
        </p:spPr>
        <p:txBody>
          <a:bodyPr/>
          <a:lstStyle/>
          <a:p>
            <a:r>
              <a:rPr lang="en-US" dirty="0"/>
              <a:t>Prompts and Templates</a:t>
            </a:r>
          </a:p>
          <a:p>
            <a:r>
              <a:rPr lang="en-US" dirty="0"/>
              <a:t>Prompting for Different Tasks</a:t>
            </a:r>
          </a:p>
          <a:p>
            <a:r>
              <a:rPr lang="en-US" dirty="0"/>
              <a:t>Prompting with Hermes Agent</a:t>
            </a:r>
          </a:p>
          <a:p>
            <a:r>
              <a:rPr lang="en-US" dirty="0"/>
              <a:t>Class Exercise</a:t>
            </a:r>
          </a:p>
          <a:p>
            <a:endParaRPr lang="en-US" dirty="0"/>
          </a:p>
        </p:txBody>
      </p:sp>
      <p:sp>
        <p:nvSpPr>
          <p:cNvPr id="4" name="TextBox 3">
            <a:extLst>
              <a:ext uri="{FF2B5EF4-FFF2-40B4-BE49-F238E27FC236}">
                <a16:creationId xmlns:a16="http://schemas.microsoft.com/office/drawing/2014/main" id="{2C7FF55F-6AD4-9B05-D537-23840181E8B6}"/>
              </a:ext>
            </a:extLst>
          </p:cNvPr>
          <p:cNvSpPr txBox="1"/>
          <p:nvPr/>
        </p:nvSpPr>
        <p:spPr>
          <a:xfrm>
            <a:off x="8649730" y="4916329"/>
            <a:ext cx="494270" cy="246221"/>
          </a:xfrm>
          <a:prstGeom prst="rect">
            <a:avLst/>
          </a:prstGeom>
          <a:noFill/>
        </p:spPr>
        <p:txBody>
          <a:bodyPr wrap="square" rtlCol="0">
            <a:spAutoFit/>
          </a:bodyPr>
          <a:lstStyle/>
          <a:p>
            <a:pPr algn="r"/>
            <a:fld id="{100A98A8-CDB6-824A-B288-C8279A020685}" type="slidenum">
              <a:rPr lang="en-US" sz="1000" smtClean="0">
                <a:latin typeface="+mn-lt"/>
              </a:rPr>
              <a:pPr algn="r"/>
              <a:t>2</a:t>
            </a:fld>
            <a:endParaRPr lang="en-US" sz="1000" dirty="0">
              <a:latin typeface="+mn-lt"/>
            </a:endParaRPr>
          </a:p>
        </p:txBody>
      </p:sp>
      <p:sp>
        <p:nvSpPr>
          <p:cNvPr id="5" name="Title 1">
            <a:extLst>
              <a:ext uri="{FF2B5EF4-FFF2-40B4-BE49-F238E27FC236}">
                <a16:creationId xmlns:a16="http://schemas.microsoft.com/office/drawing/2014/main" id="{E5DB8D80-7F93-0601-7797-AE146549C089}"/>
              </a:ext>
            </a:extLst>
          </p:cNvPr>
          <p:cNvSpPr txBox="1">
            <a:spLocks/>
          </p:cNvSpPr>
          <p:nvPr/>
        </p:nvSpPr>
        <p:spPr bwMode="auto">
          <a:xfrm>
            <a:off x="228600" y="209550"/>
            <a:ext cx="693420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Topics</a:t>
            </a:r>
            <a:endParaRPr lang="en-US" kern="0" dirty="0"/>
          </a:p>
        </p:txBody>
      </p:sp>
    </p:spTree>
    <p:extLst>
      <p:ext uri="{BB962C8B-B14F-4D97-AF65-F5344CB8AC3E}">
        <p14:creationId xmlns:p14="http://schemas.microsoft.com/office/powerpoint/2010/main" val="154730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23D3-6D9B-4AD8-6F1E-E67C81F0770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88CFB14-49AD-676D-82F7-C75B3237D650}"/>
              </a:ext>
            </a:extLst>
          </p:cNvPr>
          <p:cNvSpPr txBox="1">
            <a:spLocks/>
          </p:cNvSpPr>
          <p:nvPr/>
        </p:nvSpPr>
        <p:spPr bwMode="auto">
          <a:xfrm>
            <a:off x="228600" y="2314575"/>
            <a:ext cx="8686800" cy="51435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dirty="0"/>
              <a:t>Prompts and Templates</a:t>
            </a:r>
          </a:p>
        </p:txBody>
      </p:sp>
    </p:spTree>
    <p:extLst>
      <p:ext uri="{BB962C8B-B14F-4D97-AF65-F5344CB8AC3E}">
        <p14:creationId xmlns:p14="http://schemas.microsoft.com/office/powerpoint/2010/main" val="283907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28F31-42DA-D04C-0B69-B3CD11A266C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D6E1C0F-B691-13D4-CFAC-F6A6D62016C7}"/>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Prompts</a:t>
            </a:r>
            <a:endParaRPr lang="en-US" kern="0" dirty="0"/>
          </a:p>
        </p:txBody>
      </p:sp>
      <p:sp>
        <p:nvSpPr>
          <p:cNvPr id="2" name="Content Placeholder 2">
            <a:extLst>
              <a:ext uri="{FF2B5EF4-FFF2-40B4-BE49-F238E27FC236}">
                <a16:creationId xmlns:a16="http://schemas.microsoft.com/office/drawing/2014/main" id="{C8CEFB06-3351-A04E-34E4-9FCAC9AD2795}"/>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b="1" kern="0" dirty="0"/>
              <a:t>Prompts</a:t>
            </a:r>
            <a:r>
              <a:rPr lang="en-US" kern="0" dirty="0"/>
              <a:t> consist of text and/or multimodal content (e.g., images, audio, video) provided to a model to guide its behavior and outputs</a:t>
            </a:r>
          </a:p>
          <a:p>
            <a:pPr marL="692150" lvl="1" indent="-233363"/>
            <a:r>
              <a:rPr lang="en-US" kern="0" dirty="0"/>
              <a:t>For example, a user prompt to Hermes Agent might be as simple as: “What is a prompt?”</a:t>
            </a:r>
          </a:p>
          <a:p>
            <a:pPr marL="342900" indent="-342900" algn="l">
              <a:buFont typeface="Arial" panose="020B0604020202020204" pitchFamily="34" charset="0"/>
              <a:buChar char="•"/>
            </a:pPr>
            <a:endParaRPr lang="en-US" kern="0" dirty="0"/>
          </a:p>
        </p:txBody>
      </p:sp>
    </p:spTree>
    <p:extLst>
      <p:ext uri="{BB962C8B-B14F-4D97-AF65-F5344CB8AC3E}">
        <p14:creationId xmlns:p14="http://schemas.microsoft.com/office/powerpoint/2010/main" val="336076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2E53-6EEA-9F7C-2A6A-5AAFA096FA1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A3EC3A5E-9E8A-0EE2-153A-E3811BA4CA34}"/>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How Prompts are Processed</a:t>
            </a:r>
            <a:endParaRPr lang="en-US" kern="0" dirty="0"/>
          </a:p>
        </p:txBody>
      </p:sp>
      <p:sp>
        <p:nvSpPr>
          <p:cNvPr id="2" name="Content Placeholder 2">
            <a:extLst>
              <a:ext uri="{FF2B5EF4-FFF2-40B4-BE49-F238E27FC236}">
                <a16:creationId xmlns:a16="http://schemas.microsoft.com/office/drawing/2014/main" id="{E047B3C6-BF86-D623-94A2-80CC71CC994C}"/>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b="1" kern="0" dirty="0"/>
              <a:t>Agent harnesses</a:t>
            </a:r>
            <a:r>
              <a:rPr lang="en-US" kern="0" dirty="0"/>
              <a:t> such as Hermes Agent process your prompt through a stack of context</a:t>
            </a:r>
          </a:p>
          <a:p>
            <a:pPr marL="342900" indent="-342900" algn="l">
              <a:buFont typeface="Arial" panose="020B0604020202020204" pitchFamily="34" charset="0"/>
              <a:buChar char="•"/>
            </a:pPr>
            <a:r>
              <a:rPr lang="en-US" kern="0" dirty="0"/>
              <a:t>This stack includes not only the user prompt (e.g., “What is a prompt?”), but also additional layers including:</a:t>
            </a:r>
          </a:p>
          <a:p>
            <a:pPr marL="692150" lvl="1" indent="-233363"/>
            <a:r>
              <a:rPr lang="en-US" kern="0" dirty="0"/>
              <a:t>System prompt</a:t>
            </a:r>
          </a:p>
          <a:p>
            <a:pPr marL="692150" lvl="1" indent="-233363"/>
            <a:r>
              <a:rPr lang="en-US" kern="0" dirty="0"/>
              <a:t>Conversation history</a:t>
            </a:r>
          </a:p>
          <a:p>
            <a:pPr marL="692150" lvl="1" indent="-233363"/>
            <a:r>
              <a:rPr lang="en-US" kern="0" dirty="0"/>
              <a:t>Retrieved context/memory</a:t>
            </a:r>
          </a:p>
          <a:p>
            <a:pPr marL="692150" lvl="1" indent="-233363"/>
            <a:r>
              <a:rPr lang="en-US" kern="0" dirty="0"/>
              <a:t>Tool schemas (including tool name, parameters, etc.)</a:t>
            </a:r>
          </a:p>
          <a:p>
            <a:pPr marL="692150" lvl="1" indent="-233363"/>
            <a:r>
              <a:rPr lang="en-US" kern="0" dirty="0"/>
              <a:t>Tool results</a:t>
            </a:r>
          </a:p>
        </p:txBody>
      </p:sp>
    </p:spTree>
    <p:extLst>
      <p:ext uri="{BB962C8B-B14F-4D97-AF65-F5344CB8AC3E}">
        <p14:creationId xmlns:p14="http://schemas.microsoft.com/office/powerpoint/2010/main" val="2798778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0F988-DD37-9B35-E81D-3B68632F1B42}"/>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A7E33662-C366-91EE-AFA1-D8C278D139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0B32EEA6-529A-48A9-8D5B-ACF453A08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F1586BCD-0DD1-17D4-3437-3714C735031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From Prompt to Model Input</a:t>
            </a:r>
            <a:endParaRPr lang="en-US" kern="0" dirty="0"/>
          </a:p>
        </p:txBody>
      </p:sp>
      <p:sp>
        <p:nvSpPr>
          <p:cNvPr id="2" name="Content Placeholder 2">
            <a:extLst>
              <a:ext uri="{FF2B5EF4-FFF2-40B4-BE49-F238E27FC236}">
                <a16:creationId xmlns:a16="http://schemas.microsoft.com/office/drawing/2014/main" id="{64BBEF51-C6CF-073B-55CB-F3AB6DD7D3FF}"/>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000" kern="0" dirty="0"/>
              <a:t>The full prompt is then sent to a serving framework in a format such as </a:t>
            </a:r>
            <a:r>
              <a:rPr lang="en-US" sz="2000" b="1" kern="0" dirty="0"/>
              <a:t>JavaScript Object Notation (JSON)</a:t>
            </a:r>
            <a:r>
              <a:rPr lang="en-US" sz="2000" kern="0" dirty="0"/>
              <a:t> to generate a response:</a:t>
            </a:r>
            <a:br>
              <a:rPr lang="en-US" sz="1800" kern="0" dirty="0"/>
            </a:br>
            <a:endParaRPr lang="en-US" sz="1800" kern="0" dirty="0"/>
          </a:p>
          <a:p>
            <a:pPr algn="l"/>
            <a:r>
              <a:rPr lang="en-US" sz="1700" kern="0" dirty="0">
                <a:latin typeface="Consolas" panose="020B0609020204030204" pitchFamily="49" charset="0"/>
                <a:cs typeface="Consolas" panose="020B0609020204030204" pitchFamily="49" charset="0"/>
              </a:rPr>
              <a:t>{</a:t>
            </a:r>
          </a:p>
          <a:p>
            <a:pPr algn="l"/>
            <a:r>
              <a:rPr lang="en-US" sz="1700" kern="0" dirty="0">
                <a:latin typeface="Consolas" panose="020B0609020204030204" pitchFamily="49" charset="0"/>
                <a:cs typeface="Consolas" panose="020B0609020204030204" pitchFamily="49" charset="0"/>
              </a:rPr>
              <a:t>  "messages": [</a:t>
            </a:r>
          </a:p>
          <a:p>
            <a:pPr algn="l"/>
            <a:r>
              <a:rPr lang="en-US" sz="1700" kern="0" dirty="0">
                <a:latin typeface="Consolas" panose="020B0609020204030204" pitchFamily="49" charset="0"/>
                <a:cs typeface="Consolas" panose="020B0609020204030204" pitchFamily="49" charset="0"/>
              </a:rPr>
              <a:t>    {"role": "system", "content": "...Hermes Agent instructions..."},</a:t>
            </a:r>
          </a:p>
          <a:p>
            <a:pPr algn="l"/>
            <a:r>
              <a:rPr lang="en-US" sz="1700" kern="0" dirty="0">
                <a:latin typeface="Consolas" panose="020B0609020204030204" pitchFamily="49" charset="0"/>
                <a:cs typeface="Consolas" panose="020B0609020204030204" pitchFamily="49" charset="0"/>
              </a:rPr>
              <a:t>    {"role": "user", "content": "What is a prompt?"}</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  "tools": [</a:t>
            </a:r>
          </a:p>
          <a:p>
            <a:pPr algn="l"/>
            <a:r>
              <a:rPr lang="en-US" sz="1700" kern="0" dirty="0">
                <a:latin typeface="Consolas" panose="020B0609020204030204" pitchFamily="49" charset="0"/>
                <a:cs typeface="Consolas" panose="020B0609020204030204" pitchFamily="49" charset="0"/>
              </a:rPr>
              <a:t>    {"name": "</a:t>
            </a:r>
            <a:r>
              <a:rPr lang="en-US" sz="1700" kern="0" dirty="0" err="1">
                <a:latin typeface="Consolas" panose="020B0609020204030204" pitchFamily="49" charset="0"/>
                <a:cs typeface="Consolas" panose="020B0609020204030204" pitchFamily="49" charset="0"/>
              </a:rPr>
              <a:t>web_search</a:t>
            </a:r>
            <a:r>
              <a:rPr lang="en-US" sz="1700" kern="0" dirty="0">
                <a:latin typeface="Consolas" panose="020B0609020204030204" pitchFamily="49" charset="0"/>
                <a:cs typeface="Consolas" panose="020B0609020204030204" pitchFamily="49" charset="0"/>
              </a:rPr>
              <a:t>", "description": "Search the web", ...}</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a:t>
            </a:r>
          </a:p>
        </p:txBody>
      </p:sp>
      <p:sp>
        <p:nvSpPr>
          <p:cNvPr id="6" name="Content Placeholder 2">
            <a:extLst>
              <a:ext uri="{FF2B5EF4-FFF2-40B4-BE49-F238E27FC236}">
                <a16:creationId xmlns:a16="http://schemas.microsoft.com/office/drawing/2014/main" id="{4A2EBD83-826A-251B-DD29-A7E3B86B98CD}"/>
              </a:ext>
            </a:extLst>
          </p:cNvPr>
          <p:cNvSpPr txBox="1">
            <a:spLocks/>
          </p:cNvSpPr>
          <p:nvPr/>
        </p:nvSpPr>
        <p:spPr bwMode="auto">
          <a:xfrm>
            <a:off x="228600" y="932688"/>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000" kern="0" dirty="0"/>
              <a:t>The full prompt is then sent to a serving framework in a format such as </a:t>
            </a:r>
            <a:r>
              <a:rPr lang="en-US" sz="2000" b="1" kern="0" dirty="0"/>
              <a:t>JavaScript Object Notation (JSON)</a:t>
            </a:r>
            <a:r>
              <a:rPr lang="en-US" sz="2000" kern="0" dirty="0"/>
              <a:t> to generate a response:</a:t>
            </a:r>
            <a:br>
              <a:rPr lang="en-US" sz="1800" kern="0" dirty="0"/>
            </a:br>
            <a:endParaRPr lang="en-US" sz="1800" kern="0" dirty="0"/>
          </a:p>
          <a:p>
            <a:pPr algn="l"/>
            <a:r>
              <a:rPr lang="en-US" sz="1700" kern="0" dirty="0">
                <a:latin typeface="Consolas" panose="020B0609020204030204" pitchFamily="49" charset="0"/>
                <a:cs typeface="Consolas" panose="020B0609020204030204" pitchFamily="49" charset="0"/>
              </a:rPr>
              <a:t>{</a:t>
            </a:r>
          </a:p>
          <a:p>
            <a:pPr algn="l"/>
            <a:r>
              <a:rPr lang="en-US" sz="1700" kern="0" dirty="0">
                <a:latin typeface="Consolas" panose="020B0609020204030204" pitchFamily="49" charset="0"/>
                <a:cs typeface="Consolas" panose="020B0609020204030204" pitchFamily="49" charset="0"/>
              </a:rPr>
              <a:t>  "messages": [</a:t>
            </a:r>
          </a:p>
          <a:p>
            <a:pPr algn="l"/>
            <a:r>
              <a:rPr lang="en-US" sz="1700" kern="0" dirty="0">
                <a:latin typeface="Consolas" panose="020B0609020204030204" pitchFamily="49" charset="0"/>
                <a:cs typeface="Consolas" panose="020B0609020204030204" pitchFamily="49" charset="0"/>
              </a:rPr>
              <a:t>    {</a:t>
            </a:r>
            <a:r>
              <a:rPr lang="en-US" sz="1700" kern="0" dirty="0">
                <a:solidFill>
                  <a:srgbClr val="FF7003"/>
                </a:solidFill>
                <a:latin typeface="Consolas" panose="020B0609020204030204" pitchFamily="49" charset="0"/>
                <a:cs typeface="Consolas" panose="020B0609020204030204" pitchFamily="49" charset="0"/>
              </a:rPr>
              <a:t>"role"</a:t>
            </a:r>
            <a:r>
              <a:rPr lang="en-US" sz="1700" kern="0" dirty="0">
                <a:latin typeface="Consolas" panose="020B0609020204030204" pitchFamily="49" charset="0"/>
                <a:cs typeface="Consolas" panose="020B0609020204030204" pitchFamily="49" charset="0"/>
              </a:rPr>
              <a:t>: </a:t>
            </a:r>
            <a:r>
              <a:rPr lang="en-US" sz="1700" kern="0" dirty="0">
                <a:solidFill>
                  <a:srgbClr val="942092"/>
                </a:solidFill>
                <a:latin typeface="Consolas" panose="020B0609020204030204" pitchFamily="49" charset="0"/>
                <a:cs typeface="Consolas" panose="020B0609020204030204" pitchFamily="49" charset="0"/>
              </a:rPr>
              <a:t>"system"</a:t>
            </a:r>
            <a:r>
              <a:rPr lang="en-US" sz="1700" kern="0" dirty="0">
                <a:latin typeface="Consolas" panose="020B0609020204030204" pitchFamily="49" charset="0"/>
                <a:cs typeface="Consolas" panose="020B0609020204030204" pitchFamily="49" charset="0"/>
              </a:rPr>
              <a:t>, </a:t>
            </a:r>
            <a:r>
              <a:rPr lang="en-US" sz="1700" kern="0" dirty="0">
                <a:solidFill>
                  <a:srgbClr val="0432FF"/>
                </a:solidFill>
                <a:latin typeface="Consolas" panose="020B0609020204030204" pitchFamily="49" charset="0"/>
                <a:cs typeface="Consolas" panose="020B0609020204030204" pitchFamily="49" charset="0"/>
              </a:rPr>
              <a:t>"content"</a:t>
            </a:r>
            <a:r>
              <a:rPr lang="en-US" sz="1700" kern="0" dirty="0">
                <a:latin typeface="Consolas" panose="020B0609020204030204" pitchFamily="49" charset="0"/>
                <a:cs typeface="Consolas" panose="020B0609020204030204" pitchFamily="49" charset="0"/>
              </a:rPr>
              <a:t>: </a:t>
            </a:r>
            <a:r>
              <a:rPr lang="en-US" sz="1700" kern="0" dirty="0">
                <a:solidFill>
                  <a:srgbClr val="0B853E"/>
                </a:solidFill>
                <a:latin typeface="Consolas" panose="020B0609020204030204" pitchFamily="49" charset="0"/>
                <a:cs typeface="Consolas" panose="020B0609020204030204" pitchFamily="49" charset="0"/>
              </a:rPr>
              <a:t>"...Hermes Agent instructions..."</a:t>
            </a:r>
            <a:r>
              <a:rPr lang="en-US" sz="1700" kern="0" dirty="0">
                <a:latin typeface="Consolas" panose="020B0609020204030204" pitchFamily="49" charset="0"/>
                <a:cs typeface="Consolas" panose="020B0609020204030204" pitchFamily="49" charset="0"/>
              </a:rPr>
              <a:t>},</a:t>
            </a:r>
          </a:p>
          <a:p>
            <a:pPr algn="l"/>
            <a:r>
              <a:rPr lang="en-US" sz="1700" kern="0" dirty="0">
                <a:latin typeface="Consolas" panose="020B0609020204030204" pitchFamily="49" charset="0"/>
                <a:cs typeface="Consolas" panose="020B0609020204030204" pitchFamily="49" charset="0"/>
              </a:rPr>
              <a:t>    {</a:t>
            </a:r>
            <a:r>
              <a:rPr lang="en-US" sz="1700" kern="0" dirty="0">
                <a:solidFill>
                  <a:srgbClr val="FF7003"/>
                </a:solidFill>
                <a:latin typeface="Consolas" panose="020B0609020204030204" pitchFamily="49" charset="0"/>
                <a:cs typeface="Consolas" panose="020B0609020204030204" pitchFamily="49" charset="0"/>
              </a:rPr>
              <a:t>"role"</a:t>
            </a:r>
            <a:r>
              <a:rPr lang="en-US" sz="1700" kern="0" dirty="0">
                <a:latin typeface="Consolas" panose="020B0609020204030204" pitchFamily="49" charset="0"/>
                <a:cs typeface="Consolas" panose="020B0609020204030204" pitchFamily="49" charset="0"/>
              </a:rPr>
              <a:t>: </a:t>
            </a:r>
            <a:r>
              <a:rPr lang="en-US" sz="1700" kern="0" dirty="0">
                <a:solidFill>
                  <a:srgbClr val="942092"/>
                </a:solidFill>
                <a:latin typeface="Consolas" panose="020B0609020204030204" pitchFamily="49" charset="0"/>
                <a:cs typeface="Consolas" panose="020B0609020204030204" pitchFamily="49" charset="0"/>
              </a:rPr>
              <a:t>"user"</a:t>
            </a:r>
            <a:r>
              <a:rPr lang="en-US" sz="1700" kern="0" dirty="0">
                <a:latin typeface="Consolas" panose="020B0609020204030204" pitchFamily="49" charset="0"/>
                <a:cs typeface="Consolas" panose="020B0609020204030204" pitchFamily="49" charset="0"/>
              </a:rPr>
              <a:t>, </a:t>
            </a:r>
            <a:r>
              <a:rPr lang="en-US" sz="1700" kern="0" dirty="0">
                <a:solidFill>
                  <a:srgbClr val="0432FF"/>
                </a:solidFill>
                <a:latin typeface="Consolas" panose="020B0609020204030204" pitchFamily="49" charset="0"/>
                <a:cs typeface="Consolas" panose="020B0609020204030204" pitchFamily="49" charset="0"/>
              </a:rPr>
              <a:t>"content"</a:t>
            </a:r>
            <a:r>
              <a:rPr lang="en-US" sz="1700" kern="0" dirty="0">
                <a:latin typeface="Consolas" panose="020B0609020204030204" pitchFamily="49" charset="0"/>
                <a:cs typeface="Consolas" panose="020B0609020204030204" pitchFamily="49" charset="0"/>
              </a:rPr>
              <a:t>: </a:t>
            </a:r>
            <a:r>
              <a:rPr lang="en-US" sz="1700" kern="0" dirty="0">
                <a:solidFill>
                  <a:srgbClr val="0B853E"/>
                </a:solidFill>
                <a:latin typeface="Consolas" panose="020B0609020204030204" pitchFamily="49" charset="0"/>
                <a:cs typeface="Consolas" panose="020B0609020204030204" pitchFamily="49" charset="0"/>
              </a:rPr>
              <a:t>"What is a prompt?"</a:t>
            </a:r>
            <a:r>
              <a:rPr lang="en-US" sz="1700" kern="0" dirty="0">
                <a:latin typeface="Consolas" panose="020B0609020204030204" pitchFamily="49" charset="0"/>
                <a:cs typeface="Consolas" panose="020B0609020204030204" pitchFamily="49" charset="0"/>
              </a:rPr>
              <a:t>}</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  "tools": [</a:t>
            </a:r>
          </a:p>
          <a:p>
            <a:pPr algn="l"/>
            <a:r>
              <a:rPr lang="en-US" sz="1700" kern="0" dirty="0">
                <a:latin typeface="Consolas" panose="020B0609020204030204" pitchFamily="49" charset="0"/>
                <a:cs typeface="Consolas" panose="020B0609020204030204" pitchFamily="49" charset="0"/>
              </a:rPr>
              <a:t>    {"name": "</a:t>
            </a:r>
            <a:r>
              <a:rPr lang="en-US" sz="1700" kern="0" dirty="0" err="1">
                <a:latin typeface="Consolas" panose="020B0609020204030204" pitchFamily="49" charset="0"/>
                <a:cs typeface="Consolas" panose="020B0609020204030204" pitchFamily="49" charset="0"/>
              </a:rPr>
              <a:t>web_search</a:t>
            </a:r>
            <a:r>
              <a:rPr lang="en-US" sz="1700" kern="0" dirty="0">
                <a:latin typeface="Consolas" panose="020B0609020204030204" pitchFamily="49" charset="0"/>
                <a:cs typeface="Consolas" panose="020B0609020204030204" pitchFamily="49" charset="0"/>
              </a:rPr>
              <a:t>", "description": "Search the web", ...}</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  ...</a:t>
            </a:r>
          </a:p>
          <a:p>
            <a:pPr algn="l"/>
            <a:r>
              <a:rPr lang="en-US" sz="1700" kern="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01977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70BB-DDB4-8A10-F32D-4EB37B247E09}"/>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898936E-E9BF-C1FE-45C3-198036F9F94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Model Prompt Formatting/Templates</a:t>
            </a:r>
            <a:endParaRPr lang="en-US" kern="0" dirty="0"/>
          </a:p>
        </p:txBody>
      </p:sp>
      <p:sp>
        <p:nvSpPr>
          <p:cNvPr id="2" name="Content Placeholder 2">
            <a:extLst>
              <a:ext uri="{FF2B5EF4-FFF2-40B4-BE49-F238E27FC236}">
                <a16:creationId xmlns:a16="http://schemas.microsoft.com/office/drawing/2014/main" id="{89D13240-F20C-AE42-8E04-92793EECFC7A}"/>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b="1" dirty="0"/>
              <a:t>Prompt formatting/templates</a:t>
            </a:r>
            <a:r>
              <a:rPr lang="en-US" dirty="0"/>
              <a:t> define how this content is structured and presented to the model, including:</a:t>
            </a:r>
          </a:p>
          <a:p>
            <a:pPr marL="692150" lvl="1" indent="-233363"/>
            <a:r>
              <a:rPr lang="en-US" kern="0" dirty="0"/>
              <a:t>Roles (e.g., </a:t>
            </a:r>
            <a:r>
              <a:rPr lang="en-US" kern="0" dirty="0">
                <a:latin typeface="Consolas" panose="020B0609020204030204" pitchFamily="49" charset="0"/>
                <a:cs typeface="Consolas" panose="020B0609020204030204" pitchFamily="49" charset="0"/>
              </a:rPr>
              <a:t>system</a:t>
            </a:r>
            <a:r>
              <a:rPr lang="en-US" kern="0" dirty="0"/>
              <a:t>, </a:t>
            </a:r>
            <a:r>
              <a:rPr lang="en-US" kern="0" dirty="0">
                <a:latin typeface="Consolas" panose="020B0609020204030204" pitchFamily="49" charset="0"/>
                <a:cs typeface="Consolas" panose="020B0609020204030204" pitchFamily="49" charset="0"/>
              </a:rPr>
              <a:t>user</a:t>
            </a:r>
            <a:r>
              <a:rPr lang="en-US" kern="0" dirty="0"/>
              <a:t>, </a:t>
            </a:r>
            <a:r>
              <a:rPr lang="en-US" kern="0" dirty="0">
                <a:latin typeface="Consolas" panose="020B0609020204030204" pitchFamily="49" charset="0"/>
                <a:cs typeface="Consolas" panose="020B0609020204030204" pitchFamily="49" charset="0"/>
              </a:rPr>
              <a:t>assistant</a:t>
            </a:r>
            <a:r>
              <a:rPr lang="en-US" kern="0" dirty="0"/>
              <a:t>)</a:t>
            </a:r>
          </a:p>
          <a:p>
            <a:pPr marL="692150" lvl="1" indent="-233363"/>
            <a:r>
              <a:rPr lang="en-US" kern="0" dirty="0"/>
              <a:t>Separators (e.g., </a:t>
            </a:r>
            <a:r>
              <a:rPr lang="en-US" kern="0" dirty="0">
                <a:latin typeface="Consolas" panose="020B0609020204030204" pitchFamily="49" charset="0"/>
                <a:cs typeface="Consolas" panose="020B0609020204030204" pitchFamily="49" charset="0"/>
              </a:rPr>
              <a:t>\n\n</a:t>
            </a:r>
            <a:r>
              <a:rPr lang="en-US" kern="0" dirty="0"/>
              <a:t>, </a:t>
            </a:r>
            <a:r>
              <a:rPr lang="en-US" kern="0" dirty="0">
                <a:latin typeface="Consolas" panose="020B0609020204030204" pitchFamily="49" charset="0"/>
                <a:cs typeface="Consolas" panose="020B0609020204030204" pitchFamily="49" charset="0"/>
              </a:rPr>
              <a:t>###</a:t>
            </a:r>
            <a:r>
              <a:rPr lang="en-US" kern="0" dirty="0"/>
              <a:t>)</a:t>
            </a:r>
          </a:p>
          <a:p>
            <a:pPr marL="692150" lvl="1" indent="-233363"/>
            <a:r>
              <a:rPr lang="en-US" kern="0" dirty="0"/>
              <a:t>Special tokens (e.g., </a:t>
            </a:r>
            <a:r>
              <a:rPr lang="en-US" kern="0" dirty="0">
                <a:latin typeface="Consolas" panose="020B0609020204030204" pitchFamily="49" charset="0"/>
                <a:cs typeface="Consolas" panose="020B0609020204030204" pitchFamily="49" charset="0"/>
              </a:rPr>
              <a:t>&lt;|user|&gt;</a:t>
            </a:r>
            <a:r>
              <a:rPr lang="en-US" kern="0" dirty="0"/>
              <a:t>, </a:t>
            </a:r>
            <a:r>
              <a:rPr lang="en-US" dirty="0">
                <a:latin typeface="Consolas" panose="020B0609020204030204" pitchFamily="49" charset="0"/>
                <a:cs typeface="Consolas" panose="020B0609020204030204" pitchFamily="49" charset="0"/>
              </a:rPr>
              <a:t>&lt;|</a:t>
            </a:r>
            <a:r>
              <a:rPr lang="en-US" dirty="0" err="1">
                <a:latin typeface="Consolas" panose="020B0609020204030204" pitchFamily="49" charset="0"/>
                <a:cs typeface="Consolas" panose="020B0609020204030204" pitchFamily="49" charset="0"/>
              </a:rPr>
              <a:t>im_start</a:t>
            </a:r>
            <a:r>
              <a:rPr lang="en-US" dirty="0">
                <a:latin typeface="Consolas" panose="020B0609020204030204" pitchFamily="49" charset="0"/>
                <a:cs typeface="Consolas" panose="020B0609020204030204" pitchFamily="49" charset="0"/>
              </a:rPr>
              <a:t>|&gt;</a:t>
            </a:r>
            <a:r>
              <a:rPr lang="en-US" dirty="0"/>
              <a:t>, </a:t>
            </a:r>
            <a:r>
              <a:rPr lang="en-US" kern="0" dirty="0">
                <a:latin typeface="Consolas" panose="020B0609020204030204" pitchFamily="49" charset="0"/>
                <a:cs typeface="Consolas" panose="020B0609020204030204" pitchFamily="49" charset="0"/>
              </a:rPr>
              <a:t>&lt;|</a:t>
            </a:r>
            <a:r>
              <a:rPr lang="en-US" kern="0" dirty="0" err="1">
                <a:latin typeface="Consolas" panose="020B0609020204030204" pitchFamily="49" charset="0"/>
                <a:cs typeface="Consolas" panose="020B0609020204030204" pitchFamily="49" charset="0"/>
              </a:rPr>
              <a:t>eot_id</a:t>
            </a:r>
            <a:r>
              <a:rPr lang="en-US" kern="0" dirty="0">
                <a:latin typeface="Consolas" panose="020B0609020204030204" pitchFamily="49" charset="0"/>
                <a:cs typeface="Consolas" panose="020B0609020204030204" pitchFamily="49" charset="0"/>
              </a:rPr>
              <a:t>|&gt;</a:t>
            </a:r>
            <a:r>
              <a:rPr lang="en-US" kern="0" dirty="0"/>
              <a:t>)</a:t>
            </a:r>
          </a:p>
        </p:txBody>
      </p:sp>
    </p:spTree>
    <p:extLst>
      <p:ext uri="{BB962C8B-B14F-4D97-AF65-F5344CB8AC3E}">
        <p14:creationId xmlns:p14="http://schemas.microsoft.com/office/powerpoint/2010/main" val="2386467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FA15-2CFB-455D-5E0B-2A83FA6866F3}"/>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EA26ECD-AB47-A451-68B1-8EF5A5A5AB70}"/>
              </a:ext>
            </a:extLst>
          </p:cNvPr>
          <p:cNvSpPr txBox="1">
            <a:spLocks/>
          </p:cNvSpPr>
          <p:nvPr/>
        </p:nvSpPr>
        <p:spPr bwMode="auto">
          <a:xfrm>
            <a:off x="228600" y="1047750"/>
            <a:ext cx="3886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a:t>Chat Markup Language (</a:t>
            </a:r>
            <a:r>
              <a:rPr lang="en-US" sz="1800" b="1" kern="0" dirty="0" err="1"/>
              <a:t>ChatML</a:t>
            </a:r>
            <a:r>
              <a:rPr lang="en-US" sz="1800" b="1" kern="0" dirty="0"/>
              <a: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t>
            </a:r>
            <a:r>
              <a:rPr lang="en-US" sz="1800" dirty="0">
                <a:solidFill>
                  <a:srgbClr val="7030A0"/>
                </a:solidFill>
                <a:latin typeface="Consolas" panose="020B0609020204030204" pitchFamily="49" charset="0"/>
                <a:cs typeface="Consolas" panose="020B0609020204030204" pitchFamily="49" charset="0"/>
              </a:rPr>
              <a:t>system</a:t>
            </a:r>
          </a:p>
          <a:p>
            <a:pPr algn="l"/>
            <a:r>
              <a:rPr lang="en-US" sz="1800" dirty="0">
                <a:solidFill>
                  <a:srgbClr val="0B853E"/>
                </a:solidFill>
                <a:latin typeface="Consolas" panose="020B0609020204030204" pitchFamily="49" charset="0"/>
                <a:cs typeface="Consolas" panose="020B0609020204030204" pitchFamily="49" charset="0"/>
              </a:rPr>
              <a:t>You are a helpful assistant.</a:t>
            </a:r>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im_end</a:t>
            </a:r>
            <a:r>
              <a:rPr lang="en-US" sz="1800" dirty="0">
                <a:latin typeface="Consolas" panose="020B0609020204030204" pitchFamily="49" charset="0"/>
                <a:cs typeface="Consolas" panose="020B0609020204030204" pitchFamily="49" charset="0"/>
              </a:rPr>
              <a:t>|&gt;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t>
            </a:r>
            <a:r>
              <a:rPr lang="en-US" sz="1800" dirty="0">
                <a:solidFill>
                  <a:srgbClr val="7030A0"/>
                </a:solidFill>
                <a:latin typeface="Consolas" panose="020B0609020204030204" pitchFamily="49" charset="0"/>
                <a:cs typeface="Consolas" panose="020B0609020204030204" pitchFamily="49" charset="0"/>
              </a:rPr>
              <a:t>user</a:t>
            </a:r>
          </a:p>
          <a:p>
            <a:pPr algn="l"/>
            <a:r>
              <a:rPr lang="en-US" sz="1800" dirty="0">
                <a:solidFill>
                  <a:srgbClr val="0B853E"/>
                </a:solidFill>
                <a:latin typeface="Consolas" panose="020B0609020204030204" pitchFamily="49" charset="0"/>
                <a:cs typeface="Consolas" panose="020B0609020204030204" pitchFamily="49" charset="0"/>
              </a:rPr>
              <a:t>What is a prompt?</a:t>
            </a:r>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im_end</a:t>
            </a:r>
            <a:r>
              <a:rPr lang="en-US" sz="1800" dirty="0">
                <a:latin typeface="Consolas" panose="020B0609020204030204" pitchFamily="49" charset="0"/>
                <a:cs typeface="Consolas" panose="020B0609020204030204" pitchFamily="49" charset="0"/>
              </a:rPr>
              <a:t>|&gt;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|&gt;assistant</a:t>
            </a:r>
            <a:endParaRPr lang="en-US" sz="1800" kern="0" dirty="0">
              <a:latin typeface="Consolas" panose="020B0609020204030204" pitchFamily="49" charset="0"/>
              <a:cs typeface="Consolas" panose="020B0609020204030204" pitchFamily="49" charset="0"/>
            </a:endParaRPr>
          </a:p>
        </p:txBody>
      </p:sp>
      <p:sp>
        <p:nvSpPr>
          <p:cNvPr id="5" name="Content Placeholder 2">
            <a:extLst>
              <a:ext uri="{FF2B5EF4-FFF2-40B4-BE49-F238E27FC236}">
                <a16:creationId xmlns:a16="http://schemas.microsoft.com/office/drawing/2014/main" id="{204E482E-934D-6DC9-CD70-3F450E76CDF6}"/>
              </a:ext>
            </a:extLst>
          </p:cNvPr>
          <p:cNvSpPr txBox="1">
            <a:spLocks/>
          </p:cNvSpPr>
          <p:nvPr/>
        </p:nvSpPr>
        <p:spPr bwMode="auto">
          <a:xfrm>
            <a:off x="4343400" y="1047750"/>
            <a:ext cx="4572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a:t>Llama 3 Template</a:t>
            </a:r>
          </a:p>
          <a:p>
            <a:pPr algn="l"/>
            <a:r>
              <a:rPr lang="en-US" sz="1800" kern="0" dirty="0">
                <a:latin typeface="Consolas" panose="020B0609020204030204" pitchFamily="49" charset="0"/>
                <a:cs typeface="Consolas" panose="020B0609020204030204" pitchFamily="49" charset="0"/>
              </a:rPr>
              <a:t>&lt;|</a:t>
            </a:r>
            <a:r>
              <a:rPr lang="en-US" sz="1800" kern="0" dirty="0" err="1">
                <a:latin typeface="Consolas" panose="020B0609020204030204" pitchFamily="49" charset="0"/>
                <a:cs typeface="Consolas" panose="020B0609020204030204" pitchFamily="49" charset="0"/>
              </a:rPr>
              <a:t>begin_of_text</a:t>
            </a:r>
            <a:r>
              <a:rPr lang="en-US" sz="1800" kern="0" dirty="0">
                <a:latin typeface="Consolas" panose="020B0609020204030204" pitchFamily="49" charset="0"/>
                <a:cs typeface="Consolas" panose="020B0609020204030204" pitchFamily="49" charset="0"/>
              </a:rPr>
              <a:t>|&gt;&lt;|</a:t>
            </a:r>
            <a:r>
              <a:rPr lang="en-US" sz="1800" kern="0" dirty="0" err="1">
                <a:latin typeface="Consolas" panose="020B0609020204030204" pitchFamily="49" charset="0"/>
                <a:cs typeface="Consolas" panose="020B0609020204030204" pitchFamily="49" charset="0"/>
              </a:rPr>
              <a:t>start_header_id</a:t>
            </a:r>
            <a:r>
              <a:rPr lang="en-US" sz="1800" kern="0" dirty="0">
                <a:latin typeface="Consolas" panose="020B0609020204030204" pitchFamily="49" charset="0"/>
                <a:cs typeface="Consolas" panose="020B0609020204030204" pitchFamily="49" charset="0"/>
              </a:rPr>
              <a:t>|&gt;</a:t>
            </a:r>
            <a:r>
              <a:rPr lang="en-US" sz="1800" kern="0" dirty="0">
                <a:solidFill>
                  <a:srgbClr val="7030A0"/>
                </a:solidFill>
                <a:latin typeface="Consolas" panose="020B0609020204030204" pitchFamily="49" charset="0"/>
                <a:cs typeface="Consolas" panose="020B0609020204030204" pitchFamily="49" charset="0"/>
              </a:rPr>
              <a:t>system</a:t>
            </a:r>
            <a:r>
              <a:rPr lang="en-US" sz="1800" kern="0" dirty="0">
                <a:latin typeface="Consolas" panose="020B0609020204030204" pitchFamily="49" charset="0"/>
                <a:cs typeface="Consolas" panose="020B0609020204030204" pitchFamily="49" charset="0"/>
              </a:rPr>
              <a:t>&lt;|</a:t>
            </a:r>
            <a:r>
              <a:rPr lang="en-US" sz="1800" kern="0" dirty="0" err="1">
                <a:latin typeface="Consolas" panose="020B0609020204030204" pitchFamily="49" charset="0"/>
                <a:cs typeface="Consolas" panose="020B0609020204030204" pitchFamily="49" charset="0"/>
              </a:rPr>
              <a:t>end_header_id</a:t>
            </a:r>
            <a:r>
              <a:rPr lang="en-US" sz="1800" kern="0" dirty="0">
                <a:latin typeface="Consolas" panose="020B0609020204030204" pitchFamily="49" charset="0"/>
                <a:cs typeface="Consolas" panose="020B0609020204030204" pitchFamily="49" charset="0"/>
              </a:rPr>
              <a:t>|&gt;</a:t>
            </a:r>
          </a:p>
          <a:p>
            <a:pPr algn="l"/>
            <a:endParaRPr lang="en-US" sz="1800" kern="0" dirty="0">
              <a:latin typeface="Consolas" panose="020B0609020204030204" pitchFamily="49" charset="0"/>
              <a:cs typeface="Consolas" panose="020B0609020204030204" pitchFamily="49" charset="0"/>
            </a:endParaRPr>
          </a:p>
          <a:p>
            <a:pPr algn="l"/>
            <a:r>
              <a:rPr lang="en-US" sz="1800" kern="0" dirty="0">
                <a:solidFill>
                  <a:srgbClr val="0B853E"/>
                </a:solidFill>
                <a:latin typeface="Consolas" panose="020B0609020204030204" pitchFamily="49" charset="0"/>
                <a:cs typeface="Consolas" panose="020B0609020204030204" pitchFamily="49" charset="0"/>
              </a:rPr>
              <a:t>You are a helpful assistant.</a:t>
            </a:r>
            <a:r>
              <a:rPr lang="en-US" sz="1800" kern="0" dirty="0">
                <a:latin typeface="Consolas" panose="020B0609020204030204" pitchFamily="49" charset="0"/>
                <a:cs typeface="Consolas" panose="020B0609020204030204" pitchFamily="49" charset="0"/>
              </a:rPr>
              <a:t>&lt;|</a:t>
            </a:r>
            <a:r>
              <a:rPr lang="en-US" sz="1800" kern="0" dirty="0" err="1">
                <a:latin typeface="Consolas" panose="020B0609020204030204" pitchFamily="49" charset="0"/>
                <a:cs typeface="Consolas" panose="020B0609020204030204" pitchFamily="49" charset="0"/>
              </a:rPr>
              <a:t>eot_id</a:t>
            </a:r>
            <a:r>
              <a:rPr lang="en-US" sz="1800" kern="0" dirty="0">
                <a:latin typeface="Consolas" panose="020B0609020204030204" pitchFamily="49" charset="0"/>
                <a:cs typeface="Consolas" panose="020B0609020204030204" pitchFamily="49" charset="0"/>
              </a:rPr>
              <a:t>|&gt;&lt;|</a:t>
            </a:r>
            <a:r>
              <a:rPr lang="en-US" sz="1800" kern="0" dirty="0" err="1">
                <a:latin typeface="Consolas" panose="020B0609020204030204" pitchFamily="49" charset="0"/>
                <a:cs typeface="Consolas" panose="020B0609020204030204" pitchFamily="49" charset="0"/>
              </a:rPr>
              <a:t>start_header_id</a:t>
            </a:r>
            <a:r>
              <a:rPr lang="en-US" sz="1800" kern="0" dirty="0">
                <a:latin typeface="Consolas" panose="020B0609020204030204" pitchFamily="49" charset="0"/>
                <a:cs typeface="Consolas" panose="020B0609020204030204" pitchFamily="49" charset="0"/>
              </a:rPr>
              <a:t>|&gt;</a:t>
            </a:r>
            <a:r>
              <a:rPr lang="en-US" sz="1800" kern="0" dirty="0">
                <a:solidFill>
                  <a:srgbClr val="7030A0"/>
                </a:solidFill>
                <a:latin typeface="Consolas" panose="020B0609020204030204" pitchFamily="49" charset="0"/>
                <a:cs typeface="Consolas" panose="020B0609020204030204" pitchFamily="49" charset="0"/>
              </a:rPr>
              <a:t>user</a:t>
            </a:r>
            <a:r>
              <a:rPr lang="en-US" sz="1800" kern="0" dirty="0">
                <a:latin typeface="Consolas" panose="020B0609020204030204" pitchFamily="49" charset="0"/>
                <a:cs typeface="Consolas" panose="020B0609020204030204" pitchFamily="49" charset="0"/>
              </a:rPr>
              <a:t>&lt;|</a:t>
            </a:r>
            <a:r>
              <a:rPr lang="en-US" sz="1800" kern="0" dirty="0" err="1">
                <a:latin typeface="Consolas" panose="020B0609020204030204" pitchFamily="49" charset="0"/>
                <a:cs typeface="Consolas" panose="020B0609020204030204" pitchFamily="49" charset="0"/>
              </a:rPr>
              <a:t>end_header_id</a:t>
            </a:r>
            <a:r>
              <a:rPr lang="en-US" sz="1800" kern="0" dirty="0">
                <a:latin typeface="Consolas" panose="020B0609020204030204" pitchFamily="49" charset="0"/>
                <a:cs typeface="Consolas" panose="020B0609020204030204" pitchFamily="49" charset="0"/>
              </a:rPr>
              <a:t>|&gt;</a:t>
            </a:r>
          </a:p>
          <a:p>
            <a:pPr algn="l"/>
            <a:endParaRPr lang="en-US" sz="1800" kern="0" dirty="0">
              <a:latin typeface="Consolas" panose="020B0609020204030204" pitchFamily="49" charset="0"/>
              <a:cs typeface="Consolas" panose="020B0609020204030204" pitchFamily="49" charset="0"/>
            </a:endParaRPr>
          </a:p>
          <a:p>
            <a:pPr algn="l"/>
            <a:r>
              <a:rPr lang="en-US" sz="1800" kern="0" dirty="0">
                <a:solidFill>
                  <a:srgbClr val="0B853E"/>
                </a:solidFill>
                <a:latin typeface="Consolas" panose="020B0609020204030204" pitchFamily="49" charset="0"/>
                <a:cs typeface="Consolas" panose="020B0609020204030204" pitchFamily="49" charset="0"/>
              </a:rPr>
              <a:t>What is a prompt?</a:t>
            </a:r>
            <a:r>
              <a:rPr lang="en-US" sz="1800" kern="0" dirty="0">
                <a:latin typeface="Consolas" panose="020B0609020204030204" pitchFamily="49" charset="0"/>
                <a:cs typeface="Consolas" panose="020B0609020204030204" pitchFamily="49" charset="0"/>
              </a:rPr>
              <a:t>&lt;|</a:t>
            </a:r>
            <a:r>
              <a:rPr lang="en-US" sz="1800" kern="0" dirty="0" err="1">
                <a:latin typeface="Consolas" panose="020B0609020204030204" pitchFamily="49" charset="0"/>
                <a:cs typeface="Consolas" panose="020B0609020204030204" pitchFamily="49" charset="0"/>
              </a:rPr>
              <a:t>eot_id</a:t>
            </a:r>
            <a:r>
              <a:rPr lang="en-US" sz="1800" kern="0" dirty="0">
                <a:latin typeface="Consolas" panose="020B0609020204030204" pitchFamily="49" charset="0"/>
                <a:cs typeface="Consolas" panose="020B0609020204030204" pitchFamily="49" charset="0"/>
              </a:rPr>
              <a:t>|&gt;&lt;|</a:t>
            </a:r>
            <a:r>
              <a:rPr lang="en-US" sz="1800" kern="0" dirty="0" err="1">
                <a:latin typeface="Consolas" panose="020B0609020204030204" pitchFamily="49" charset="0"/>
                <a:cs typeface="Consolas" panose="020B0609020204030204" pitchFamily="49" charset="0"/>
              </a:rPr>
              <a:t>start_header_id</a:t>
            </a:r>
            <a:r>
              <a:rPr lang="en-US" sz="1800" kern="0" dirty="0">
                <a:latin typeface="Consolas" panose="020B0609020204030204" pitchFamily="49" charset="0"/>
                <a:cs typeface="Consolas" panose="020B0609020204030204" pitchFamily="49" charset="0"/>
              </a:rPr>
              <a:t>|&gt;assistant&lt;|</a:t>
            </a:r>
            <a:r>
              <a:rPr lang="en-US" sz="1800" kern="0" dirty="0" err="1">
                <a:latin typeface="Consolas" panose="020B0609020204030204" pitchFamily="49" charset="0"/>
                <a:cs typeface="Consolas" panose="020B0609020204030204" pitchFamily="49" charset="0"/>
              </a:rPr>
              <a:t>end_header_id</a:t>
            </a:r>
            <a:r>
              <a:rPr lang="en-US" sz="1800" kern="0" dirty="0">
                <a:latin typeface="Consolas" panose="020B0609020204030204" pitchFamily="49" charset="0"/>
                <a:cs typeface="Consolas" panose="020B0609020204030204" pitchFamily="49" charset="0"/>
              </a:rPr>
              <a:t>|&gt;</a:t>
            </a:r>
          </a:p>
          <a:p>
            <a:pPr algn="l"/>
            <a:endParaRPr lang="en-US" sz="1800" kern="0" dirty="0">
              <a:latin typeface="Consolas" panose="020B0609020204030204" pitchFamily="49" charset="0"/>
              <a:cs typeface="Consolas" panose="020B0609020204030204" pitchFamily="49" charset="0"/>
            </a:endParaRPr>
          </a:p>
        </p:txBody>
      </p:sp>
      <p:sp>
        <p:nvSpPr>
          <p:cNvPr id="6" name="Title 1">
            <a:extLst>
              <a:ext uri="{FF2B5EF4-FFF2-40B4-BE49-F238E27FC236}">
                <a16:creationId xmlns:a16="http://schemas.microsoft.com/office/drawing/2014/main" id="{632D36F5-A49F-72BB-5750-40E845EFDC65}"/>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Template Examples</a:t>
            </a:r>
            <a:endParaRPr lang="en-US" kern="0" dirty="0"/>
          </a:p>
        </p:txBody>
      </p:sp>
    </p:spTree>
    <p:extLst>
      <p:ext uri="{BB962C8B-B14F-4D97-AF65-F5344CB8AC3E}">
        <p14:creationId xmlns:p14="http://schemas.microsoft.com/office/powerpoint/2010/main" val="3972156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604F-A25C-F529-9024-33D6BF3B2A02}"/>
            </a:ext>
          </a:extLst>
        </p:cNvPr>
        <p:cNvGrpSpPr/>
        <p:nvPr/>
      </p:nvGrpSpPr>
      <p:grpSpPr>
        <a:xfrm>
          <a:off x="0" y="0"/>
          <a:ext cx="0" cy="0"/>
          <a:chOff x="0" y="0"/>
          <a:chExt cx="0" cy="0"/>
        </a:xfrm>
      </p:grpSpPr>
      <p:pic>
        <p:nvPicPr>
          <p:cNvPr id="7" name="Picture 6" descr="A white background with black dots&#10;&#10;AI-generated content may be incorrect.">
            <a:extLst>
              <a:ext uri="{FF2B5EF4-FFF2-40B4-BE49-F238E27FC236}">
                <a16:creationId xmlns:a16="http://schemas.microsoft.com/office/drawing/2014/main" id="{23BBB3A6-FEDE-D42B-2AD3-4B829A662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8" name="Picture 7" descr="A white background with black dots&#10;&#10;AI-generated content may be incorrect.">
            <a:extLst>
              <a:ext uri="{FF2B5EF4-FFF2-40B4-BE49-F238E27FC236}">
                <a16:creationId xmlns:a16="http://schemas.microsoft.com/office/drawing/2014/main" id="{83A9DA2E-E41A-FD3E-CD50-D98A314F1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056E03B4-61CF-F940-0F3D-84B923113A6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Conversion</a:t>
            </a:r>
            <a:endParaRPr lang="en-US" kern="0" dirty="0"/>
          </a:p>
        </p:txBody>
      </p:sp>
      <p:sp>
        <p:nvSpPr>
          <p:cNvPr id="2" name="Content Placeholder 2">
            <a:extLst>
              <a:ext uri="{FF2B5EF4-FFF2-40B4-BE49-F238E27FC236}">
                <a16:creationId xmlns:a16="http://schemas.microsoft.com/office/drawing/2014/main" id="{F5573179-FF8B-1CF8-F9B0-0912BA5EE767}"/>
              </a:ext>
            </a:extLst>
          </p:cNvPr>
          <p:cNvSpPr txBox="1">
            <a:spLocks/>
          </p:cNvSpPr>
          <p:nvPr/>
        </p:nvSpPr>
        <p:spPr bwMode="auto">
          <a:xfrm>
            <a:off x="228600" y="933450"/>
            <a:ext cx="48006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200" kern="0" dirty="0"/>
              <a:t>Different models have different templates</a:t>
            </a:r>
          </a:p>
          <a:p>
            <a:pPr marL="342900" indent="-342900" algn="l">
              <a:buFont typeface="Arial" panose="020B0604020202020204" pitchFamily="34" charset="0"/>
              <a:buChar char="•"/>
            </a:pPr>
            <a:r>
              <a:rPr lang="en-US" sz="2200" kern="0" dirty="0"/>
              <a:t>Serving frameworks (e.g., vLLM) apply a particular model’s chat template to your messages for you</a:t>
            </a:r>
          </a:p>
          <a:p>
            <a:pPr marL="342900" indent="-342900" algn="l">
              <a:buFont typeface="Arial" panose="020B0604020202020204" pitchFamily="34" charset="0"/>
              <a:buChar char="•"/>
            </a:pPr>
            <a:r>
              <a:rPr lang="en-US" sz="2200" kern="0" dirty="0"/>
              <a:t>Models often include a </a:t>
            </a:r>
            <a:r>
              <a:rPr lang="en-US" sz="2200" i="1" kern="0" dirty="0"/>
              <a:t>Jinja</a:t>
            </a:r>
            <a:r>
              <a:rPr lang="en-US" sz="2200" kern="0" dirty="0"/>
              <a:t> file to facilitate this conversion, including multimodal content, tool-calling conventions, etc.</a:t>
            </a:r>
          </a:p>
        </p:txBody>
      </p:sp>
      <p:pic>
        <p:nvPicPr>
          <p:cNvPr id="6" name="Picture 5">
            <a:extLst>
              <a:ext uri="{FF2B5EF4-FFF2-40B4-BE49-F238E27FC236}">
                <a16:creationId xmlns:a16="http://schemas.microsoft.com/office/drawing/2014/main" id="{203E9EEE-724E-C0AF-77BB-7D2ADABB09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29200" y="214312"/>
            <a:ext cx="4122096" cy="4714875"/>
          </a:xfrm>
          <a:prstGeom prst="rect">
            <a:avLst/>
          </a:prstGeom>
        </p:spPr>
      </p:pic>
    </p:spTree>
    <p:extLst>
      <p:ext uri="{BB962C8B-B14F-4D97-AF65-F5344CB8AC3E}">
        <p14:creationId xmlns:p14="http://schemas.microsoft.com/office/powerpoint/2010/main" val="1852032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8525-DBA4-117B-4721-E0A5AD94A197}"/>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5A1FE57-4C56-6593-83B0-2D1870D636D4}"/>
              </a:ext>
            </a:extLst>
          </p:cNvPr>
          <p:cNvSpPr txBox="1">
            <a:spLocks/>
          </p:cNvSpPr>
          <p:nvPr/>
        </p:nvSpPr>
        <p:spPr bwMode="auto">
          <a:xfrm>
            <a:off x="228600" y="854583"/>
            <a:ext cx="2895600" cy="354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a:t>JSON Format</a:t>
            </a:r>
          </a:p>
          <a:p>
            <a:pPr algn="l"/>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a:t>
            </a:r>
            <a:r>
              <a:rPr lang="en-US" sz="1800" dirty="0">
                <a:solidFill>
                  <a:srgbClr val="FF7003"/>
                </a:solidFill>
                <a:latin typeface="Consolas" panose="020B0609020204030204" pitchFamily="49" charset="0"/>
                <a:cs typeface="Consolas" panose="020B0609020204030204" pitchFamily="49" charset="0"/>
              </a:rPr>
              <a:t>"role"</a:t>
            </a:r>
            <a:r>
              <a:rPr lang="en-US" sz="1800" dirty="0">
                <a:latin typeface="Consolas" panose="020B0609020204030204" pitchFamily="49" charset="0"/>
                <a:cs typeface="Consolas" panose="020B0609020204030204" pitchFamily="49" charset="0"/>
              </a:rPr>
              <a:t>: </a:t>
            </a:r>
            <a:r>
              <a:rPr lang="en-US" sz="1800" dirty="0">
                <a:solidFill>
                  <a:srgbClr val="7030A0"/>
                </a:solidFill>
                <a:latin typeface="Consolas" panose="020B0609020204030204" pitchFamily="49" charset="0"/>
                <a:cs typeface="Consolas" panose="020B0609020204030204" pitchFamily="49" charset="0"/>
              </a:rPr>
              <a:t>"system"</a:t>
            </a:r>
            <a:r>
              <a:rPr lang="en-US" sz="1800" dirty="0">
                <a:latin typeface="Consolas" panose="020B0609020204030204" pitchFamily="49" charset="0"/>
                <a:cs typeface="Consolas" panose="020B0609020204030204" pitchFamily="49" charset="0"/>
              </a:rPr>
              <a:t>, </a:t>
            </a:r>
            <a:r>
              <a:rPr lang="en-US" sz="1800" dirty="0">
                <a:solidFill>
                  <a:srgbClr val="0432FF"/>
                </a:solidFill>
                <a:latin typeface="Consolas" panose="020B0609020204030204" pitchFamily="49" charset="0"/>
                <a:cs typeface="Consolas" panose="020B0609020204030204" pitchFamily="49" charset="0"/>
              </a:rPr>
              <a:t>"content"</a:t>
            </a:r>
            <a:r>
              <a:rPr lang="en-US" sz="1800" dirty="0">
                <a:latin typeface="Consolas" panose="020B0609020204030204" pitchFamily="49" charset="0"/>
                <a:cs typeface="Consolas" panose="020B0609020204030204" pitchFamily="49" charset="0"/>
              </a:rPr>
              <a:t>: </a:t>
            </a:r>
            <a:r>
              <a:rPr lang="en-US" sz="1800" dirty="0">
                <a:solidFill>
                  <a:srgbClr val="0B853E"/>
                </a:solidFill>
                <a:latin typeface="Consolas" panose="020B0609020204030204" pitchFamily="49" charset="0"/>
                <a:cs typeface="Consolas" panose="020B0609020204030204" pitchFamily="49" charset="0"/>
              </a:rPr>
              <a:t>"You are a helpful assistant."</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a:t>
            </a:r>
            <a:r>
              <a:rPr lang="en-US" sz="1800" dirty="0">
                <a:solidFill>
                  <a:srgbClr val="FF7003"/>
                </a:solidFill>
                <a:latin typeface="Consolas" panose="020B0609020204030204" pitchFamily="49" charset="0"/>
                <a:cs typeface="Consolas" panose="020B0609020204030204" pitchFamily="49" charset="0"/>
              </a:rPr>
              <a:t>"role"</a:t>
            </a:r>
            <a:r>
              <a:rPr lang="en-US" sz="1800" dirty="0">
                <a:latin typeface="Consolas" panose="020B0609020204030204" pitchFamily="49" charset="0"/>
                <a:cs typeface="Consolas" panose="020B0609020204030204" pitchFamily="49" charset="0"/>
              </a:rPr>
              <a:t>: </a:t>
            </a:r>
            <a:r>
              <a:rPr lang="en-US" sz="1800" dirty="0">
                <a:solidFill>
                  <a:srgbClr val="7030A0"/>
                </a:solidFill>
                <a:latin typeface="Consolas" panose="020B0609020204030204" pitchFamily="49" charset="0"/>
                <a:cs typeface="Consolas" panose="020B0609020204030204" pitchFamily="49" charset="0"/>
              </a:rPr>
              <a:t>"user"</a:t>
            </a:r>
            <a:r>
              <a:rPr lang="en-US" sz="1800" dirty="0">
                <a:latin typeface="Consolas" panose="020B0609020204030204" pitchFamily="49" charset="0"/>
                <a:cs typeface="Consolas" panose="020B0609020204030204" pitchFamily="49" charset="0"/>
              </a:rPr>
              <a:t>, </a:t>
            </a:r>
            <a:r>
              <a:rPr lang="en-US" sz="1800" dirty="0">
                <a:solidFill>
                  <a:srgbClr val="0432FF"/>
                </a:solidFill>
                <a:latin typeface="Consolas" panose="020B0609020204030204" pitchFamily="49" charset="0"/>
                <a:cs typeface="Consolas" panose="020B0609020204030204" pitchFamily="49" charset="0"/>
              </a:rPr>
              <a:t>"content"</a:t>
            </a:r>
            <a:r>
              <a:rPr lang="en-US" sz="1800" dirty="0">
                <a:latin typeface="Consolas" panose="020B0609020204030204" pitchFamily="49" charset="0"/>
                <a:cs typeface="Consolas" panose="020B0609020204030204" pitchFamily="49" charset="0"/>
              </a:rPr>
              <a:t>: </a:t>
            </a:r>
            <a:r>
              <a:rPr lang="en-US" sz="1800" dirty="0">
                <a:solidFill>
                  <a:srgbClr val="0B853E"/>
                </a:solidFill>
                <a:latin typeface="Consolas" panose="020B0609020204030204" pitchFamily="49" charset="0"/>
                <a:cs typeface="Consolas" panose="020B0609020204030204" pitchFamily="49" charset="0"/>
              </a:rPr>
              <a:t>"What is a prompt?"</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a:t>
            </a:r>
            <a:endParaRPr lang="en-US" sz="1800" kern="0" dirty="0">
              <a:latin typeface="Consolas" panose="020B0609020204030204" pitchFamily="49" charset="0"/>
              <a:cs typeface="Consolas" panose="020B0609020204030204" pitchFamily="49" charset="0"/>
            </a:endParaRPr>
          </a:p>
        </p:txBody>
      </p:sp>
      <p:sp>
        <p:nvSpPr>
          <p:cNvPr id="6" name="Title 1">
            <a:extLst>
              <a:ext uri="{FF2B5EF4-FFF2-40B4-BE49-F238E27FC236}">
                <a16:creationId xmlns:a16="http://schemas.microsoft.com/office/drawing/2014/main" id="{AF5C02AE-774D-D1FA-0B27-E4DE59D5D4F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Example</a:t>
            </a:r>
            <a:endParaRPr lang="en-US" kern="0" dirty="0"/>
          </a:p>
        </p:txBody>
      </p:sp>
      <p:sp>
        <p:nvSpPr>
          <p:cNvPr id="2" name="Content Placeholder 2">
            <a:extLst>
              <a:ext uri="{FF2B5EF4-FFF2-40B4-BE49-F238E27FC236}">
                <a16:creationId xmlns:a16="http://schemas.microsoft.com/office/drawing/2014/main" id="{26DE8B4B-3FA5-4521-EEE4-6FAF2F3E6F12}"/>
              </a:ext>
            </a:extLst>
          </p:cNvPr>
          <p:cNvSpPr txBox="1">
            <a:spLocks/>
          </p:cNvSpPr>
          <p:nvPr/>
        </p:nvSpPr>
        <p:spPr bwMode="auto">
          <a:xfrm>
            <a:off x="3730752" y="285750"/>
            <a:ext cx="5181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a:t>Jinja Template</a:t>
            </a:r>
          </a:p>
          <a:p>
            <a:pPr algn="l"/>
            <a:r>
              <a:rPr lang="en-US" sz="1800" dirty="0">
                <a:latin typeface="Consolas" panose="020B0609020204030204" pitchFamily="49" charset="0"/>
                <a:cs typeface="Consolas" panose="020B0609020204030204" pitchFamily="49" charset="0"/>
              </a:rPr>
              <a:t>{% for message in messages %}</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 message[</a:t>
            </a:r>
            <a:r>
              <a:rPr lang="en-US" sz="1800" dirty="0">
                <a:solidFill>
                  <a:srgbClr val="FF7003"/>
                </a:solidFill>
                <a:latin typeface="Consolas" panose="020B0609020204030204" pitchFamily="49" charset="0"/>
                <a:cs typeface="Consolas" panose="020B0609020204030204" pitchFamily="49" charset="0"/>
              </a:rPr>
              <a:t>'role'</a:t>
            </a:r>
            <a:r>
              <a:rPr lang="en-US" sz="1800" dirty="0">
                <a:latin typeface="Consolas" panose="020B0609020204030204" pitchFamily="49" charset="0"/>
                <a:cs typeface="Consolas" panose="020B0609020204030204" pitchFamily="49" charset="0"/>
              </a:rPr>
              <a:t>] }}</a:t>
            </a:r>
          </a:p>
          <a:p>
            <a:pPr algn="l"/>
            <a:r>
              <a:rPr lang="en-US" sz="1800" dirty="0">
                <a:latin typeface="Consolas" panose="020B0609020204030204" pitchFamily="49" charset="0"/>
                <a:cs typeface="Consolas" panose="020B0609020204030204" pitchFamily="49" charset="0"/>
              </a:rPr>
              <a:t>{{ message[</a:t>
            </a:r>
            <a:r>
              <a:rPr lang="en-US" sz="1800" dirty="0">
                <a:solidFill>
                  <a:srgbClr val="0432FF"/>
                </a:solidFill>
                <a:latin typeface="Consolas" panose="020B0609020204030204" pitchFamily="49" charset="0"/>
                <a:cs typeface="Consolas" panose="020B0609020204030204" pitchFamily="49" charset="0"/>
              </a:rPr>
              <a:t>'content'</a:t>
            </a:r>
            <a:r>
              <a:rPr lang="en-US" sz="1800" dirty="0">
                <a:latin typeface="Consolas" panose="020B0609020204030204" pitchFamily="49" charset="0"/>
                <a:cs typeface="Consolas" panose="020B0609020204030204" pitchFamily="49" charset="0"/>
              </a:rPr>
              <a:t>] }}&lt;|</a:t>
            </a:r>
            <a:r>
              <a:rPr lang="en-US" sz="1800" dirty="0" err="1">
                <a:latin typeface="Consolas" panose="020B0609020204030204" pitchFamily="49" charset="0"/>
                <a:cs typeface="Consolas" panose="020B0609020204030204" pitchFamily="49" charset="0"/>
              </a:rPr>
              <a:t>im_end</a:t>
            </a:r>
            <a:r>
              <a:rPr lang="en-US" sz="1800" dirty="0">
                <a:latin typeface="Consolas" panose="020B0609020204030204" pitchFamily="49" charset="0"/>
                <a:cs typeface="Consolas" panose="020B0609020204030204" pitchFamily="49" charset="0"/>
              </a:rPr>
              <a:t>|&gt;</a:t>
            </a:r>
          </a:p>
          <a:p>
            <a:pPr algn="l"/>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endfor</a:t>
            </a:r>
            <a:r>
              <a:rPr lang="en-US" sz="1800" dirty="0">
                <a:latin typeface="Consolas" panose="020B0609020204030204" pitchFamily="49" charset="0"/>
                <a:cs typeface="Consolas" panose="020B0609020204030204" pitchFamily="49" charset="0"/>
              </a:rPr>
              <a:t> %}</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|&gt;assistant</a:t>
            </a:r>
            <a:endParaRPr lang="en-US" sz="1800" kern="0" dirty="0">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5C81546C-8286-A2A6-F1B3-DBF40877159C}"/>
              </a:ext>
            </a:extLst>
          </p:cNvPr>
          <p:cNvSpPr txBox="1">
            <a:spLocks/>
          </p:cNvSpPr>
          <p:nvPr/>
        </p:nvSpPr>
        <p:spPr bwMode="auto">
          <a:xfrm>
            <a:off x="3727704" y="2876550"/>
            <a:ext cx="5181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err="1"/>
              <a:t>ChatML</a:t>
            </a:r>
            <a:r>
              <a:rPr lang="en-US" sz="1800" b="1" kern="0" dirty="0"/>
              <a:t> Formatted Prompt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t>
            </a:r>
            <a:r>
              <a:rPr lang="en-US" sz="1800" dirty="0">
                <a:solidFill>
                  <a:srgbClr val="7030A0"/>
                </a:solidFill>
                <a:latin typeface="Consolas" panose="020B0609020204030204" pitchFamily="49" charset="0"/>
                <a:cs typeface="Consolas" panose="020B0609020204030204" pitchFamily="49" charset="0"/>
              </a:rPr>
              <a:t>system</a:t>
            </a:r>
          </a:p>
          <a:p>
            <a:pPr algn="l"/>
            <a:r>
              <a:rPr lang="en-US" sz="1800" dirty="0">
                <a:solidFill>
                  <a:srgbClr val="0B853E"/>
                </a:solidFill>
                <a:latin typeface="Consolas" panose="020B0609020204030204" pitchFamily="49" charset="0"/>
                <a:cs typeface="Consolas" panose="020B0609020204030204" pitchFamily="49" charset="0"/>
              </a:rPr>
              <a:t>You are a helpful assistant.</a:t>
            </a:r>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im_end</a:t>
            </a:r>
            <a:r>
              <a:rPr lang="en-US" sz="1800" dirty="0">
                <a:latin typeface="Consolas" panose="020B0609020204030204" pitchFamily="49" charset="0"/>
                <a:cs typeface="Consolas" panose="020B0609020204030204" pitchFamily="49" charset="0"/>
              </a:rPr>
              <a:t>|&gt;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t>
            </a:r>
            <a:r>
              <a:rPr lang="en-US" sz="1800" dirty="0">
                <a:solidFill>
                  <a:srgbClr val="7030A0"/>
                </a:solidFill>
                <a:latin typeface="Consolas" panose="020B0609020204030204" pitchFamily="49" charset="0"/>
                <a:cs typeface="Consolas" panose="020B0609020204030204" pitchFamily="49" charset="0"/>
              </a:rPr>
              <a:t>user</a:t>
            </a:r>
          </a:p>
          <a:p>
            <a:pPr algn="l"/>
            <a:r>
              <a:rPr lang="en-US" sz="1800" dirty="0">
                <a:solidFill>
                  <a:srgbClr val="0B853E"/>
                </a:solidFill>
                <a:latin typeface="Consolas" panose="020B0609020204030204" pitchFamily="49" charset="0"/>
                <a:cs typeface="Consolas" panose="020B0609020204030204" pitchFamily="49" charset="0"/>
              </a:rPr>
              <a:t>What is a prompt?</a:t>
            </a:r>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im_end</a:t>
            </a:r>
            <a:r>
              <a:rPr lang="en-US" sz="1800" dirty="0">
                <a:latin typeface="Consolas" panose="020B0609020204030204" pitchFamily="49" charset="0"/>
                <a:cs typeface="Consolas" panose="020B0609020204030204" pitchFamily="49" charset="0"/>
              </a:rPr>
              <a:t>|&gt;</a:t>
            </a:r>
          </a:p>
          <a:p>
            <a:pPr algn="l"/>
            <a:r>
              <a:rPr lang="en-US" sz="1800" dirty="0">
                <a:latin typeface="Consolas" panose="020B0609020204030204" pitchFamily="49" charset="0"/>
                <a:cs typeface="Consolas" panose="020B0609020204030204" pitchFamily="49" charset="0"/>
              </a:rPr>
              <a:t>&lt;|</a:t>
            </a:r>
            <a:r>
              <a:rPr lang="en-US" sz="1800" dirty="0" err="1">
                <a:latin typeface="Consolas" panose="020B0609020204030204" pitchFamily="49" charset="0"/>
                <a:cs typeface="Consolas" panose="020B0609020204030204" pitchFamily="49" charset="0"/>
              </a:rPr>
              <a:t>im_start</a:t>
            </a:r>
            <a:r>
              <a:rPr lang="en-US" sz="1800" dirty="0">
                <a:latin typeface="Consolas" panose="020B0609020204030204" pitchFamily="49" charset="0"/>
                <a:cs typeface="Consolas" panose="020B0609020204030204" pitchFamily="49" charset="0"/>
              </a:rPr>
              <a:t>|&gt;assistant</a:t>
            </a:r>
            <a:endParaRPr lang="en-US" sz="1800" kern="0" dirty="0">
              <a:latin typeface="Consolas" panose="020B0609020204030204" pitchFamily="49" charset="0"/>
              <a:cs typeface="Consolas" panose="020B0609020204030204" pitchFamily="49" charset="0"/>
            </a:endParaRPr>
          </a:p>
        </p:txBody>
      </p:sp>
      <p:sp>
        <p:nvSpPr>
          <p:cNvPr id="8" name="Right Arrow 7">
            <a:extLst>
              <a:ext uri="{FF2B5EF4-FFF2-40B4-BE49-F238E27FC236}">
                <a16:creationId xmlns:a16="http://schemas.microsoft.com/office/drawing/2014/main" id="{0C052A69-AA13-8C13-2D0C-474DD7229E99}"/>
              </a:ext>
            </a:extLst>
          </p:cNvPr>
          <p:cNvSpPr/>
          <p:nvPr/>
        </p:nvSpPr>
        <p:spPr>
          <a:xfrm rot="5400000">
            <a:off x="6089903" y="2362201"/>
            <a:ext cx="457201" cy="419100"/>
          </a:xfrm>
          <a:prstGeom prst="right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9B9C3A07-C048-40F4-162D-78C0A2AD4960}"/>
              </a:ext>
            </a:extLst>
          </p:cNvPr>
          <p:cNvSpPr/>
          <p:nvPr/>
        </p:nvSpPr>
        <p:spPr>
          <a:xfrm rot="20009193">
            <a:off x="3197351" y="1590374"/>
            <a:ext cx="457201" cy="419100"/>
          </a:xfrm>
          <a:prstGeom prst="right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Tree>
    <p:extLst>
      <p:ext uri="{BB962C8B-B14F-4D97-AF65-F5344CB8AC3E}">
        <p14:creationId xmlns:p14="http://schemas.microsoft.com/office/powerpoint/2010/main" val="620144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2358-1789-E462-DC9C-735FEBA5C4E6}"/>
            </a:ext>
          </a:extLst>
        </p:cNvPr>
        <p:cNvGrpSpPr/>
        <p:nvPr/>
      </p:nvGrpSpPr>
      <p:grpSpPr>
        <a:xfrm>
          <a:off x="0" y="0"/>
          <a:ext cx="0" cy="0"/>
          <a:chOff x="0" y="0"/>
          <a:chExt cx="0" cy="0"/>
        </a:xfrm>
      </p:grpSpPr>
      <p:pic>
        <p:nvPicPr>
          <p:cNvPr id="5" name="Picture 4" descr="A white background with black dots&#10;&#10;AI-generated content may be incorrect.">
            <a:extLst>
              <a:ext uri="{FF2B5EF4-FFF2-40B4-BE49-F238E27FC236}">
                <a16:creationId xmlns:a16="http://schemas.microsoft.com/office/drawing/2014/main" id="{336817DD-6559-572E-DAAE-6C4468F28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6" name="Picture 5" descr="A white background with black dots&#10;&#10;AI-generated content may be incorrect.">
            <a:extLst>
              <a:ext uri="{FF2B5EF4-FFF2-40B4-BE49-F238E27FC236}">
                <a16:creationId xmlns:a16="http://schemas.microsoft.com/office/drawing/2014/main" id="{DCDA6EFB-5DF5-474E-43EB-E8B30EF12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0F523C84-2F01-4C16-9285-C6EDC5298DC7}"/>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dirty="0"/>
              <a:t>Why This Matters…</a:t>
            </a:r>
            <a:endParaRPr lang="en-US" kern="0" dirty="0"/>
          </a:p>
        </p:txBody>
      </p:sp>
      <p:sp>
        <p:nvSpPr>
          <p:cNvPr id="2" name="Content Placeholder 2">
            <a:extLst>
              <a:ext uri="{FF2B5EF4-FFF2-40B4-BE49-F238E27FC236}">
                <a16:creationId xmlns:a16="http://schemas.microsoft.com/office/drawing/2014/main" id="{97C891F7-E2A0-2541-D9BB-3E2BBEA9F7DF}"/>
              </a:ext>
            </a:extLst>
          </p:cNvPr>
          <p:cNvSpPr txBox="1">
            <a:spLocks/>
          </p:cNvSpPr>
          <p:nvPr/>
        </p:nvSpPr>
        <p:spPr bwMode="auto">
          <a:xfrm>
            <a:off x="228600" y="933450"/>
            <a:ext cx="4496832"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000" kern="0" dirty="0"/>
              <a:t>Prompting goes beyond simply sending messages</a:t>
            </a:r>
          </a:p>
          <a:p>
            <a:pPr marL="342900" indent="-342900" algn="l">
              <a:buFont typeface="Arial" panose="020B0604020202020204" pitchFamily="34" charset="0"/>
              <a:buChar char="•"/>
            </a:pPr>
            <a:r>
              <a:rPr lang="en-US" sz="2000" kern="0" dirty="0"/>
              <a:t>Knowing more about how Hermes Agent processes your prompts provides insight into what you can control, allowing for changes in response quality</a:t>
            </a:r>
          </a:p>
          <a:p>
            <a:pPr marL="342900" indent="-342900" algn="l">
              <a:buFont typeface="Arial" panose="020B0604020202020204" pitchFamily="34" charset="0"/>
              <a:buChar char="•"/>
            </a:pPr>
            <a:r>
              <a:rPr lang="en-US" sz="2000" kern="0" dirty="0"/>
              <a:t>For example, as a user, you can alter Hermes’ system prompt—including its tone, personality, communication style, etc.—by editing your </a:t>
            </a:r>
            <a:r>
              <a:rPr lang="en-US" sz="2000" kern="0" dirty="0">
                <a:hlinkClick r:id="rId4"/>
              </a:rPr>
              <a:t>SOUL.md</a:t>
            </a:r>
            <a:r>
              <a:rPr lang="en-US" sz="2000" kern="0" dirty="0"/>
              <a:t> file</a:t>
            </a:r>
          </a:p>
          <a:p>
            <a:pPr marL="342900" indent="-342900" algn="l">
              <a:buFont typeface="Arial" panose="020B0604020202020204" pitchFamily="34" charset="0"/>
              <a:buChar char="•"/>
            </a:pPr>
            <a:endParaRPr lang="en-US" sz="2000" kern="0" dirty="0"/>
          </a:p>
        </p:txBody>
      </p:sp>
      <p:pic>
        <p:nvPicPr>
          <p:cNvPr id="10" name="Picture 9">
            <a:extLst>
              <a:ext uri="{FF2B5EF4-FFF2-40B4-BE49-F238E27FC236}">
                <a16:creationId xmlns:a16="http://schemas.microsoft.com/office/drawing/2014/main" id="{B0CD2FF5-BDB9-5CAB-F0BD-C29B3FA496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73112" y="0"/>
            <a:ext cx="4470888" cy="5143500"/>
          </a:xfrm>
          <a:prstGeom prst="rect">
            <a:avLst/>
          </a:prstGeom>
        </p:spPr>
      </p:pic>
    </p:spTree>
    <p:extLst>
      <p:ext uri="{BB962C8B-B14F-4D97-AF65-F5344CB8AC3E}">
        <p14:creationId xmlns:p14="http://schemas.microsoft.com/office/powerpoint/2010/main" val="322385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8561F-6762-347D-285F-35CF047585F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5D0FF9D-EFCA-EA71-BBE2-B1177A27FFB9}"/>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Conclusion</a:t>
            </a:r>
          </a:p>
        </p:txBody>
      </p:sp>
      <p:sp>
        <p:nvSpPr>
          <p:cNvPr id="2" name="Content Placeholder 2">
            <a:extLst>
              <a:ext uri="{FF2B5EF4-FFF2-40B4-BE49-F238E27FC236}">
                <a16:creationId xmlns:a16="http://schemas.microsoft.com/office/drawing/2014/main" id="{73A776A9-6C08-1EE0-AB9D-93A0AFC80C11}"/>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dirty="0"/>
              <a:t>Despite all the complexity, most aspects of prompt processing can be left to Hermes Agent and/or other tools to handle for you invisibly</a:t>
            </a:r>
          </a:p>
          <a:p>
            <a:pPr marL="342900" indent="-342900" algn="l">
              <a:buFont typeface="Arial" panose="020B0604020202020204" pitchFamily="34" charset="0"/>
              <a:buChar char="•"/>
            </a:pPr>
            <a:r>
              <a:rPr lang="en-US" kern="0" dirty="0"/>
              <a:t>The single most important thing you can do when prompting – be that sending messages to Hermes or to a model directly via an API request – is to tailor the user prompt to your task, which we cover in the next section</a:t>
            </a:r>
          </a:p>
        </p:txBody>
      </p:sp>
    </p:spTree>
    <p:extLst>
      <p:ext uri="{BB962C8B-B14F-4D97-AF65-F5344CB8AC3E}">
        <p14:creationId xmlns:p14="http://schemas.microsoft.com/office/powerpoint/2010/main" val="351043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5814-B4CD-F7BB-0A18-AFE222B5B2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2EBA678-F571-E96E-177F-F07D20C1BAD5}"/>
              </a:ext>
            </a:extLst>
          </p:cNvPr>
          <p:cNvSpPr txBox="1">
            <a:spLocks/>
          </p:cNvSpPr>
          <p:nvPr/>
        </p:nvSpPr>
        <p:spPr bwMode="auto">
          <a:xfrm>
            <a:off x="228600" y="2314575"/>
            <a:ext cx="8686800" cy="51435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dirty="0"/>
              <a:t>Prompting for Different Tasks</a:t>
            </a:r>
          </a:p>
        </p:txBody>
      </p:sp>
    </p:spTree>
    <p:extLst>
      <p:ext uri="{BB962C8B-B14F-4D97-AF65-F5344CB8AC3E}">
        <p14:creationId xmlns:p14="http://schemas.microsoft.com/office/powerpoint/2010/main" val="423186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02F3-B52D-F9B5-2336-7FFCC3A0D15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F4289985-1FF7-A829-0100-2C2CE4926736}"/>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Same Prompt…Different Output</a:t>
            </a:r>
          </a:p>
        </p:txBody>
      </p:sp>
      <p:sp>
        <p:nvSpPr>
          <p:cNvPr id="2" name="Content Placeholder 2">
            <a:extLst>
              <a:ext uri="{FF2B5EF4-FFF2-40B4-BE49-F238E27FC236}">
                <a16:creationId xmlns:a16="http://schemas.microsoft.com/office/drawing/2014/main" id="{69A869A9-0DB0-3E6C-C2B6-59BD042707D2}"/>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dirty="0"/>
              <a:t>The same prompt can produce a different output for a variety of reasons, including differences in:</a:t>
            </a:r>
          </a:p>
          <a:p>
            <a:pPr marL="692150" lvl="1" indent="-233363"/>
            <a:r>
              <a:rPr lang="en-US" kern="0" dirty="0"/>
              <a:t>Models (e.g., ChatGPT 5.6 Sol vs. Luna)</a:t>
            </a:r>
          </a:p>
          <a:p>
            <a:pPr marL="692150" lvl="1" indent="-233363"/>
            <a:r>
              <a:rPr lang="en-US" kern="0" dirty="0"/>
              <a:t>Reasoning effort (e.g., None vs. High)</a:t>
            </a:r>
          </a:p>
          <a:p>
            <a:pPr marL="692150" lvl="1" indent="-233363"/>
            <a:r>
              <a:rPr lang="en-US" kern="0" dirty="0"/>
              <a:t>Sampling parameters (e.g., temperature, top-p, top-k, seed)</a:t>
            </a:r>
          </a:p>
          <a:p>
            <a:pPr marL="692150" lvl="1" indent="-233363"/>
            <a:r>
              <a:rPr lang="en-US" kern="0" dirty="0"/>
              <a:t>System instructions</a:t>
            </a:r>
          </a:p>
          <a:p>
            <a:pPr marL="692150" lvl="1" indent="-233363"/>
            <a:r>
              <a:rPr lang="en-US" kern="0" dirty="0"/>
              <a:t>Conversation history and other context (e.g., tool results)</a:t>
            </a:r>
          </a:p>
          <a:p>
            <a:pPr marL="692150" lvl="1" indent="-233363"/>
            <a:r>
              <a:rPr lang="en-US" kern="0" dirty="0"/>
              <a:t>Chat templates and/or prompt formatting</a:t>
            </a:r>
          </a:p>
          <a:p>
            <a:pPr marL="692150" lvl="1" indent="-233363"/>
            <a:r>
              <a:rPr lang="en-US" kern="0" dirty="0"/>
              <a:t>Serving implementation, model quantization, hardware, etc.</a:t>
            </a:r>
          </a:p>
        </p:txBody>
      </p:sp>
    </p:spTree>
    <p:extLst>
      <p:ext uri="{BB962C8B-B14F-4D97-AF65-F5344CB8AC3E}">
        <p14:creationId xmlns:p14="http://schemas.microsoft.com/office/powerpoint/2010/main" val="353086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FDFF-4F8C-CE31-F40B-16301FF22FF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C6D9ADD-8ECF-0290-3ABD-E4A4719A60BE}"/>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Your Role</a:t>
            </a:r>
          </a:p>
        </p:txBody>
      </p:sp>
      <p:sp>
        <p:nvSpPr>
          <p:cNvPr id="2" name="Content Placeholder 2">
            <a:extLst>
              <a:ext uri="{FF2B5EF4-FFF2-40B4-BE49-F238E27FC236}">
                <a16:creationId xmlns:a16="http://schemas.microsoft.com/office/drawing/2014/main" id="{67452732-FC94-7DAD-29D3-F8EC05E4CBD4}"/>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Despite these limitations, how you define and structure your prompt is the most critical aspect of maximizing output quality for a task</a:t>
            </a:r>
          </a:p>
          <a:p>
            <a:pPr marL="692150" lvl="1" indent="-233363"/>
            <a:r>
              <a:rPr lang="en-US" kern="0" dirty="0"/>
              <a:t>A poorly-written prompt can make a strong model underperform</a:t>
            </a:r>
          </a:p>
          <a:p>
            <a:pPr marL="692150" lvl="1" indent="-233363"/>
            <a:r>
              <a:rPr lang="en-US" kern="0" dirty="0"/>
              <a:t>A well-written prompt can make a weak model overperform (within the limits of model knowledge/capabilities)</a:t>
            </a:r>
          </a:p>
          <a:p>
            <a:pPr marL="342900" indent="-342900" algn="l">
              <a:buFont typeface="Arial" panose="020B0604020202020204" pitchFamily="34" charset="0"/>
              <a:buChar char="•"/>
            </a:pPr>
            <a:r>
              <a:rPr lang="en-US" kern="0" dirty="0"/>
              <a:t>This section focuses on the anatomy of a good prompt</a:t>
            </a:r>
          </a:p>
        </p:txBody>
      </p:sp>
    </p:spTree>
    <p:extLst>
      <p:ext uri="{BB962C8B-B14F-4D97-AF65-F5344CB8AC3E}">
        <p14:creationId xmlns:p14="http://schemas.microsoft.com/office/powerpoint/2010/main" val="199912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650F8-573A-6F4A-DAD1-8A141DB493A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165AD7D-C340-F82C-15E1-4082C36E02D5}"/>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Markdown</a:t>
            </a:r>
          </a:p>
        </p:txBody>
      </p:sp>
      <p:sp>
        <p:nvSpPr>
          <p:cNvPr id="2" name="Content Placeholder 2">
            <a:extLst>
              <a:ext uri="{FF2B5EF4-FFF2-40B4-BE49-F238E27FC236}">
                <a16:creationId xmlns:a16="http://schemas.microsoft.com/office/drawing/2014/main" id="{89F9C4B6-48BC-AB49-96F3-2D9CB5691FE1}"/>
              </a:ext>
            </a:extLst>
          </p:cNvPr>
          <p:cNvSpPr txBox="1">
            <a:spLocks/>
          </p:cNvSpPr>
          <p:nvPr/>
        </p:nvSpPr>
        <p:spPr bwMode="auto">
          <a:xfrm>
            <a:off x="228600" y="933450"/>
            <a:ext cx="4343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200" kern="0" dirty="0"/>
              <a:t>Prompts are often written in Markdown format (</a:t>
            </a:r>
            <a:r>
              <a:rPr lang="en-US" sz="2200" kern="0" dirty="0">
                <a:hlinkClick r:id="rId3"/>
              </a:rPr>
              <a:t>created</a:t>
            </a:r>
            <a:r>
              <a:rPr lang="en-US" sz="2200" kern="0" dirty="0"/>
              <a:t> by John Gruber in 2004) to help provide text-based structure that LLMs understand</a:t>
            </a:r>
          </a:p>
          <a:p>
            <a:pPr marL="342900" indent="-342900" algn="l">
              <a:buFont typeface="Arial" panose="020B0604020202020204" pitchFamily="34" charset="0"/>
              <a:buChar char="•"/>
            </a:pPr>
            <a:r>
              <a:rPr lang="en-US" sz="2200" kern="0" dirty="0"/>
              <a:t>Various </a:t>
            </a:r>
            <a:r>
              <a:rPr lang="en-US" sz="2200" kern="0" dirty="0">
                <a:hlinkClick r:id="rId4"/>
              </a:rPr>
              <a:t>cheat sheets</a:t>
            </a:r>
            <a:r>
              <a:rPr lang="en-US" sz="2200" kern="0" dirty="0"/>
              <a:t> and </a:t>
            </a:r>
            <a:r>
              <a:rPr lang="en-US" sz="2200" kern="0" dirty="0">
                <a:hlinkClick r:id="rId5"/>
              </a:rPr>
              <a:t>guides</a:t>
            </a:r>
            <a:r>
              <a:rPr lang="en-US" sz="2200" kern="0" dirty="0"/>
              <a:t> exist that can help with basic syntax</a:t>
            </a:r>
          </a:p>
          <a:p>
            <a:pPr marL="342900" indent="-342900" algn="l">
              <a:buFont typeface="Arial" panose="020B0604020202020204" pitchFamily="34" charset="0"/>
              <a:buChar char="•"/>
            </a:pPr>
            <a:r>
              <a:rPr lang="en-US" sz="2200" kern="0" dirty="0"/>
              <a:t>Markdown files use the .md extension</a:t>
            </a:r>
          </a:p>
          <a:p>
            <a:pPr marL="342900" indent="-342900" algn="l">
              <a:buFont typeface="Arial" panose="020B0604020202020204" pitchFamily="34" charset="0"/>
              <a:buChar char="•"/>
            </a:pPr>
            <a:endParaRPr lang="en-US" sz="2200" kern="0" dirty="0"/>
          </a:p>
        </p:txBody>
      </p:sp>
      <p:pic>
        <p:nvPicPr>
          <p:cNvPr id="9" name="Picture 8">
            <a:extLst>
              <a:ext uri="{FF2B5EF4-FFF2-40B4-BE49-F238E27FC236}">
                <a16:creationId xmlns:a16="http://schemas.microsoft.com/office/drawing/2014/main" id="{558C0626-5AEB-BCF0-4C6E-03813215529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4800599" y="29076"/>
            <a:ext cx="4343401" cy="4803405"/>
          </a:xfrm>
          <a:prstGeom prst="rect">
            <a:avLst/>
          </a:prstGeom>
        </p:spPr>
      </p:pic>
      <p:sp>
        <p:nvSpPr>
          <p:cNvPr id="10" name="TextBox 9">
            <a:extLst>
              <a:ext uri="{FF2B5EF4-FFF2-40B4-BE49-F238E27FC236}">
                <a16:creationId xmlns:a16="http://schemas.microsoft.com/office/drawing/2014/main" id="{E85A38F4-2AD8-D6B6-8513-43E79196C58C}"/>
              </a:ext>
            </a:extLst>
          </p:cNvPr>
          <p:cNvSpPr txBox="1"/>
          <p:nvPr/>
        </p:nvSpPr>
        <p:spPr>
          <a:xfrm>
            <a:off x="5067299" y="4735956"/>
            <a:ext cx="3809999"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hlinkClick r:id="rId7"/>
              </a:rPr>
              <a:t>Markdown Guide</a:t>
            </a:r>
            <a:r>
              <a:rPr lang="en-US" sz="1200" dirty="0">
                <a:latin typeface="Arial" panose="020B0604020202020204" pitchFamily="34" charset="0"/>
                <a:cs typeface="Arial" panose="020B0604020202020204" pitchFamily="34" charset="0"/>
              </a:rPr>
              <a:t>, Matt Cone, </a:t>
            </a:r>
            <a:r>
              <a:rPr lang="en-US" sz="1200" dirty="0">
                <a:latin typeface="Arial" panose="020B0604020202020204" pitchFamily="34" charset="0"/>
                <a:cs typeface="Arial" panose="020B0604020202020204" pitchFamily="34" charset="0"/>
                <a:hlinkClick r:id="rId8"/>
              </a:rPr>
              <a:t>CC BY-SA 4.0</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007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E58D7-413C-DC8F-789D-57DF146AB5D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88FE651-4B24-211F-5310-27CECAD37B3B}"/>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Research on Prompt Engineering</a:t>
            </a:r>
          </a:p>
        </p:txBody>
      </p:sp>
      <p:sp>
        <p:nvSpPr>
          <p:cNvPr id="2" name="Content Placeholder 2">
            <a:extLst>
              <a:ext uri="{FF2B5EF4-FFF2-40B4-BE49-F238E27FC236}">
                <a16:creationId xmlns:a16="http://schemas.microsoft.com/office/drawing/2014/main" id="{C5998989-97E6-67DB-89A7-E2E21870AAFE}"/>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There are many rules-of-thumb regarding how prompts should be engineered, although outcomes often vary by task and setting</a:t>
            </a:r>
          </a:p>
          <a:p>
            <a:pPr marL="342900" indent="-342900" algn="l">
              <a:buFont typeface="Arial" panose="020B0604020202020204" pitchFamily="34" charset="0"/>
              <a:buChar char="•"/>
            </a:pPr>
            <a:r>
              <a:rPr lang="en-US" kern="0" dirty="0"/>
              <a:t>For a recent literature review regarding prompt engineering from an educational perspective, see:</a:t>
            </a:r>
          </a:p>
          <a:p>
            <a:pPr marL="692150" lvl="1" indent="-233363"/>
            <a:r>
              <a:rPr lang="en-US" dirty="0">
                <a:hlinkClick r:id="rId3"/>
              </a:rPr>
              <a:t>Prompt engineering in higher education: a systematic review to help inform curricula</a:t>
            </a:r>
            <a:r>
              <a:rPr lang="en-US" dirty="0"/>
              <a:t> (Lee &amp; Palmer 2025)</a:t>
            </a:r>
          </a:p>
        </p:txBody>
      </p:sp>
    </p:spTree>
    <p:extLst>
      <p:ext uri="{BB962C8B-B14F-4D97-AF65-F5344CB8AC3E}">
        <p14:creationId xmlns:p14="http://schemas.microsoft.com/office/powerpoint/2010/main" val="199528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E7E6-4075-DD76-2B71-6984813DF30D}"/>
            </a:ext>
          </a:extLst>
        </p:cNvPr>
        <p:cNvGrpSpPr/>
        <p:nvPr/>
      </p:nvGrpSpPr>
      <p:grpSpPr>
        <a:xfrm>
          <a:off x="0" y="0"/>
          <a:ext cx="0" cy="0"/>
          <a:chOff x="0" y="0"/>
          <a:chExt cx="0" cy="0"/>
        </a:xfrm>
      </p:grpSpPr>
      <p:pic>
        <p:nvPicPr>
          <p:cNvPr id="5" name="Picture 4" descr="A white background with black dots&#10;&#10;AI-generated content may be incorrect.">
            <a:extLst>
              <a:ext uri="{FF2B5EF4-FFF2-40B4-BE49-F238E27FC236}">
                <a16:creationId xmlns:a16="http://schemas.microsoft.com/office/drawing/2014/main" id="{5C2A97C4-707E-C268-72F2-0079CF9B3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6" name="Picture 5" descr="A white background with black dots&#10;&#10;AI-generated content may be incorrect.">
            <a:extLst>
              <a:ext uri="{FF2B5EF4-FFF2-40B4-BE49-F238E27FC236}">
                <a16:creationId xmlns:a16="http://schemas.microsoft.com/office/drawing/2014/main" id="{5C3AEDAC-2144-4874-C669-8FE06F3A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pic>
        <p:nvPicPr>
          <p:cNvPr id="10" name="Picture 9">
            <a:extLst>
              <a:ext uri="{FF2B5EF4-FFF2-40B4-BE49-F238E27FC236}">
                <a16:creationId xmlns:a16="http://schemas.microsoft.com/office/drawing/2014/main" id="{88989894-0CF8-08E3-B641-6B61B83B27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447132"/>
            <a:ext cx="8686800" cy="4249235"/>
          </a:xfrm>
          <a:prstGeom prst="rect">
            <a:avLst/>
          </a:prstGeom>
          <a:ln>
            <a:solidFill>
              <a:schemeClr val="tx1"/>
            </a:solidFill>
          </a:ln>
        </p:spPr>
      </p:pic>
      <p:sp>
        <p:nvSpPr>
          <p:cNvPr id="2" name="TextBox 1">
            <a:extLst>
              <a:ext uri="{FF2B5EF4-FFF2-40B4-BE49-F238E27FC236}">
                <a16:creationId xmlns:a16="http://schemas.microsoft.com/office/drawing/2014/main" id="{EC0048C1-0FE7-01B1-CF31-24E862F0B967}"/>
              </a:ext>
            </a:extLst>
          </p:cNvPr>
          <p:cNvSpPr txBox="1"/>
          <p:nvPr/>
        </p:nvSpPr>
        <p:spPr>
          <a:xfrm>
            <a:off x="5105399" y="4735956"/>
            <a:ext cx="3733800" cy="276999"/>
          </a:xfrm>
          <a:prstGeom prst="rect">
            <a:avLst/>
          </a:prstGeom>
          <a:noFill/>
        </p:spPr>
        <p:txBody>
          <a:bodyPr wrap="square" rtlCol="0">
            <a:spAutoFit/>
          </a:bodyPr>
          <a:lstStyle/>
          <a:p>
            <a:pPr algn="r"/>
            <a:r>
              <a:rPr lang="en-US" sz="1200" b="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rPr>
              <a:t>Lee &amp; Palmer (2025, pg. 14)</a:t>
            </a:r>
          </a:p>
        </p:txBody>
      </p:sp>
    </p:spTree>
    <p:extLst>
      <p:ext uri="{BB962C8B-B14F-4D97-AF65-F5344CB8AC3E}">
        <p14:creationId xmlns:p14="http://schemas.microsoft.com/office/powerpoint/2010/main" val="1373664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862B980-BA22-90E6-19B5-49C9DC633A52}"/>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422E235A-FB9F-114C-173F-F69611B8B5DF}"/>
              </a:ext>
            </a:extLst>
          </p:cNvPr>
          <p:cNvSpPr/>
          <p:nvPr/>
        </p:nvSpPr>
        <p:spPr>
          <a:xfrm>
            <a:off x="152400" y="4476750"/>
            <a:ext cx="2362200" cy="53620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F86EF0FF-BFBB-0DD6-FA75-37E076BB20E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solidFill>
                  <a:schemeClr val="tx1">
                    <a:lumMod val="50000"/>
                    <a:lumOff val="50000"/>
                  </a:schemeClr>
                </a:solidFill>
              </a:rPr>
              <a:t>Example</a:t>
            </a:r>
          </a:p>
        </p:txBody>
      </p:sp>
      <p:sp>
        <p:nvSpPr>
          <p:cNvPr id="2" name="Content Placeholder 2">
            <a:extLst>
              <a:ext uri="{FF2B5EF4-FFF2-40B4-BE49-F238E27FC236}">
                <a16:creationId xmlns:a16="http://schemas.microsoft.com/office/drawing/2014/main" id="{8333EBF5-9BEC-B007-E547-DBD488C3BCE1}"/>
              </a:ext>
            </a:extLst>
          </p:cNvPr>
          <p:cNvSpPr txBox="1">
            <a:spLocks/>
          </p:cNvSpPr>
          <p:nvPr/>
        </p:nvSpPr>
        <p:spPr bwMode="auto">
          <a:xfrm>
            <a:off x="228600" y="742950"/>
            <a:ext cx="4343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300" dirty="0">
                <a:solidFill>
                  <a:schemeClr val="bg1"/>
                </a:solidFill>
              </a:rPr>
              <a:t>You are an academic expert. Please follow all the instructions very carefully.</a:t>
            </a:r>
          </a:p>
          <a:p>
            <a:pPr algn="l"/>
            <a:endParaRPr lang="en-US" sz="1300" dirty="0">
              <a:solidFill>
                <a:schemeClr val="bg1"/>
              </a:solidFill>
            </a:endParaRPr>
          </a:p>
          <a:p>
            <a:pPr algn="l"/>
            <a:endParaRPr lang="en-US" sz="1300" dirty="0">
              <a:solidFill>
                <a:schemeClr val="bg1"/>
              </a:solidFill>
            </a:endParaRPr>
          </a:p>
          <a:p>
            <a:pPr algn="l"/>
            <a:r>
              <a:rPr lang="en-US" sz="1300" dirty="0">
                <a:solidFill>
                  <a:schemeClr val="bg1"/>
                </a:solidFill>
              </a:rPr>
              <a:t>### Consider the following definition of banter:</a:t>
            </a:r>
          </a:p>
          <a:p>
            <a:pPr algn="l"/>
            <a:r>
              <a:rPr lang="en-US" sz="1300" dirty="0">
                <a:solidFill>
                  <a:schemeClr val="bg1"/>
                </a:solidFill>
              </a:rPr>
              <a:t>- Banter is any teasing that runs along a continuum of bonding to biting.</a:t>
            </a:r>
          </a:p>
          <a:p>
            <a:pPr algn="l"/>
            <a:r>
              <a:rPr lang="en-US" sz="1300" dirty="0">
                <a:solidFill>
                  <a:schemeClr val="bg1"/>
                </a:solidFill>
              </a:rPr>
              <a:t>- The banter must be in the dialogue (or a vocalization), not the prose.</a:t>
            </a:r>
          </a:p>
          <a:p>
            <a:pPr algn="l"/>
            <a:r>
              <a:rPr lang="en-US" sz="1300" dirty="0">
                <a:solidFill>
                  <a:schemeClr val="bg1"/>
                </a:solidFill>
              </a:rPr>
              <a:t>- Humorous non-utterances do not count as banter.</a:t>
            </a:r>
          </a:p>
          <a:p>
            <a:pPr algn="l"/>
            <a:endParaRPr lang="en-US" sz="1300" dirty="0">
              <a:solidFill>
                <a:schemeClr val="bg1"/>
              </a:solidFill>
            </a:endParaRPr>
          </a:p>
          <a:p>
            <a:pPr algn="l"/>
            <a:endParaRPr lang="en-US" sz="1300" dirty="0">
              <a:solidFill>
                <a:schemeClr val="bg1"/>
              </a:solidFill>
            </a:endParaRPr>
          </a:p>
          <a:p>
            <a:pPr algn="l"/>
            <a:r>
              <a:rPr lang="en-US" sz="1300" dirty="0">
                <a:solidFill>
                  <a:schemeClr val="bg1"/>
                </a:solidFill>
              </a:rPr>
              <a:t>### Task Overview</a:t>
            </a:r>
          </a:p>
          <a:p>
            <a:pPr algn="l"/>
            <a:r>
              <a:rPr lang="en-US" sz="1300" dirty="0">
                <a:solidFill>
                  <a:schemeClr val="bg1"/>
                </a:solidFill>
              </a:rPr>
              <a:t>You will be given a dialogue pair and asked to determine if banter is present or not. The banter may be present in either or both parts of the dialogue pair, if present at all.</a:t>
            </a:r>
          </a:p>
        </p:txBody>
      </p:sp>
      <p:sp>
        <p:nvSpPr>
          <p:cNvPr id="3" name="Content Placeholder 2">
            <a:extLst>
              <a:ext uri="{FF2B5EF4-FFF2-40B4-BE49-F238E27FC236}">
                <a16:creationId xmlns:a16="http://schemas.microsoft.com/office/drawing/2014/main" id="{31C594BE-4DE5-48BE-653A-DA77806F845B}"/>
              </a:ext>
            </a:extLst>
          </p:cNvPr>
          <p:cNvSpPr txBox="1">
            <a:spLocks/>
          </p:cNvSpPr>
          <p:nvPr/>
        </p:nvSpPr>
        <p:spPr bwMode="auto">
          <a:xfrm>
            <a:off x="4572000" y="133350"/>
            <a:ext cx="42231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300" dirty="0">
                <a:solidFill>
                  <a:schemeClr val="bg1"/>
                </a:solidFill>
              </a:rPr>
              <a:t>### You will make a determination if banter is present or not using this response scale:</a:t>
            </a:r>
          </a:p>
          <a:p>
            <a:pPr algn="l"/>
            <a:r>
              <a:rPr lang="en-US" sz="1300" dirty="0">
                <a:solidFill>
                  <a:schemeClr val="bg1"/>
                </a:solidFill>
              </a:rPr>
              <a:t>0. Banter is not present</a:t>
            </a:r>
          </a:p>
          <a:p>
            <a:pPr algn="l"/>
            <a:r>
              <a:rPr lang="en-US" sz="1300" dirty="0">
                <a:solidFill>
                  <a:schemeClr val="bg1"/>
                </a:solidFill>
              </a:rPr>
              <a:t>1. Banter is present</a:t>
            </a:r>
          </a:p>
          <a:p>
            <a:pPr algn="l"/>
            <a:endParaRPr lang="en-US" sz="1300" dirty="0">
              <a:solidFill>
                <a:schemeClr val="bg1"/>
              </a:solidFill>
            </a:endParaRPr>
          </a:p>
          <a:p>
            <a:pPr algn="l"/>
            <a:endParaRPr lang="en-US" sz="1300" dirty="0">
              <a:solidFill>
                <a:schemeClr val="bg1"/>
              </a:solidFill>
            </a:endParaRPr>
          </a:p>
          <a:p>
            <a:pPr algn="l"/>
            <a:r>
              <a:rPr lang="en-US" sz="1300" dirty="0">
                <a:solidFill>
                  <a:schemeClr val="bg1"/>
                </a:solidFill>
              </a:rPr>
              <a:t>### Dialogue Pair</a:t>
            </a:r>
          </a:p>
          <a:p>
            <a:pPr algn="l"/>
            <a:r>
              <a:rPr lang="en-US" sz="1300" dirty="0">
                <a:solidFill>
                  <a:schemeClr val="bg1"/>
                </a:solidFill>
              </a:rPr>
              <a:t># Part A:</a:t>
            </a:r>
          </a:p>
          <a:p>
            <a:pPr algn="l"/>
            <a:r>
              <a:rPr lang="en-US" sz="1300" dirty="0">
                <a:solidFill>
                  <a:schemeClr val="bg1"/>
                </a:solidFill>
              </a:rPr>
              <a:t>&lt;inserted by script&gt;</a:t>
            </a:r>
          </a:p>
          <a:p>
            <a:pPr algn="l"/>
            <a:r>
              <a:rPr lang="en-US" sz="1300" dirty="0">
                <a:solidFill>
                  <a:schemeClr val="bg1"/>
                </a:solidFill>
              </a:rPr>
              <a:t># Part B:</a:t>
            </a:r>
          </a:p>
          <a:p>
            <a:pPr algn="l"/>
            <a:r>
              <a:rPr lang="en-US" sz="1300" dirty="0">
                <a:solidFill>
                  <a:schemeClr val="bg1"/>
                </a:solidFill>
              </a:rPr>
              <a:t>&lt;inserted by script&gt;</a:t>
            </a:r>
          </a:p>
          <a:p>
            <a:pPr algn="l"/>
            <a:endParaRPr lang="en-US" sz="1300" dirty="0">
              <a:solidFill>
                <a:schemeClr val="bg1"/>
              </a:solidFill>
            </a:endParaRPr>
          </a:p>
          <a:p>
            <a:pPr algn="l"/>
            <a:endParaRPr lang="en-US" sz="1300" dirty="0">
              <a:solidFill>
                <a:schemeClr val="bg1"/>
              </a:solidFill>
            </a:endParaRPr>
          </a:p>
          <a:p>
            <a:pPr algn="l"/>
            <a:r>
              <a:rPr lang="en-US" sz="1300" dirty="0">
                <a:solidFill>
                  <a:schemeClr val="bg1"/>
                </a:solidFill>
              </a:rPr>
              <a:t>### Your Task</a:t>
            </a:r>
          </a:p>
          <a:p>
            <a:pPr algn="l"/>
            <a:r>
              <a:rPr lang="en-US" sz="1300" dirty="0">
                <a:solidFill>
                  <a:schemeClr val="bg1"/>
                </a:solidFill>
              </a:rPr>
              <a:t>Answer the following question immediately by stating one response from the scale above verbatim.</a:t>
            </a:r>
          </a:p>
          <a:p>
            <a:pPr algn="l"/>
            <a:r>
              <a:rPr lang="en-US" sz="1300" dirty="0">
                <a:solidFill>
                  <a:schemeClr val="bg1"/>
                </a:solidFill>
              </a:rPr>
              <a:t>YOUR RESPONSE MUST MATCH THE SCALE EXACTLY WITHOUT ALTERATIONS, INCLUDING THE SCALE RESPONSE NUMBER.</a:t>
            </a:r>
          </a:p>
          <a:p>
            <a:pPr algn="l"/>
            <a:endParaRPr lang="en-US" sz="1300" dirty="0">
              <a:solidFill>
                <a:schemeClr val="bg1"/>
              </a:solidFill>
            </a:endParaRPr>
          </a:p>
          <a:p>
            <a:pPr algn="l"/>
            <a:r>
              <a:rPr lang="en-US" sz="1300" dirty="0">
                <a:solidFill>
                  <a:schemeClr val="bg1"/>
                </a:solidFill>
              </a:rPr>
              <a:t>Does the dialogue pair contain banter?</a:t>
            </a:r>
          </a:p>
        </p:txBody>
      </p:sp>
      <p:sp>
        <p:nvSpPr>
          <p:cNvPr id="8" name="TextBox 7">
            <a:extLst>
              <a:ext uri="{FF2B5EF4-FFF2-40B4-BE49-F238E27FC236}">
                <a16:creationId xmlns:a16="http://schemas.microsoft.com/office/drawing/2014/main" id="{DAB067C3-641D-AA8D-41F4-D1B3DC7EB0C2}"/>
              </a:ext>
            </a:extLst>
          </p:cNvPr>
          <p:cNvSpPr txBox="1"/>
          <p:nvPr/>
        </p:nvSpPr>
        <p:spPr>
          <a:xfrm>
            <a:off x="140866" y="4561016"/>
            <a:ext cx="4343400" cy="461665"/>
          </a:xfrm>
          <a:prstGeom prst="rect">
            <a:avLst/>
          </a:prstGeom>
          <a:noFill/>
          <a:ln>
            <a:solidFill>
              <a:schemeClr val="tx1">
                <a:lumMod val="50000"/>
                <a:lumOff val="50000"/>
              </a:schemeClr>
            </a:solidFill>
          </a:ln>
        </p:spPr>
        <p:txBody>
          <a:bodyPr wrap="square" rtlCol="0">
            <a:spAutoFit/>
          </a:bodyPr>
          <a:lstStyle/>
          <a:p>
            <a:pPr algn="ctr"/>
            <a:r>
              <a:rPr lang="en-US" sz="1200" b="1" dirty="0">
                <a:solidFill>
                  <a:schemeClr val="tx1">
                    <a:lumMod val="50000"/>
                    <a:lumOff val="50000"/>
                  </a:schemeClr>
                </a:solidFill>
                <a:latin typeface="Arial" panose="020B0604020202020204" pitchFamily="34" charset="0"/>
                <a:cs typeface="Arial" panose="020B0604020202020204" pitchFamily="34" charset="0"/>
              </a:rPr>
              <a:t>Source: </a:t>
            </a:r>
            <a:r>
              <a:rPr lang="en-US" sz="1200" dirty="0">
                <a:solidFill>
                  <a:schemeClr val="tx1">
                    <a:lumMod val="50000"/>
                    <a:lumOff val="50000"/>
                  </a:schemeClr>
                </a:solidFill>
                <a:latin typeface="Arial" panose="020B0604020202020204" pitchFamily="34" charset="0"/>
                <a:cs typeface="Arial" panose="020B0604020202020204" pitchFamily="34" charset="0"/>
              </a:rPr>
              <a:t>Dobolyi, K., Tamburrino, S., Borden, Z., &amp; Faruque (2026, pgs. 58-59) </a:t>
            </a:r>
          </a:p>
        </p:txBody>
      </p:sp>
      <p:sp>
        <p:nvSpPr>
          <p:cNvPr id="9" name="TextBox 8">
            <a:extLst>
              <a:ext uri="{FF2B5EF4-FFF2-40B4-BE49-F238E27FC236}">
                <a16:creationId xmlns:a16="http://schemas.microsoft.com/office/drawing/2014/main" id="{34011181-688D-854D-EF37-D0646BB71DC1}"/>
              </a:ext>
            </a:extLst>
          </p:cNvPr>
          <p:cNvSpPr txBox="1"/>
          <p:nvPr/>
        </p:nvSpPr>
        <p:spPr>
          <a:xfrm>
            <a:off x="2209800" y="74652"/>
            <a:ext cx="2286000" cy="553998"/>
          </a:xfrm>
          <a:prstGeom prst="rect">
            <a:avLst/>
          </a:prstGeom>
          <a:solidFill>
            <a:schemeClr val="tx1"/>
          </a:solidFill>
          <a:ln w="38100">
            <a:solidFill>
              <a:srgbClr val="FF0000"/>
            </a:solidFill>
          </a:ln>
        </p:spPr>
        <p:txBody>
          <a:bodyPr wrap="square" rtlCol="0">
            <a:spAutoFit/>
          </a:bodyPr>
          <a:lstStyle/>
          <a:p>
            <a:pPr algn="ctr"/>
            <a:r>
              <a:rPr lang="en-US" sz="1500" b="1" dirty="0">
                <a:solidFill>
                  <a:srgbClr val="FF0000"/>
                </a:solidFill>
                <a:latin typeface="Arial" panose="020B0604020202020204" pitchFamily="34" charset="0"/>
                <a:cs typeface="Arial" panose="020B0604020202020204" pitchFamily="34" charset="0"/>
              </a:rPr>
              <a:t>1. Define role: </a:t>
            </a:r>
            <a:r>
              <a:rPr lang="en-US" sz="1500" dirty="0">
                <a:solidFill>
                  <a:srgbClr val="FF0000"/>
                </a:solidFill>
                <a:latin typeface="Arial" panose="020B0604020202020204" pitchFamily="34" charset="0"/>
                <a:cs typeface="Arial" panose="020B0604020202020204" pitchFamily="34" charset="0"/>
              </a:rPr>
              <a:t>Explain to the AI agent who it is</a:t>
            </a:r>
          </a:p>
        </p:txBody>
      </p:sp>
      <p:cxnSp>
        <p:nvCxnSpPr>
          <p:cNvPr id="11" name="Elbow Connector 10">
            <a:extLst>
              <a:ext uri="{FF2B5EF4-FFF2-40B4-BE49-F238E27FC236}">
                <a16:creationId xmlns:a16="http://schemas.microsoft.com/office/drawing/2014/main" id="{4A195CA3-FEF1-948C-922F-2AFF55353F05}"/>
              </a:ext>
            </a:extLst>
          </p:cNvPr>
          <p:cNvCxnSpPr>
            <a:cxnSpLocks/>
            <a:stCxn id="9" idx="1"/>
          </p:cNvCxnSpPr>
          <p:nvPr/>
        </p:nvCxnSpPr>
        <p:spPr>
          <a:xfrm rot="10800000" flipV="1">
            <a:off x="2057400" y="351651"/>
            <a:ext cx="152400" cy="429400"/>
          </a:xfrm>
          <a:prstGeom prst="bentConnector2">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8C64DD12-9B5E-2402-22CE-F24395E6FFE2}"/>
              </a:ext>
            </a:extLst>
          </p:cNvPr>
          <p:cNvSpPr txBox="1"/>
          <p:nvPr/>
        </p:nvSpPr>
        <p:spPr>
          <a:xfrm>
            <a:off x="2312566" y="1134130"/>
            <a:ext cx="2259434" cy="523220"/>
          </a:xfrm>
          <a:prstGeom prst="rect">
            <a:avLst/>
          </a:prstGeom>
          <a:solidFill>
            <a:schemeClr val="tx1"/>
          </a:solidFill>
          <a:ln w="38100">
            <a:solidFill>
              <a:srgbClr val="FF7003"/>
            </a:solidFill>
          </a:ln>
        </p:spPr>
        <p:txBody>
          <a:bodyPr wrap="square" rtlCol="0">
            <a:spAutoFit/>
          </a:bodyPr>
          <a:lstStyle/>
          <a:p>
            <a:pPr algn="ctr"/>
            <a:r>
              <a:rPr lang="en-US" sz="1400" b="1" dirty="0">
                <a:solidFill>
                  <a:srgbClr val="FF7003"/>
                </a:solidFill>
                <a:latin typeface="Arial" panose="020B0604020202020204" pitchFamily="34" charset="0"/>
                <a:cs typeface="Arial" panose="020B0604020202020204" pitchFamily="34" charset="0"/>
              </a:rPr>
              <a:t>2. Provide background: </a:t>
            </a:r>
            <a:r>
              <a:rPr lang="en-US" sz="1400" dirty="0">
                <a:solidFill>
                  <a:srgbClr val="FF7003"/>
                </a:solidFill>
                <a:latin typeface="Arial" panose="020B0604020202020204" pitchFamily="34" charset="0"/>
                <a:cs typeface="Arial" panose="020B0604020202020204" pitchFamily="34" charset="0"/>
              </a:rPr>
              <a:t>Inform AI agent of context</a:t>
            </a:r>
          </a:p>
        </p:txBody>
      </p:sp>
      <p:cxnSp>
        <p:nvCxnSpPr>
          <p:cNvPr id="21" name="Elbow Connector 20">
            <a:extLst>
              <a:ext uri="{FF2B5EF4-FFF2-40B4-BE49-F238E27FC236}">
                <a16:creationId xmlns:a16="http://schemas.microsoft.com/office/drawing/2014/main" id="{4BBE8422-4E39-42B5-6E42-AB1E20FA1DEC}"/>
              </a:ext>
            </a:extLst>
          </p:cNvPr>
          <p:cNvCxnSpPr>
            <a:cxnSpLocks/>
            <a:stCxn id="20" idx="1"/>
          </p:cNvCxnSpPr>
          <p:nvPr/>
        </p:nvCxnSpPr>
        <p:spPr>
          <a:xfrm rot="10800000" flipV="1">
            <a:off x="2133600" y="1395739"/>
            <a:ext cx="178966" cy="310219"/>
          </a:xfrm>
          <a:prstGeom prst="bentConnector2">
            <a:avLst/>
          </a:prstGeom>
          <a:ln w="38100">
            <a:solidFill>
              <a:srgbClr val="FF7003"/>
            </a:solidFill>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A8CBD670-059E-237E-70D6-21E097D39955}"/>
              </a:ext>
            </a:extLst>
          </p:cNvPr>
          <p:cNvSpPr txBox="1"/>
          <p:nvPr/>
        </p:nvSpPr>
        <p:spPr>
          <a:xfrm>
            <a:off x="1828800" y="3105150"/>
            <a:ext cx="2667000" cy="523220"/>
          </a:xfrm>
          <a:prstGeom prst="rect">
            <a:avLst/>
          </a:prstGeom>
          <a:solidFill>
            <a:schemeClr val="tx1"/>
          </a:solidFill>
          <a:ln w="38100">
            <a:solidFill>
              <a:srgbClr val="FFFF00"/>
            </a:solidFill>
          </a:ln>
        </p:spPr>
        <p:txBody>
          <a:bodyPr wrap="square" rtlCol="0">
            <a:spAutoFit/>
          </a:bodyPr>
          <a:lstStyle/>
          <a:p>
            <a:pPr algn="ctr"/>
            <a:r>
              <a:rPr lang="en-US" sz="1400" b="1" dirty="0">
                <a:solidFill>
                  <a:srgbClr val="FFFF00"/>
                </a:solidFill>
                <a:latin typeface="Arial" panose="020B0604020202020204" pitchFamily="34" charset="0"/>
                <a:cs typeface="Arial" panose="020B0604020202020204" pitchFamily="34" charset="0"/>
              </a:rPr>
              <a:t>3. Define objectives: </a:t>
            </a:r>
            <a:r>
              <a:rPr lang="en-US" sz="1400" dirty="0">
                <a:solidFill>
                  <a:srgbClr val="FFFF00"/>
                </a:solidFill>
                <a:latin typeface="Arial" panose="020B0604020202020204" pitchFamily="34" charset="0"/>
                <a:cs typeface="Arial" panose="020B0604020202020204" pitchFamily="34" charset="0"/>
              </a:rPr>
              <a:t>Explain to the AI agent your goals</a:t>
            </a:r>
          </a:p>
        </p:txBody>
      </p:sp>
      <p:cxnSp>
        <p:nvCxnSpPr>
          <p:cNvPr id="25" name="Elbow Connector 24">
            <a:extLst>
              <a:ext uri="{FF2B5EF4-FFF2-40B4-BE49-F238E27FC236}">
                <a16:creationId xmlns:a16="http://schemas.microsoft.com/office/drawing/2014/main" id="{521905BF-A392-29E9-F720-26F5B4A558BC}"/>
              </a:ext>
            </a:extLst>
          </p:cNvPr>
          <p:cNvCxnSpPr>
            <a:cxnSpLocks/>
            <a:stCxn id="24" idx="1"/>
          </p:cNvCxnSpPr>
          <p:nvPr/>
        </p:nvCxnSpPr>
        <p:spPr>
          <a:xfrm rot="10800000" flipV="1">
            <a:off x="1676400" y="3366760"/>
            <a:ext cx="152400" cy="205948"/>
          </a:xfrm>
          <a:prstGeom prst="bentConnector2">
            <a:avLst/>
          </a:prstGeom>
          <a:ln w="38100">
            <a:solidFill>
              <a:srgbClr val="FFFF00"/>
            </a:solidFill>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4512C5D6-CEC9-AD83-B641-6D9140E8513E}"/>
              </a:ext>
            </a:extLst>
          </p:cNvPr>
          <p:cNvSpPr txBox="1"/>
          <p:nvPr/>
        </p:nvSpPr>
        <p:spPr>
          <a:xfrm>
            <a:off x="6324600" y="1047750"/>
            <a:ext cx="2667000" cy="523220"/>
          </a:xfrm>
          <a:prstGeom prst="rect">
            <a:avLst/>
          </a:prstGeom>
          <a:solidFill>
            <a:schemeClr val="tx1"/>
          </a:solidFill>
          <a:ln w="38100">
            <a:solidFill>
              <a:srgbClr val="00FA00"/>
            </a:solidFill>
          </a:ln>
        </p:spPr>
        <p:txBody>
          <a:bodyPr wrap="square" rtlCol="0">
            <a:spAutoFit/>
          </a:bodyPr>
          <a:lstStyle/>
          <a:p>
            <a:pPr algn="ctr"/>
            <a:r>
              <a:rPr lang="en-US" sz="1400" b="1" dirty="0">
                <a:solidFill>
                  <a:srgbClr val="00FA00"/>
                </a:solidFill>
                <a:latin typeface="Arial" panose="020B0604020202020204" pitchFamily="34" charset="0"/>
                <a:cs typeface="Arial" panose="020B0604020202020204" pitchFamily="34" charset="0"/>
              </a:rPr>
              <a:t>4. Set parameters: </a:t>
            </a:r>
            <a:r>
              <a:rPr lang="en-US" sz="1400" dirty="0">
                <a:solidFill>
                  <a:srgbClr val="00FA00"/>
                </a:solidFill>
                <a:latin typeface="Arial" panose="020B0604020202020204" pitchFamily="34" charset="0"/>
                <a:cs typeface="Arial" panose="020B0604020202020204" pitchFamily="34" charset="0"/>
              </a:rPr>
              <a:t>Allow or limit tolerances</a:t>
            </a:r>
          </a:p>
        </p:txBody>
      </p:sp>
      <p:cxnSp>
        <p:nvCxnSpPr>
          <p:cNvPr id="35" name="Elbow Connector 34">
            <a:extLst>
              <a:ext uri="{FF2B5EF4-FFF2-40B4-BE49-F238E27FC236}">
                <a16:creationId xmlns:a16="http://schemas.microsoft.com/office/drawing/2014/main" id="{65383302-B106-3112-E577-5127D6E28B2B}"/>
              </a:ext>
            </a:extLst>
          </p:cNvPr>
          <p:cNvCxnSpPr>
            <a:cxnSpLocks/>
            <a:stCxn id="34" idx="1"/>
          </p:cNvCxnSpPr>
          <p:nvPr/>
        </p:nvCxnSpPr>
        <p:spPr>
          <a:xfrm rot="10800000">
            <a:off x="6172200" y="1047752"/>
            <a:ext cx="152400" cy="261608"/>
          </a:xfrm>
          <a:prstGeom prst="bentConnector2">
            <a:avLst/>
          </a:prstGeom>
          <a:ln w="38100">
            <a:solidFill>
              <a:srgbClr val="00FA00"/>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7EFC6E5E-3550-7713-EEDD-923F2AA63562}"/>
              </a:ext>
            </a:extLst>
          </p:cNvPr>
          <p:cNvSpPr txBox="1"/>
          <p:nvPr/>
        </p:nvSpPr>
        <p:spPr>
          <a:xfrm>
            <a:off x="6324600" y="1746706"/>
            <a:ext cx="2470550" cy="738664"/>
          </a:xfrm>
          <a:prstGeom prst="rect">
            <a:avLst/>
          </a:prstGeom>
          <a:solidFill>
            <a:schemeClr val="tx1"/>
          </a:solidFill>
          <a:ln w="38100">
            <a:solidFill>
              <a:srgbClr val="0432FF"/>
            </a:solidFill>
          </a:ln>
        </p:spPr>
        <p:txBody>
          <a:bodyPr wrap="square" rtlCol="0">
            <a:spAutoFit/>
          </a:bodyPr>
          <a:lstStyle/>
          <a:p>
            <a:pPr algn="ctr"/>
            <a:r>
              <a:rPr lang="en-US" sz="1400" b="1" dirty="0">
                <a:solidFill>
                  <a:srgbClr val="0432FF"/>
                </a:solidFill>
                <a:latin typeface="Arial" panose="020B0604020202020204" pitchFamily="34" charset="0"/>
                <a:cs typeface="Arial" panose="020B0604020202020204" pitchFamily="34" charset="0"/>
              </a:rPr>
              <a:t>5. Be precise: </a:t>
            </a:r>
            <a:r>
              <a:rPr lang="en-US" sz="1400" dirty="0">
                <a:solidFill>
                  <a:srgbClr val="0432FF"/>
                </a:solidFill>
                <a:latin typeface="Arial" panose="020B0604020202020204" pitchFamily="34" charset="0"/>
                <a:cs typeface="Arial" panose="020B0604020202020204" pitchFamily="34" charset="0"/>
              </a:rPr>
              <a:t>Ensure your instruction or question is concise and explicit</a:t>
            </a:r>
          </a:p>
        </p:txBody>
      </p:sp>
      <p:cxnSp>
        <p:nvCxnSpPr>
          <p:cNvPr id="38" name="Elbow Connector 37">
            <a:extLst>
              <a:ext uri="{FF2B5EF4-FFF2-40B4-BE49-F238E27FC236}">
                <a16:creationId xmlns:a16="http://schemas.microsoft.com/office/drawing/2014/main" id="{2F1C17A7-4BBB-27A6-C87D-3339C190532E}"/>
              </a:ext>
            </a:extLst>
          </p:cNvPr>
          <p:cNvCxnSpPr>
            <a:cxnSpLocks/>
            <a:stCxn id="37" idx="1"/>
          </p:cNvCxnSpPr>
          <p:nvPr/>
        </p:nvCxnSpPr>
        <p:spPr>
          <a:xfrm rot="10800000" flipV="1">
            <a:off x="6172200" y="2116038"/>
            <a:ext cx="152400" cy="1370112"/>
          </a:xfrm>
          <a:prstGeom prst="bentConnector2">
            <a:avLst/>
          </a:prstGeom>
          <a:ln w="38100">
            <a:solidFill>
              <a:srgbClr val="0432FF"/>
            </a:solidFill>
            <a:tailEnd type="triangle"/>
          </a:ln>
        </p:spPr>
        <p:style>
          <a:lnRef idx="1">
            <a:schemeClr val="dk1"/>
          </a:lnRef>
          <a:fillRef idx="0">
            <a:schemeClr val="dk1"/>
          </a:fillRef>
          <a:effectRef idx="0">
            <a:schemeClr val="dk1"/>
          </a:effectRef>
          <a:fontRef idx="minor">
            <a:schemeClr val="tx1"/>
          </a:fontRef>
        </p:style>
      </p:cxnSp>
      <p:cxnSp>
        <p:nvCxnSpPr>
          <p:cNvPr id="42" name="Elbow Connector 41">
            <a:extLst>
              <a:ext uri="{FF2B5EF4-FFF2-40B4-BE49-F238E27FC236}">
                <a16:creationId xmlns:a16="http://schemas.microsoft.com/office/drawing/2014/main" id="{04D8EF1D-3095-4C0F-BF39-BE33E756F4A5}"/>
              </a:ext>
            </a:extLst>
          </p:cNvPr>
          <p:cNvCxnSpPr>
            <a:cxnSpLocks/>
            <a:stCxn id="37" idx="3"/>
          </p:cNvCxnSpPr>
          <p:nvPr/>
        </p:nvCxnSpPr>
        <p:spPr>
          <a:xfrm flipH="1">
            <a:off x="7467600" y="2116038"/>
            <a:ext cx="1327550" cy="2665512"/>
          </a:xfrm>
          <a:prstGeom prst="bentConnector4">
            <a:avLst>
              <a:gd name="adj1" fmla="val -17220"/>
              <a:gd name="adj2" fmla="val 92186"/>
            </a:avLst>
          </a:prstGeom>
          <a:ln w="38100">
            <a:solidFill>
              <a:srgbClr val="0432FF"/>
            </a:solidFill>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568812AD-DA8C-45DC-B755-F936D002EAC0}"/>
              </a:ext>
            </a:extLst>
          </p:cNvPr>
          <p:cNvSpPr txBox="1"/>
          <p:nvPr/>
        </p:nvSpPr>
        <p:spPr>
          <a:xfrm>
            <a:off x="6509150" y="2628096"/>
            <a:ext cx="2362200" cy="738664"/>
          </a:xfrm>
          <a:prstGeom prst="rect">
            <a:avLst/>
          </a:prstGeom>
          <a:solidFill>
            <a:schemeClr val="tx1"/>
          </a:solidFill>
          <a:ln w="38100">
            <a:solidFill>
              <a:srgbClr val="FF40FF"/>
            </a:solidFill>
          </a:ln>
        </p:spPr>
        <p:txBody>
          <a:bodyPr wrap="square" rtlCol="0">
            <a:spAutoFit/>
          </a:bodyPr>
          <a:lstStyle/>
          <a:p>
            <a:pPr algn="ctr"/>
            <a:r>
              <a:rPr lang="en-US" sz="1400" b="1" dirty="0">
                <a:solidFill>
                  <a:srgbClr val="FF40FF"/>
                </a:solidFill>
                <a:latin typeface="Arial" panose="020B0604020202020204" pitchFamily="34" charset="0"/>
                <a:cs typeface="Arial" panose="020B0604020202020204" pitchFamily="34" charset="0"/>
              </a:rPr>
              <a:t>6. Specify format: </a:t>
            </a:r>
            <a:r>
              <a:rPr lang="en-US" sz="1400" dirty="0">
                <a:solidFill>
                  <a:srgbClr val="FF40FF"/>
                </a:solidFill>
                <a:latin typeface="Arial" panose="020B0604020202020204" pitchFamily="34" charset="0"/>
                <a:cs typeface="Arial" panose="020B0604020202020204" pitchFamily="34" charset="0"/>
              </a:rPr>
              <a:t>Describe or even provide a template</a:t>
            </a:r>
          </a:p>
        </p:txBody>
      </p:sp>
      <p:cxnSp>
        <p:nvCxnSpPr>
          <p:cNvPr id="70" name="Elbow Connector 69">
            <a:extLst>
              <a:ext uri="{FF2B5EF4-FFF2-40B4-BE49-F238E27FC236}">
                <a16:creationId xmlns:a16="http://schemas.microsoft.com/office/drawing/2014/main" id="{5BCC186A-D846-B7D0-D22B-AC4065B18D5E}"/>
              </a:ext>
            </a:extLst>
          </p:cNvPr>
          <p:cNvCxnSpPr>
            <a:cxnSpLocks/>
          </p:cNvCxnSpPr>
          <p:nvPr/>
        </p:nvCxnSpPr>
        <p:spPr>
          <a:xfrm rot="5400000">
            <a:off x="8189426" y="3483134"/>
            <a:ext cx="722103" cy="489354"/>
          </a:xfrm>
          <a:prstGeom prst="bentConnector3">
            <a:avLst>
              <a:gd name="adj1" fmla="val 67588"/>
            </a:avLst>
          </a:prstGeom>
          <a:ln w="38100">
            <a:solidFill>
              <a:srgbClr val="FF40FF"/>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8443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3" presetClass="emph" presetSubtype="2" fill="hold" nodeType="withEffect">
                                  <p:stCondLst>
                                    <p:cond delay="0"/>
                                  </p:stCondLst>
                                  <p:childTnLst>
                                    <p:animClr clrSpc="rgb" dir="cw">
                                      <p:cBhvr override="childStyle">
                                        <p:cTn id="10" dur="1000" fill="hold"/>
                                        <p:tgtEl>
                                          <p:spTgt spid="2">
                                            <p:txEl>
                                              <p:pRg st="0" end="0"/>
                                            </p:txEl>
                                          </p:spTgt>
                                        </p:tgtEl>
                                        <p:attrNameLst>
                                          <p:attrName>style.color</p:attrName>
                                        </p:attrNameLst>
                                      </p:cBhvr>
                                      <p:to>
                                        <a:srgbClr val="FF260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3" presetClass="emph" presetSubtype="2" fill="hold" nodeType="withEffect">
                                  <p:stCondLst>
                                    <p:cond delay="0"/>
                                  </p:stCondLst>
                                  <p:childTnLst>
                                    <p:animClr clrSpc="rgb" dir="cw">
                                      <p:cBhvr override="childStyle">
                                        <p:cTn id="18" dur="1000" fill="hold"/>
                                        <p:tgtEl>
                                          <p:spTgt spid="2">
                                            <p:txEl>
                                              <p:pRg st="3" end="3"/>
                                            </p:txEl>
                                          </p:spTgt>
                                        </p:tgtEl>
                                        <p:attrNameLst>
                                          <p:attrName>style.color</p:attrName>
                                        </p:attrNameLst>
                                      </p:cBhvr>
                                      <p:to>
                                        <a:srgbClr val="FF7004"/>
                                      </p:to>
                                    </p:animClr>
                                  </p:childTnLst>
                                </p:cTn>
                              </p:par>
                              <p:par>
                                <p:cTn id="19" presetID="3" presetClass="emph" presetSubtype="2" fill="hold" nodeType="withEffect">
                                  <p:stCondLst>
                                    <p:cond delay="0"/>
                                  </p:stCondLst>
                                  <p:childTnLst>
                                    <p:animClr clrSpc="rgb" dir="cw">
                                      <p:cBhvr override="childStyle">
                                        <p:cTn id="20" dur="1000" fill="hold"/>
                                        <p:tgtEl>
                                          <p:spTgt spid="2">
                                            <p:txEl>
                                              <p:pRg st="4" end="4"/>
                                            </p:txEl>
                                          </p:spTgt>
                                        </p:tgtEl>
                                        <p:attrNameLst>
                                          <p:attrName>style.color</p:attrName>
                                        </p:attrNameLst>
                                      </p:cBhvr>
                                      <p:to>
                                        <a:srgbClr val="FF7004"/>
                                      </p:to>
                                    </p:animClr>
                                  </p:childTnLst>
                                </p:cTn>
                              </p:par>
                              <p:par>
                                <p:cTn id="21" presetID="3" presetClass="emph" presetSubtype="2" fill="hold" nodeType="withEffect">
                                  <p:stCondLst>
                                    <p:cond delay="0"/>
                                  </p:stCondLst>
                                  <p:childTnLst>
                                    <p:animClr clrSpc="rgb" dir="cw">
                                      <p:cBhvr override="childStyle">
                                        <p:cTn id="22" dur="1000" fill="hold"/>
                                        <p:tgtEl>
                                          <p:spTgt spid="2">
                                            <p:txEl>
                                              <p:pRg st="5" end="5"/>
                                            </p:txEl>
                                          </p:spTgt>
                                        </p:tgtEl>
                                        <p:attrNameLst>
                                          <p:attrName>style.color</p:attrName>
                                        </p:attrNameLst>
                                      </p:cBhvr>
                                      <p:to>
                                        <a:srgbClr val="FF7004"/>
                                      </p:to>
                                    </p:animClr>
                                  </p:childTnLst>
                                </p:cTn>
                              </p:par>
                              <p:par>
                                <p:cTn id="23" presetID="3" presetClass="emph" presetSubtype="2" fill="hold" nodeType="withEffect">
                                  <p:stCondLst>
                                    <p:cond delay="0"/>
                                  </p:stCondLst>
                                  <p:childTnLst>
                                    <p:animClr clrSpc="rgb" dir="cw">
                                      <p:cBhvr override="childStyle">
                                        <p:cTn id="24" dur="1000" fill="hold"/>
                                        <p:tgtEl>
                                          <p:spTgt spid="2">
                                            <p:txEl>
                                              <p:pRg st="6" end="6"/>
                                            </p:txEl>
                                          </p:spTgt>
                                        </p:tgtEl>
                                        <p:attrNameLst>
                                          <p:attrName>style.color</p:attrName>
                                        </p:attrNameLst>
                                      </p:cBhvr>
                                      <p:to>
                                        <a:srgbClr val="FF7004"/>
                                      </p:to>
                                    </p:animClr>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3" presetClass="emph" presetSubtype="2" fill="hold" nodeType="withEffect">
                                  <p:stCondLst>
                                    <p:cond delay="0"/>
                                  </p:stCondLst>
                                  <p:childTnLst>
                                    <p:animClr clrSpc="rgb" dir="cw">
                                      <p:cBhvr override="childStyle">
                                        <p:cTn id="32" dur="1000" fill="hold"/>
                                        <p:tgtEl>
                                          <p:spTgt spid="2">
                                            <p:txEl>
                                              <p:pRg st="9" end="9"/>
                                            </p:txEl>
                                          </p:spTgt>
                                        </p:tgtEl>
                                        <p:attrNameLst>
                                          <p:attrName>style.color</p:attrName>
                                        </p:attrNameLst>
                                      </p:cBhvr>
                                      <p:to>
                                        <a:srgbClr val="FFFF00"/>
                                      </p:to>
                                    </p:animClr>
                                  </p:childTnLst>
                                </p:cTn>
                              </p:par>
                              <p:par>
                                <p:cTn id="33" presetID="3" presetClass="emph" presetSubtype="2" fill="hold" nodeType="withEffect">
                                  <p:stCondLst>
                                    <p:cond delay="0"/>
                                  </p:stCondLst>
                                  <p:childTnLst>
                                    <p:animClr clrSpc="rgb" dir="cw">
                                      <p:cBhvr override="childStyle">
                                        <p:cTn id="34" dur="1000" fill="hold"/>
                                        <p:tgtEl>
                                          <p:spTgt spid="2">
                                            <p:txEl>
                                              <p:pRg st="10" end="10"/>
                                            </p:txEl>
                                          </p:spTgt>
                                        </p:tgtEl>
                                        <p:attrNameLst>
                                          <p:attrName>style.color</p:attrName>
                                        </p:attrNameLst>
                                      </p:cBhvr>
                                      <p:to>
                                        <a:srgbClr val="FFFF00"/>
                                      </p:to>
                                    </p:animClr>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3" presetClass="emph" presetSubtype="2" fill="hold" nodeType="withEffect">
                                  <p:stCondLst>
                                    <p:cond delay="0"/>
                                  </p:stCondLst>
                                  <p:childTnLst>
                                    <p:animClr clrSpc="rgb" dir="cw">
                                      <p:cBhvr override="childStyle">
                                        <p:cTn id="44" dur="1000" fill="hold"/>
                                        <p:tgtEl>
                                          <p:spTgt spid="3">
                                            <p:txEl>
                                              <p:pRg st="0" end="0"/>
                                            </p:txEl>
                                          </p:spTgt>
                                        </p:tgtEl>
                                        <p:attrNameLst>
                                          <p:attrName>style.color</p:attrName>
                                        </p:attrNameLst>
                                      </p:cBhvr>
                                      <p:to>
                                        <a:srgbClr val="00FA00"/>
                                      </p:to>
                                    </p:animClr>
                                  </p:childTnLst>
                                </p:cTn>
                              </p:par>
                              <p:par>
                                <p:cTn id="45" presetID="3" presetClass="emph" presetSubtype="2" fill="hold" nodeType="withEffect">
                                  <p:stCondLst>
                                    <p:cond delay="0"/>
                                  </p:stCondLst>
                                  <p:childTnLst>
                                    <p:animClr clrSpc="rgb" dir="cw">
                                      <p:cBhvr override="childStyle">
                                        <p:cTn id="46" dur="1000" fill="hold"/>
                                        <p:tgtEl>
                                          <p:spTgt spid="3">
                                            <p:txEl>
                                              <p:pRg st="1" end="1"/>
                                            </p:txEl>
                                          </p:spTgt>
                                        </p:tgtEl>
                                        <p:attrNameLst>
                                          <p:attrName>style.color</p:attrName>
                                        </p:attrNameLst>
                                      </p:cBhvr>
                                      <p:to>
                                        <a:srgbClr val="00FA00"/>
                                      </p:to>
                                    </p:animClr>
                                  </p:childTnLst>
                                </p:cTn>
                              </p:par>
                              <p:par>
                                <p:cTn id="47" presetID="3" presetClass="emph" presetSubtype="2" fill="hold" nodeType="withEffect">
                                  <p:stCondLst>
                                    <p:cond delay="0"/>
                                  </p:stCondLst>
                                  <p:childTnLst>
                                    <p:animClr clrSpc="rgb" dir="cw">
                                      <p:cBhvr override="childStyle">
                                        <p:cTn id="48" dur="1000" fill="hold"/>
                                        <p:tgtEl>
                                          <p:spTgt spid="3">
                                            <p:txEl>
                                              <p:pRg st="2" end="2"/>
                                            </p:txEl>
                                          </p:spTgt>
                                        </p:tgtEl>
                                        <p:attrNameLst>
                                          <p:attrName>style.color</p:attrName>
                                        </p:attrNameLst>
                                      </p:cBhvr>
                                      <p:to>
                                        <a:srgbClr val="00FA00"/>
                                      </p:to>
                                    </p:animClr>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2"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3" presetClass="emph" presetSubtype="2" fill="hold" nodeType="withEffect">
                                  <p:stCondLst>
                                    <p:cond delay="0"/>
                                  </p:stCondLst>
                                  <p:childTnLst>
                                    <p:animClr clrSpc="rgb" dir="cw">
                                      <p:cBhvr override="childStyle">
                                        <p:cTn id="66" dur="1000" fill="hold"/>
                                        <p:tgtEl>
                                          <p:spTgt spid="3">
                                            <p:txEl>
                                              <p:pRg st="16" end="16"/>
                                            </p:txEl>
                                          </p:spTgt>
                                        </p:tgtEl>
                                        <p:attrNameLst>
                                          <p:attrName>style.color</p:attrName>
                                        </p:attrNameLst>
                                      </p:cBhvr>
                                      <p:to>
                                        <a:srgbClr val="0432FF"/>
                                      </p:to>
                                    </p:animClr>
                                  </p:childTnLst>
                                </p:cTn>
                              </p:par>
                              <p:par>
                                <p:cTn id="67" presetID="3" presetClass="emph" presetSubtype="2" fill="hold" nodeType="withEffect">
                                  <p:stCondLst>
                                    <p:cond delay="0"/>
                                  </p:stCondLst>
                                  <p:childTnLst>
                                    <p:animClr clrSpc="rgb" dir="cw">
                                      <p:cBhvr override="childStyle">
                                        <p:cTn id="68" dur="1000" fill="hold"/>
                                        <p:tgtEl>
                                          <p:spTgt spid="3">
                                            <p:txEl>
                                              <p:pRg st="13" end="13"/>
                                            </p:txEl>
                                          </p:spTgt>
                                        </p:tgtEl>
                                        <p:attrNameLst>
                                          <p:attrName>style.color</p:attrName>
                                        </p:attrNameLst>
                                      </p:cBhvr>
                                      <p:to>
                                        <a:srgbClr val="0432FF"/>
                                      </p:to>
                                    </p:animClr>
                                  </p:childTnLst>
                                </p:cTn>
                              </p:par>
                              <p:par>
                                <p:cTn id="69" presetID="3" presetClass="emph" presetSubtype="2" fill="hold" nodeType="withEffect">
                                  <p:stCondLst>
                                    <p:cond delay="0"/>
                                  </p:stCondLst>
                                  <p:childTnLst>
                                    <p:animClr clrSpc="rgb" dir="cw">
                                      <p:cBhvr override="childStyle">
                                        <p:cTn id="70" dur="1000" fill="hold"/>
                                        <p:tgtEl>
                                          <p:spTgt spid="3">
                                            <p:txEl>
                                              <p:pRg st="12" end="12"/>
                                            </p:txEl>
                                          </p:spTgt>
                                        </p:tgtEl>
                                        <p:attrNameLst>
                                          <p:attrName>style.color</p:attrName>
                                        </p:attrNameLst>
                                      </p:cBhvr>
                                      <p:to>
                                        <a:srgbClr val="0432FF"/>
                                      </p:to>
                                    </p:animClr>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0"/>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par>
                                <p:cTn id="79" presetID="1" presetClass="entr" presetSubtype="0" fill="hold" grpId="2" nodeType="withEffect">
                                  <p:stCondLst>
                                    <p:cond delay="0"/>
                                  </p:stCondLst>
                                  <p:childTnLst>
                                    <p:set>
                                      <p:cBhvr>
                                        <p:cTn id="80" dur="1" fill="hold">
                                          <p:stCondLst>
                                            <p:cond delay="0"/>
                                          </p:stCondLst>
                                        </p:cTn>
                                        <p:tgtEl>
                                          <p:spTgt spid="6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par>
                                <p:cTn id="83" presetID="1" presetClass="entr" presetSubtype="0" fill="hold" grpId="3" nodeType="withEffect">
                                  <p:stCondLst>
                                    <p:cond delay="0"/>
                                  </p:stCondLst>
                                  <p:childTnLst>
                                    <p:set>
                                      <p:cBhvr>
                                        <p:cTn id="84" dur="1" fill="hold">
                                          <p:stCondLst>
                                            <p:cond delay="0"/>
                                          </p:stCondLst>
                                        </p:cTn>
                                        <p:tgtEl>
                                          <p:spTgt spid="6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par>
                                <p:cTn id="87" presetID="3" presetClass="emph" presetSubtype="2" fill="hold" nodeType="withEffect">
                                  <p:stCondLst>
                                    <p:cond delay="0"/>
                                  </p:stCondLst>
                                  <p:childTnLst>
                                    <p:animClr clrSpc="rgb" dir="cw">
                                      <p:cBhvr override="childStyle">
                                        <p:cTn id="88" dur="1000" fill="hold"/>
                                        <p:tgtEl>
                                          <p:spTgt spid="3">
                                            <p:txEl>
                                              <p:pRg st="14" end="14"/>
                                            </p:txEl>
                                          </p:spTgt>
                                        </p:tgtEl>
                                        <p:attrNameLst>
                                          <p:attrName>style.color</p:attrName>
                                        </p:attrNameLst>
                                      </p:cBhvr>
                                      <p:to>
                                        <a:srgbClr val="FF40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P spid="24" grpId="0" animBg="1"/>
      <p:bldP spid="34" grpId="0" animBg="1"/>
      <p:bldP spid="34" grpId="1" animBg="1"/>
      <p:bldP spid="37" grpId="0" animBg="1"/>
      <p:bldP spid="37" grpId="1" animBg="1"/>
      <p:bldP spid="37" grpId="2" animBg="1"/>
      <p:bldP spid="69" grpId="0" animBg="1"/>
      <p:bldP spid="69" grpId="1" animBg="1"/>
      <p:bldP spid="69" grpId="2" animBg="1"/>
      <p:bldP spid="69" grpId="3"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0FE1-29C0-83B0-88C7-870FBEC11B8B}"/>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F0FC8AD3-BD7C-9780-68C8-EBAEBABA8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D98EE860-DC12-FDC4-AFF3-753475655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48B4DBD5-B3FC-7156-6E2B-53A666D90F6F}"/>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Prompting for Basic Tasks</a:t>
            </a:r>
          </a:p>
        </p:txBody>
      </p:sp>
      <p:sp>
        <p:nvSpPr>
          <p:cNvPr id="2" name="Content Placeholder 2">
            <a:extLst>
              <a:ext uri="{FF2B5EF4-FFF2-40B4-BE49-F238E27FC236}">
                <a16:creationId xmlns:a16="http://schemas.microsoft.com/office/drawing/2014/main" id="{A21213B4-A7D5-B78B-C08A-0120DED4F9ED}"/>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Tasks such as the classification example on the previous slide require clarity and precision</a:t>
            </a:r>
          </a:p>
          <a:p>
            <a:pPr marL="342900" indent="-342900" algn="l">
              <a:buFont typeface="Arial" panose="020B0604020202020204" pitchFamily="34" charset="0"/>
              <a:buChar char="•"/>
            </a:pPr>
            <a:r>
              <a:rPr lang="en-US" kern="0" dirty="0"/>
              <a:t>Prompting the model repeatedly on a single piece of data can produce higher quality results than asking several questions at once</a:t>
            </a:r>
          </a:p>
          <a:p>
            <a:pPr marL="342900" indent="-342900" algn="l">
              <a:buFont typeface="Arial" panose="020B0604020202020204" pitchFamily="34" charset="0"/>
              <a:buChar char="•"/>
            </a:pPr>
            <a:r>
              <a:rPr lang="en-US" kern="0" dirty="0"/>
              <a:t>Try using different “shotting” techniques to improve results:</a:t>
            </a:r>
          </a:p>
          <a:p>
            <a:pPr marL="692150" lvl="1" indent="-233363"/>
            <a:r>
              <a:rPr lang="en-US" b="1" kern="0" dirty="0"/>
              <a:t>Zero-shot</a:t>
            </a:r>
            <a:r>
              <a:rPr lang="en-US" kern="0" dirty="0"/>
              <a:t> provides no examples when asking for a response</a:t>
            </a:r>
          </a:p>
          <a:p>
            <a:pPr marL="692150" lvl="1" indent="-233363"/>
            <a:r>
              <a:rPr lang="en-US" b="1" kern="0" dirty="0"/>
              <a:t>One-shot</a:t>
            </a:r>
            <a:r>
              <a:rPr lang="en-US" kern="0" dirty="0"/>
              <a:t> and </a:t>
            </a:r>
            <a:r>
              <a:rPr lang="en-US" b="1" kern="0" dirty="0"/>
              <a:t>few-shot</a:t>
            </a:r>
            <a:r>
              <a:rPr lang="en-US" kern="0" dirty="0"/>
              <a:t> offer one or many examples, respectively</a:t>
            </a:r>
          </a:p>
          <a:p>
            <a:pPr marL="692150" lvl="1" indent="-233363"/>
            <a:r>
              <a:rPr lang="en-US" kern="0" dirty="0"/>
              <a:t>Also consider positive vs. negative examples and </a:t>
            </a:r>
            <a:r>
              <a:rPr lang="en-US" b="1" kern="0" dirty="0"/>
              <a:t>contrastive prompting</a:t>
            </a:r>
            <a:r>
              <a:rPr lang="en-US" kern="0" dirty="0"/>
              <a:t> (Gao &amp; Das 2024)</a:t>
            </a:r>
          </a:p>
        </p:txBody>
      </p:sp>
    </p:spTree>
    <p:extLst>
      <p:ext uri="{BB962C8B-B14F-4D97-AF65-F5344CB8AC3E}">
        <p14:creationId xmlns:p14="http://schemas.microsoft.com/office/powerpoint/2010/main" val="346742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F372772-D1AD-BF72-15DA-CFDB24FA3AF4}"/>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F857EEF7-FF5B-738D-F7B6-9EC250552576}"/>
              </a:ext>
            </a:extLst>
          </p:cNvPr>
          <p:cNvSpPr/>
          <p:nvPr/>
        </p:nvSpPr>
        <p:spPr>
          <a:xfrm>
            <a:off x="152400" y="4476750"/>
            <a:ext cx="2362200" cy="53620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6345FE21-7CF2-DE4C-5876-8B5A6852F9AC}"/>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solidFill>
                  <a:schemeClr val="tx1">
                    <a:lumMod val="50000"/>
                    <a:lumOff val="50000"/>
                  </a:schemeClr>
                </a:solidFill>
              </a:rPr>
              <a:t>Few-Shot Example</a:t>
            </a:r>
          </a:p>
        </p:txBody>
      </p:sp>
      <p:sp>
        <p:nvSpPr>
          <p:cNvPr id="2" name="Content Placeholder 2">
            <a:extLst>
              <a:ext uri="{FF2B5EF4-FFF2-40B4-BE49-F238E27FC236}">
                <a16:creationId xmlns:a16="http://schemas.microsoft.com/office/drawing/2014/main" id="{1AAE7512-364A-556F-8069-35A3744D4A89}"/>
              </a:ext>
            </a:extLst>
          </p:cNvPr>
          <p:cNvSpPr txBox="1">
            <a:spLocks/>
          </p:cNvSpPr>
          <p:nvPr/>
        </p:nvSpPr>
        <p:spPr bwMode="auto">
          <a:xfrm>
            <a:off x="228600" y="742950"/>
            <a:ext cx="422315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300" dirty="0">
                <a:solidFill>
                  <a:schemeClr val="bg1"/>
                </a:solidFill>
              </a:rPr>
              <a:t>…</a:t>
            </a:r>
          </a:p>
          <a:p>
            <a:pPr algn="l"/>
            <a:r>
              <a:rPr lang="en-US" sz="1300" dirty="0">
                <a:solidFill>
                  <a:schemeClr val="bg1"/>
                </a:solidFill>
              </a:rPr>
              <a:t>### Examples</a:t>
            </a:r>
          </a:p>
          <a:p>
            <a:pPr algn="l"/>
            <a:r>
              <a:rPr lang="en-US" sz="1300" dirty="0">
                <a:solidFill>
                  <a:schemeClr val="bg1"/>
                </a:solidFill>
              </a:rPr>
              <a:t>Here are three illustrative examples of banter:</a:t>
            </a:r>
          </a:p>
          <a:p>
            <a:pPr algn="l"/>
            <a:endParaRPr lang="en-US" sz="1300" dirty="0">
              <a:solidFill>
                <a:schemeClr val="bg1"/>
              </a:solidFill>
            </a:endParaRPr>
          </a:p>
          <a:p>
            <a:pPr algn="l"/>
            <a:r>
              <a:rPr lang="en-US" sz="1300" dirty="0">
                <a:solidFill>
                  <a:schemeClr val="bg1"/>
                </a:solidFill>
              </a:rPr>
              <a:t>## Example 1</a:t>
            </a:r>
          </a:p>
          <a:p>
            <a:pPr algn="l"/>
            <a:r>
              <a:rPr lang="en-US" sz="1300" dirty="0">
                <a:solidFill>
                  <a:schemeClr val="bg1"/>
                </a:solidFill>
              </a:rPr>
              <a:t># Part A:</a:t>
            </a:r>
          </a:p>
          <a:p>
            <a:pPr algn="l"/>
            <a:r>
              <a:rPr lang="en-US" sz="1300" dirty="0">
                <a:solidFill>
                  <a:schemeClr val="bg1"/>
                </a:solidFill>
              </a:rPr>
              <a:t>"Must you rattle those dishes so loudly?" he complained, as Merlin set out his breakfast tray on the dining table. "It’s like being served by a stampede of wild horses."</a:t>
            </a:r>
          </a:p>
          <a:p>
            <a:pPr algn="l"/>
            <a:r>
              <a:rPr lang="en-US" sz="1300" dirty="0">
                <a:solidFill>
                  <a:schemeClr val="bg1"/>
                </a:solidFill>
              </a:rPr>
              <a:t># Part B:</a:t>
            </a:r>
          </a:p>
          <a:p>
            <a:pPr algn="l"/>
            <a:r>
              <a:rPr lang="en-US" sz="1300" dirty="0">
                <a:solidFill>
                  <a:schemeClr val="bg1"/>
                </a:solidFill>
              </a:rPr>
              <a:t>"So sorry, sire," Merlin said, making sure to let the milk jug clatter as he set it down. "How inconsiderate of me. It’s just so hard to keep hold of all these things with my clumsy hooves.”</a:t>
            </a:r>
          </a:p>
        </p:txBody>
      </p:sp>
      <p:sp>
        <p:nvSpPr>
          <p:cNvPr id="3" name="Content Placeholder 2">
            <a:extLst>
              <a:ext uri="{FF2B5EF4-FFF2-40B4-BE49-F238E27FC236}">
                <a16:creationId xmlns:a16="http://schemas.microsoft.com/office/drawing/2014/main" id="{F9E73C6D-74FF-4F48-2D61-E6447BC33E78}"/>
              </a:ext>
            </a:extLst>
          </p:cNvPr>
          <p:cNvSpPr txBox="1">
            <a:spLocks/>
          </p:cNvSpPr>
          <p:nvPr/>
        </p:nvSpPr>
        <p:spPr bwMode="auto">
          <a:xfrm>
            <a:off x="4572000" y="133350"/>
            <a:ext cx="42231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300" dirty="0">
                <a:solidFill>
                  <a:schemeClr val="bg1"/>
                </a:solidFill>
              </a:rPr>
              <a:t>## Example 2</a:t>
            </a:r>
          </a:p>
          <a:p>
            <a:pPr algn="l"/>
            <a:r>
              <a:rPr lang="en-US" sz="1300" dirty="0">
                <a:solidFill>
                  <a:schemeClr val="bg1"/>
                </a:solidFill>
              </a:rPr>
              <a:t># Part A:</a:t>
            </a:r>
          </a:p>
          <a:p>
            <a:pPr algn="l"/>
            <a:r>
              <a:rPr lang="en-US" sz="1300" dirty="0">
                <a:solidFill>
                  <a:schemeClr val="bg1"/>
                </a:solidFill>
              </a:rPr>
              <a:t>"It’s only natural, Zombie Boy." She turns to take in the rest of the room. "So what’s this, like the world’s saddest breakfast club?"</a:t>
            </a:r>
          </a:p>
          <a:p>
            <a:pPr algn="l"/>
            <a:r>
              <a:rPr lang="en-US" sz="1300" dirty="0">
                <a:solidFill>
                  <a:schemeClr val="bg1"/>
                </a:solidFill>
              </a:rPr>
              <a:t># Part B:</a:t>
            </a:r>
          </a:p>
          <a:p>
            <a:pPr algn="l"/>
            <a:r>
              <a:rPr lang="en-US" sz="1300" dirty="0">
                <a:solidFill>
                  <a:schemeClr val="bg1"/>
                </a:solidFill>
              </a:rPr>
              <a:t>Jason and Tim both wince at that, but Damian just sits up straight and takes a sip of his cocoa with a smirk of amusement. "It is now that you’re here, Brown," he quips.</a:t>
            </a:r>
          </a:p>
          <a:p>
            <a:pPr algn="l"/>
            <a:endParaRPr lang="en-US" sz="1300" dirty="0">
              <a:solidFill>
                <a:schemeClr val="bg1"/>
              </a:solidFill>
            </a:endParaRPr>
          </a:p>
          <a:p>
            <a:pPr algn="l"/>
            <a:r>
              <a:rPr lang="en-US" sz="1300" dirty="0">
                <a:solidFill>
                  <a:schemeClr val="bg1"/>
                </a:solidFill>
              </a:rPr>
              <a:t>## Example 3</a:t>
            </a:r>
          </a:p>
          <a:p>
            <a:pPr algn="l"/>
            <a:r>
              <a:rPr lang="en-US" sz="1300" dirty="0">
                <a:solidFill>
                  <a:schemeClr val="bg1"/>
                </a:solidFill>
              </a:rPr>
              <a:t># Part A:</a:t>
            </a:r>
          </a:p>
          <a:p>
            <a:pPr algn="l"/>
            <a:r>
              <a:rPr lang="en-US" sz="1300" dirty="0">
                <a:solidFill>
                  <a:schemeClr val="bg1"/>
                </a:solidFill>
              </a:rPr>
              <a:t>Dick rolls his eyes, but gets one out of the cupboard anyway. "I wouldn’t have hurled." He hands Jason the metal bowl. "Also I hate green pepper."</a:t>
            </a:r>
          </a:p>
          <a:p>
            <a:pPr algn="l"/>
            <a:r>
              <a:rPr lang="en-US" sz="1300" dirty="0">
                <a:solidFill>
                  <a:schemeClr val="bg1"/>
                </a:solidFill>
              </a:rPr>
              <a:t># Part B:</a:t>
            </a:r>
          </a:p>
          <a:p>
            <a:pPr algn="l"/>
            <a:r>
              <a:rPr lang="en-US" sz="1300" dirty="0">
                <a:solidFill>
                  <a:schemeClr val="bg1"/>
                </a:solidFill>
              </a:rPr>
              <a:t>"Sorry, what was that?" Jason mocks, still chopping away. "Extra pepper you say?" He dumps a generous handful into the bowl with the onion, receiving a very unamused look from his brother in return.</a:t>
            </a:r>
          </a:p>
          <a:p>
            <a:pPr algn="l"/>
            <a:r>
              <a:rPr lang="en-US" sz="1300" dirty="0">
                <a:solidFill>
                  <a:schemeClr val="bg1"/>
                </a:solidFill>
              </a:rPr>
              <a:t>…</a:t>
            </a:r>
          </a:p>
          <a:p>
            <a:pPr algn="l"/>
            <a:endParaRPr lang="en-US" sz="1300" dirty="0">
              <a:solidFill>
                <a:schemeClr val="bg1"/>
              </a:solidFill>
            </a:endParaRPr>
          </a:p>
        </p:txBody>
      </p:sp>
      <p:sp>
        <p:nvSpPr>
          <p:cNvPr id="8" name="TextBox 7">
            <a:extLst>
              <a:ext uri="{FF2B5EF4-FFF2-40B4-BE49-F238E27FC236}">
                <a16:creationId xmlns:a16="http://schemas.microsoft.com/office/drawing/2014/main" id="{98275DEA-0EA2-D9E9-28F9-8F0571C0AEB3}"/>
              </a:ext>
            </a:extLst>
          </p:cNvPr>
          <p:cNvSpPr txBox="1"/>
          <p:nvPr/>
        </p:nvSpPr>
        <p:spPr>
          <a:xfrm>
            <a:off x="140866" y="4561016"/>
            <a:ext cx="4343400" cy="461665"/>
          </a:xfrm>
          <a:prstGeom prst="rect">
            <a:avLst/>
          </a:prstGeom>
          <a:noFill/>
          <a:ln>
            <a:solidFill>
              <a:schemeClr val="tx1">
                <a:lumMod val="50000"/>
                <a:lumOff val="50000"/>
              </a:schemeClr>
            </a:solidFill>
          </a:ln>
        </p:spPr>
        <p:txBody>
          <a:bodyPr wrap="square" rtlCol="0">
            <a:spAutoFit/>
          </a:bodyPr>
          <a:lstStyle/>
          <a:p>
            <a:pPr algn="ctr"/>
            <a:r>
              <a:rPr lang="en-US" sz="1200" b="1" dirty="0">
                <a:solidFill>
                  <a:schemeClr val="tx1">
                    <a:lumMod val="50000"/>
                    <a:lumOff val="50000"/>
                  </a:schemeClr>
                </a:solidFill>
                <a:latin typeface="Arial" panose="020B0604020202020204" pitchFamily="34" charset="0"/>
                <a:cs typeface="Arial" panose="020B0604020202020204" pitchFamily="34" charset="0"/>
              </a:rPr>
              <a:t>Source: </a:t>
            </a:r>
            <a:r>
              <a:rPr lang="en-US" sz="1200" dirty="0">
                <a:solidFill>
                  <a:schemeClr val="tx1">
                    <a:lumMod val="50000"/>
                    <a:lumOff val="50000"/>
                  </a:schemeClr>
                </a:solidFill>
                <a:latin typeface="Arial" panose="020B0604020202020204" pitchFamily="34" charset="0"/>
                <a:cs typeface="Arial" panose="020B0604020202020204" pitchFamily="34" charset="0"/>
              </a:rPr>
              <a:t>Dobolyi, K., Tamburrino, S., Borden, Z., &amp; Faruque (2026, pgs. 58-59) </a:t>
            </a:r>
          </a:p>
        </p:txBody>
      </p:sp>
    </p:spTree>
    <p:extLst>
      <p:ext uri="{BB962C8B-B14F-4D97-AF65-F5344CB8AC3E}">
        <p14:creationId xmlns:p14="http://schemas.microsoft.com/office/powerpoint/2010/main" val="348777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D5B9-A3C1-5904-70E3-9B32DD3A9433}"/>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F7B44CB0-BE12-7845-38CA-CA19C50F3B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D4878F7F-F010-5165-2D6F-BE380D1A9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22241FE5-7F02-D6A4-6E38-3A5ACC6DEC4C}"/>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Structured Output</a:t>
            </a:r>
          </a:p>
        </p:txBody>
      </p:sp>
      <p:sp>
        <p:nvSpPr>
          <p:cNvPr id="2" name="Content Placeholder 2">
            <a:extLst>
              <a:ext uri="{FF2B5EF4-FFF2-40B4-BE49-F238E27FC236}">
                <a16:creationId xmlns:a16="http://schemas.microsoft.com/office/drawing/2014/main" id="{7BD1F879-51C3-1240-F84F-3F20CA4AEFFF}"/>
              </a:ext>
            </a:extLst>
          </p:cNvPr>
          <p:cNvSpPr txBox="1">
            <a:spLocks/>
          </p:cNvSpPr>
          <p:nvPr/>
        </p:nvSpPr>
        <p:spPr bwMode="auto">
          <a:xfrm>
            <a:off x="228600" y="933450"/>
            <a:ext cx="38862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200" kern="0" dirty="0"/>
              <a:t>Prompting a model to answer a specific way or to use a specific scale does not guarantee adherence</a:t>
            </a:r>
          </a:p>
          <a:p>
            <a:pPr marL="342900" indent="-342900" algn="l">
              <a:buFont typeface="Arial" panose="020B0604020202020204" pitchFamily="34" charset="0"/>
              <a:buChar char="•"/>
            </a:pPr>
            <a:r>
              <a:rPr lang="en-US" sz="2200" kern="0" dirty="0"/>
              <a:t>If adherence is key (e.g., classification tasks, downstream use), consider </a:t>
            </a:r>
            <a:r>
              <a:rPr lang="en-US" sz="2200" b="1" kern="0" dirty="0"/>
              <a:t>structured outputs</a:t>
            </a:r>
            <a:r>
              <a:rPr lang="en-US" sz="2200" kern="0" dirty="0"/>
              <a:t>, which dictate exactly how a model must respond</a:t>
            </a:r>
          </a:p>
        </p:txBody>
      </p:sp>
      <p:sp>
        <p:nvSpPr>
          <p:cNvPr id="7" name="Content Placeholder 2">
            <a:extLst>
              <a:ext uri="{FF2B5EF4-FFF2-40B4-BE49-F238E27FC236}">
                <a16:creationId xmlns:a16="http://schemas.microsoft.com/office/drawing/2014/main" id="{BB37118E-3B5F-6734-48B6-E6AE5DCA1BF8}"/>
              </a:ext>
            </a:extLst>
          </p:cNvPr>
          <p:cNvSpPr txBox="1">
            <a:spLocks/>
          </p:cNvSpPr>
          <p:nvPr/>
        </p:nvSpPr>
        <p:spPr bwMode="auto">
          <a:xfrm>
            <a:off x="4191000" y="933450"/>
            <a:ext cx="472440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algn="l"/>
            <a:r>
              <a:rPr lang="en-US" sz="1800" b="1" kern="0" dirty="0" err="1"/>
              <a:t>Pydantic</a:t>
            </a:r>
            <a:endParaRPr lang="en-US" sz="1800" b="1" kern="0" dirty="0"/>
          </a:p>
          <a:p>
            <a:pPr algn="l"/>
            <a:r>
              <a:rPr lang="en-US" sz="1800" dirty="0">
                <a:solidFill>
                  <a:srgbClr val="0070C0"/>
                </a:solidFill>
                <a:latin typeface="Consolas" panose="020B0609020204030204" pitchFamily="49" charset="0"/>
                <a:cs typeface="Consolas" panose="020B0609020204030204" pitchFamily="49" charset="0"/>
              </a:rPr>
              <a:t>class</a:t>
            </a:r>
            <a:r>
              <a:rPr lang="en-US" sz="1800" dirty="0">
                <a:latin typeface="Consolas" panose="020B0609020204030204" pitchFamily="49" charset="0"/>
                <a:cs typeface="Consolas" panose="020B0609020204030204" pitchFamily="49" charset="0"/>
              </a:rPr>
              <a:t> </a:t>
            </a:r>
            <a:r>
              <a:rPr lang="en-US" sz="1800" dirty="0" err="1">
                <a:solidFill>
                  <a:srgbClr val="FF40FF"/>
                </a:solidFill>
                <a:latin typeface="Consolas" panose="020B0609020204030204" pitchFamily="49" charset="0"/>
                <a:cs typeface="Consolas" panose="020B0609020204030204" pitchFamily="49" charset="0"/>
              </a:rPr>
              <a:t>ReviewAnalysis</a:t>
            </a:r>
            <a:r>
              <a:rPr lang="en-US" sz="1800" dirty="0">
                <a:latin typeface="Consolas" panose="020B0609020204030204" pitchFamily="49" charset="0"/>
                <a:cs typeface="Consolas" panose="020B0609020204030204" pitchFamily="49" charset="0"/>
              </a:rPr>
              <a:t>(</a:t>
            </a:r>
            <a:r>
              <a:rPr lang="en-US" sz="1800" dirty="0" err="1">
                <a:latin typeface="Consolas" panose="020B0609020204030204" pitchFamily="49" charset="0"/>
                <a:cs typeface="Consolas" panose="020B0609020204030204" pitchFamily="49" charset="0"/>
              </a:rPr>
              <a:t>BaseModel</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sentiment: Literal[</a:t>
            </a:r>
            <a:r>
              <a:rPr lang="en-US" sz="1800" dirty="0">
                <a:solidFill>
                  <a:srgbClr val="0B853E"/>
                </a:solidFill>
                <a:latin typeface="Consolas" panose="020B0609020204030204" pitchFamily="49" charset="0"/>
                <a:cs typeface="Consolas" panose="020B0609020204030204" pitchFamily="49" charset="0"/>
              </a:rPr>
              <a:t>"neg"</a:t>
            </a:r>
            <a:r>
              <a:rPr lang="en-US" sz="1800" dirty="0">
                <a:latin typeface="Consolas" panose="020B0609020204030204" pitchFamily="49" charset="0"/>
                <a:cs typeface="Consolas" panose="020B0609020204030204" pitchFamily="49" charset="0"/>
              </a:rPr>
              <a:t>, </a:t>
            </a:r>
            <a:r>
              <a:rPr lang="en-US" sz="1800" dirty="0">
                <a:solidFill>
                  <a:srgbClr val="0B853E"/>
                </a:solidFill>
                <a:latin typeface="Consolas" panose="020B0609020204030204" pitchFamily="49" charset="0"/>
                <a:cs typeface="Consolas" panose="020B0609020204030204" pitchFamily="49" charset="0"/>
              </a:rPr>
              <a:t>"pos"</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confidence: </a:t>
            </a:r>
            <a:r>
              <a:rPr lang="en-US" sz="1800" dirty="0">
                <a:solidFill>
                  <a:srgbClr val="7030A0"/>
                </a:solidFill>
                <a:latin typeface="Consolas" panose="020B0609020204030204" pitchFamily="49" charset="0"/>
                <a:cs typeface="Consolas" panose="020B0609020204030204" pitchFamily="49" charset="0"/>
              </a:rPr>
              <a:t>float</a:t>
            </a:r>
          </a:p>
          <a:p>
            <a:pPr algn="l"/>
            <a:r>
              <a:rPr lang="en-US" sz="1800" dirty="0">
                <a:latin typeface="Consolas" panose="020B0609020204030204" pitchFamily="49" charset="0"/>
                <a:cs typeface="Consolas" panose="020B0609020204030204" pitchFamily="49" charset="0"/>
              </a:rPr>
              <a:t>    topics: list[</a:t>
            </a:r>
            <a:r>
              <a:rPr lang="en-US" sz="1800" dirty="0">
                <a:solidFill>
                  <a:srgbClr val="7030A0"/>
                </a:solidFill>
                <a:latin typeface="Consolas" panose="020B0609020204030204" pitchFamily="49" charset="0"/>
                <a:cs typeface="Consolas" panose="020B0609020204030204" pitchFamily="49" charset="0"/>
              </a:rPr>
              <a:t>str</a:t>
            </a:r>
            <a:r>
              <a:rPr lang="en-US" sz="1800" dirty="0">
                <a:latin typeface="Consolas" panose="020B0609020204030204" pitchFamily="49" charset="0"/>
                <a:cs typeface="Consolas" panose="020B0609020204030204" pitchFamily="49" charset="0"/>
              </a:rPr>
              <a:t>]</a:t>
            </a:r>
          </a:p>
          <a:p>
            <a:pPr algn="l"/>
            <a:endParaRPr lang="en-US" sz="1800" dirty="0">
              <a:latin typeface="Consolas" panose="020B0609020204030204" pitchFamily="49" charset="0"/>
              <a:cs typeface="Consolas" panose="020B0609020204030204" pitchFamily="49" charset="0"/>
            </a:endParaRPr>
          </a:p>
          <a:p>
            <a:pPr algn="l"/>
            <a:r>
              <a:rPr lang="en-US" sz="1800" b="1" kern="0" dirty="0"/>
              <a:t>JSON</a:t>
            </a:r>
          </a:p>
          <a:p>
            <a:pPr algn="l"/>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"sentiment": </a:t>
            </a:r>
            <a:r>
              <a:rPr lang="en-US" sz="1800" dirty="0">
                <a:solidFill>
                  <a:srgbClr val="0B853E"/>
                </a:solidFill>
                <a:latin typeface="Consolas" panose="020B0609020204030204" pitchFamily="49" charset="0"/>
                <a:cs typeface="Consolas" panose="020B0609020204030204" pitchFamily="49" charset="0"/>
              </a:rPr>
              <a:t>"neg"</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"confidence": </a:t>
            </a:r>
            <a:r>
              <a:rPr lang="en-US" sz="1800" dirty="0">
                <a:solidFill>
                  <a:srgbClr val="FF7003"/>
                </a:solidFill>
                <a:latin typeface="Consolas" panose="020B0609020204030204" pitchFamily="49" charset="0"/>
                <a:cs typeface="Consolas" panose="020B0609020204030204" pitchFamily="49" charset="0"/>
              </a:rPr>
              <a:t>0.92</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  "topics": [</a:t>
            </a:r>
            <a:r>
              <a:rPr lang="en-US" sz="1800" dirty="0">
                <a:solidFill>
                  <a:srgbClr val="0B853E"/>
                </a:solidFill>
                <a:latin typeface="Consolas" panose="020B0609020204030204" pitchFamily="49" charset="0"/>
                <a:cs typeface="Consolas" panose="020B0609020204030204" pitchFamily="49" charset="0"/>
              </a:rPr>
              <a:t>"returns"</a:t>
            </a:r>
            <a:r>
              <a:rPr lang="en-US" sz="1800" dirty="0">
                <a:latin typeface="Consolas" panose="020B0609020204030204" pitchFamily="49" charset="0"/>
                <a:cs typeface="Consolas" panose="020B0609020204030204" pitchFamily="49" charset="0"/>
              </a:rPr>
              <a:t>, </a:t>
            </a:r>
            <a:r>
              <a:rPr lang="en-US" sz="1800" dirty="0">
                <a:solidFill>
                  <a:srgbClr val="0B853E"/>
                </a:solidFill>
                <a:latin typeface="Consolas" panose="020B0609020204030204" pitchFamily="49" charset="0"/>
                <a:cs typeface="Consolas" panose="020B0609020204030204" pitchFamily="49" charset="0"/>
              </a:rPr>
              <a:t>"shipping"</a:t>
            </a:r>
            <a:r>
              <a:rPr lang="en-US" sz="1800" dirty="0">
                <a:latin typeface="Consolas" panose="020B0609020204030204" pitchFamily="49" charset="0"/>
                <a:cs typeface="Consolas" panose="020B0609020204030204" pitchFamily="49" charset="0"/>
              </a:rPr>
              <a:t>]</a:t>
            </a:r>
          </a:p>
          <a:p>
            <a:pPr algn="l"/>
            <a:r>
              <a:rPr lang="en-US" sz="1800" dirty="0">
                <a:latin typeface="Consolas" panose="020B0609020204030204" pitchFamily="49" charset="0"/>
                <a:cs typeface="Consolas" panose="020B0609020204030204" pitchFamily="49" charset="0"/>
              </a:rPr>
              <a:t>}</a:t>
            </a:r>
          </a:p>
          <a:p>
            <a:pPr algn="l"/>
            <a:endParaRPr lang="en-US" sz="18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5165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5E7D-0096-BAC1-B0B0-269C901B65C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A93D69AB-822C-A929-1CBD-07C1847AE3F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Other Prompting Techniques</a:t>
            </a:r>
          </a:p>
        </p:txBody>
      </p:sp>
      <p:pic>
        <p:nvPicPr>
          <p:cNvPr id="4" name="Picture 3">
            <a:extLst>
              <a:ext uri="{FF2B5EF4-FFF2-40B4-BE49-F238E27FC236}">
                <a16:creationId xmlns:a16="http://schemas.microsoft.com/office/drawing/2014/main" id="{B99F5528-FDC7-BF66-F395-FCCEE740B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933700" y="-1923422"/>
            <a:ext cx="3276601" cy="8990344"/>
          </a:xfrm>
          <a:prstGeom prst="rect">
            <a:avLst/>
          </a:prstGeom>
        </p:spPr>
      </p:pic>
      <p:pic>
        <p:nvPicPr>
          <p:cNvPr id="5" name="Picture 4" descr="A white background with black dots&#10;&#10;AI-generated content may be incorrect.">
            <a:extLst>
              <a:ext uri="{FF2B5EF4-FFF2-40B4-BE49-F238E27FC236}">
                <a16:creationId xmlns:a16="http://schemas.microsoft.com/office/drawing/2014/main" id="{58A416AD-A15F-438C-5AAD-8318A1F494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6" name="Picture 5" descr="A white background with black dots&#10;&#10;AI-generated content may be incorrect.">
            <a:extLst>
              <a:ext uri="{FF2B5EF4-FFF2-40B4-BE49-F238E27FC236}">
                <a16:creationId xmlns:a16="http://schemas.microsoft.com/office/drawing/2014/main" id="{762F947C-254D-CB4F-EB64-0CC6893DD2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7" name="TextBox 6">
            <a:extLst>
              <a:ext uri="{FF2B5EF4-FFF2-40B4-BE49-F238E27FC236}">
                <a16:creationId xmlns:a16="http://schemas.microsoft.com/office/drawing/2014/main" id="{5F2F469D-A191-1939-61E7-E514FFF38E67}"/>
              </a:ext>
            </a:extLst>
          </p:cNvPr>
          <p:cNvSpPr txBox="1"/>
          <p:nvPr/>
        </p:nvSpPr>
        <p:spPr>
          <a:xfrm>
            <a:off x="5105399" y="4735956"/>
            <a:ext cx="3733800" cy="276999"/>
          </a:xfrm>
          <a:prstGeom prst="rect">
            <a:avLst/>
          </a:prstGeom>
          <a:noFill/>
        </p:spPr>
        <p:txBody>
          <a:bodyPr wrap="square" rtlCol="0">
            <a:spAutoFit/>
          </a:bodyPr>
          <a:lstStyle/>
          <a:p>
            <a:pPr algn="r"/>
            <a:r>
              <a:rPr lang="en-US" sz="1200" b="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rPr>
              <a:t>Walter (2024, pg. 15)</a:t>
            </a:r>
          </a:p>
        </p:txBody>
      </p:sp>
    </p:spTree>
    <p:extLst>
      <p:ext uri="{BB962C8B-B14F-4D97-AF65-F5344CB8AC3E}">
        <p14:creationId xmlns:p14="http://schemas.microsoft.com/office/powerpoint/2010/main" val="3512728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080B6-47FA-069C-6C7B-9F06087F38C5}"/>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2E4960C3-A49A-D9EE-6722-64C03AD21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FFFFD7A7-C869-A195-BED7-E9CA23867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EE61C4DF-8A20-6DEA-C79C-470C37784F60}"/>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Prompting Complex Tasks (e.g., Coding)</a:t>
            </a:r>
          </a:p>
        </p:txBody>
      </p:sp>
      <p:sp>
        <p:nvSpPr>
          <p:cNvPr id="2" name="Content Placeholder 2">
            <a:extLst>
              <a:ext uri="{FF2B5EF4-FFF2-40B4-BE49-F238E27FC236}">
                <a16:creationId xmlns:a16="http://schemas.microsoft.com/office/drawing/2014/main" id="{BE592276-8BD9-23D6-D923-8C6264DD2274}"/>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Successfully accomplishing a complex task like coding requires step-by-step instruction (e.g., numbered lists)</a:t>
            </a:r>
          </a:p>
          <a:p>
            <a:pPr marL="342900" indent="-342900" algn="l">
              <a:buFont typeface="Arial" panose="020B0604020202020204" pitchFamily="34" charset="0"/>
              <a:buChar char="•"/>
            </a:pPr>
            <a:r>
              <a:rPr lang="en-US" kern="0" dirty="0"/>
              <a:t>Steps should be sequential</a:t>
            </a:r>
          </a:p>
          <a:p>
            <a:pPr marL="692150" lvl="1" indent="-233363"/>
            <a:r>
              <a:rPr lang="en-US" kern="0" dirty="0"/>
              <a:t>While multiple aspects can be worked in a single prompt, they may interfere with each other if they are not independent</a:t>
            </a:r>
          </a:p>
          <a:p>
            <a:pPr marL="342900" indent="-342900" algn="l">
              <a:buFont typeface="Arial" panose="020B0604020202020204" pitchFamily="34" charset="0"/>
              <a:buChar char="•"/>
            </a:pPr>
            <a:r>
              <a:rPr lang="en-US" kern="0" dirty="0"/>
              <a:t>A single, giant prompt can lead to missed or skipped steps</a:t>
            </a:r>
          </a:p>
          <a:p>
            <a:pPr marL="342900" indent="-342900" algn="l">
              <a:buFont typeface="Arial" panose="020B0604020202020204" pitchFamily="34" charset="0"/>
              <a:buChar char="•"/>
            </a:pPr>
            <a:r>
              <a:rPr lang="en-US" kern="0" dirty="0"/>
              <a:t>Be precise and do your research beforehand, e.g.,</a:t>
            </a:r>
          </a:p>
          <a:p>
            <a:pPr marL="692150" lvl="1" indent="-233363"/>
            <a:r>
              <a:rPr lang="en-US" kern="0" dirty="0"/>
              <a:t>What language do you want to code in? </a:t>
            </a:r>
          </a:p>
          <a:p>
            <a:pPr marL="692150" lvl="1" indent="-233363"/>
            <a:r>
              <a:rPr lang="en-US" kern="0" dirty="0"/>
              <a:t>What packages do you want to use?</a:t>
            </a:r>
          </a:p>
          <a:p>
            <a:pPr marL="692150" lvl="1" indent="-233363"/>
            <a:endParaRPr lang="en-US" kern="0" dirty="0"/>
          </a:p>
        </p:txBody>
      </p:sp>
    </p:spTree>
    <p:extLst>
      <p:ext uri="{BB962C8B-B14F-4D97-AF65-F5344CB8AC3E}">
        <p14:creationId xmlns:p14="http://schemas.microsoft.com/office/powerpoint/2010/main" val="301574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CEF0-7DAC-2F9B-8FE6-FD6C96D944C4}"/>
            </a:ext>
          </a:extLst>
        </p:cNvPr>
        <p:cNvGrpSpPr/>
        <p:nvPr/>
      </p:nvGrpSpPr>
      <p:grpSpPr>
        <a:xfrm>
          <a:off x="0" y="0"/>
          <a:ext cx="0" cy="0"/>
          <a:chOff x="0" y="0"/>
          <a:chExt cx="0" cy="0"/>
        </a:xfrm>
      </p:grpSpPr>
      <p:pic>
        <p:nvPicPr>
          <p:cNvPr id="5" name="Picture 4" descr="A white background with black dots&#10;&#10;AI-generated content may be incorrect.">
            <a:extLst>
              <a:ext uri="{FF2B5EF4-FFF2-40B4-BE49-F238E27FC236}">
                <a16:creationId xmlns:a16="http://schemas.microsoft.com/office/drawing/2014/main" id="{F7A2695D-9473-1F36-531D-6CC738F1A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6" name="Picture 5" descr="A white background with black dots&#10;&#10;AI-generated content may be incorrect.">
            <a:extLst>
              <a:ext uri="{FF2B5EF4-FFF2-40B4-BE49-F238E27FC236}">
                <a16:creationId xmlns:a16="http://schemas.microsoft.com/office/drawing/2014/main" id="{0C7EACD7-302D-01C9-EB57-70C1770E1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pic>
        <p:nvPicPr>
          <p:cNvPr id="8" name="Picture 7">
            <a:extLst>
              <a:ext uri="{FF2B5EF4-FFF2-40B4-BE49-F238E27FC236}">
                <a16:creationId xmlns:a16="http://schemas.microsoft.com/office/drawing/2014/main" id="{82C9BFB8-EA9F-B8D4-0FB4-E46A7C1CC5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1598638"/>
            <a:ext cx="8686800" cy="1946223"/>
          </a:xfrm>
          <a:prstGeom prst="rect">
            <a:avLst/>
          </a:prstGeom>
          <a:ln>
            <a:solidFill>
              <a:schemeClr val="tx1"/>
            </a:solidFill>
          </a:ln>
        </p:spPr>
      </p:pic>
      <p:sp>
        <p:nvSpPr>
          <p:cNvPr id="11" name="TextBox 10">
            <a:extLst>
              <a:ext uri="{FF2B5EF4-FFF2-40B4-BE49-F238E27FC236}">
                <a16:creationId xmlns:a16="http://schemas.microsoft.com/office/drawing/2014/main" id="{A33D2F8C-E7B4-96B2-3043-D34DEC008B89}"/>
              </a:ext>
            </a:extLst>
          </p:cNvPr>
          <p:cNvSpPr txBox="1"/>
          <p:nvPr/>
        </p:nvSpPr>
        <p:spPr>
          <a:xfrm>
            <a:off x="5105399" y="4735956"/>
            <a:ext cx="3733800" cy="276999"/>
          </a:xfrm>
          <a:prstGeom prst="rect">
            <a:avLst/>
          </a:prstGeom>
          <a:noFill/>
        </p:spPr>
        <p:txBody>
          <a:bodyPr wrap="square" rtlCol="0">
            <a:spAutoFit/>
          </a:bodyPr>
          <a:lstStyle/>
          <a:p>
            <a:pPr algn="r"/>
            <a:r>
              <a:rPr lang="en-US" sz="1200" b="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rPr>
              <a:t>Lee &amp; Palmer (2025, pg. 14)</a:t>
            </a:r>
          </a:p>
        </p:txBody>
      </p:sp>
    </p:spTree>
    <p:extLst>
      <p:ext uri="{BB962C8B-B14F-4D97-AF65-F5344CB8AC3E}">
        <p14:creationId xmlns:p14="http://schemas.microsoft.com/office/powerpoint/2010/main" val="255769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E427-686D-2AD2-1D38-5444AB8D70D3}"/>
            </a:ext>
          </a:extLst>
        </p:cNvPr>
        <p:cNvGrpSpPr/>
        <p:nvPr/>
      </p:nvGrpSpPr>
      <p:grpSpPr>
        <a:xfrm>
          <a:off x="0" y="0"/>
          <a:ext cx="0" cy="0"/>
          <a:chOff x="0" y="0"/>
          <a:chExt cx="0" cy="0"/>
        </a:xfrm>
      </p:grpSpPr>
      <p:pic>
        <p:nvPicPr>
          <p:cNvPr id="5" name="Picture 4" descr="A white background with black dots&#10;&#10;AI-generated content may be incorrect.">
            <a:extLst>
              <a:ext uri="{FF2B5EF4-FFF2-40B4-BE49-F238E27FC236}">
                <a16:creationId xmlns:a16="http://schemas.microsoft.com/office/drawing/2014/main" id="{D9C107C7-7AB6-E4A0-BCF9-83891ABC7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6" name="Picture 5" descr="A white background with black dots&#10;&#10;AI-generated content may be incorrect.">
            <a:extLst>
              <a:ext uri="{FF2B5EF4-FFF2-40B4-BE49-F238E27FC236}">
                <a16:creationId xmlns:a16="http://schemas.microsoft.com/office/drawing/2014/main" id="{6DAFD269-B8A0-32DE-3568-DE23D2E00A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7B514A14-C21B-C4BD-268D-73245402AA3B}"/>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Planning and Goals</a:t>
            </a:r>
          </a:p>
        </p:txBody>
      </p:sp>
      <p:sp>
        <p:nvSpPr>
          <p:cNvPr id="2" name="Content Placeholder 2">
            <a:extLst>
              <a:ext uri="{FF2B5EF4-FFF2-40B4-BE49-F238E27FC236}">
                <a16:creationId xmlns:a16="http://schemas.microsoft.com/office/drawing/2014/main" id="{83447A94-7619-BA02-251C-F79564572528}"/>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Working with a model to develop a plan (e.g., plan first…no code yet; “talk only”) or to establish goals can help by:</a:t>
            </a:r>
          </a:p>
          <a:p>
            <a:pPr marL="692150" lvl="1" indent="-233363"/>
            <a:r>
              <a:rPr lang="en-US" kern="0" dirty="0"/>
              <a:t>Breaking down a complex task into smaller steps (e.g., subgoals)</a:t>
            </a:r>
          </a:p>
          <a:p>
            <a:pPr marL="692150" lvl="1" indent="-233363"/>
            <a:r>
              <a:rPr lang="en-US" kern="0" dirty="0"/>
              <a:t>Providing a contract for you to analyze what the model did – </a:t>
            </a:r>
            <a:r>
              <a:rPr lang="en-US" i="1" kern="0" dirty="0"/>
              <a:t>and didn’t</a:t>
            </a:r>
            <a:r>
              <a:rPr lang="en-US" kern="0" dirty="0"/>
              <a:t> – do after the fact</a:t>
            </a:r>
          </a:p>
          <a:p>
            <a:pPr marL="692150" lvl="1" indent="-233363"/>
            <a:r>
              <a:rPr lang="en-US" kern="0" dirty="0"/>
              <a:t>Allowing for easier tracking of what’s already been done, which also helps understand what comes next</a:t>
            </a:r>
          </a:p>
          <a:p>
            <a:pPr marL="342900" indent="-342900" algn="l">
              <a:buFont typeface="Arial" panose="020B0604020202020204" pitchFamily="34" charset="0"/>
              <a:buChar char="•"/>
            </a:pPr>
            <a:r>
              <a:rPr lang="en-US" kern="0" dirty="0"/>
              <a:t>Plans/goals should include things that need to be done and things that shouldn’t be done (i.e., </a:t>
            </a:r>
            <a:r>
              <a:rPr lang="en-US" b="1" kern="0" dirty="0"/>
              <a:t>constraints</a:t>
            </a:r>
            <a:r>
              <a:rPr lang="en-US" kern="0" dirty="0"/>
              <a:t>)</a:t>
            </a:r>
          </a:p>
          <a:p>
            <a:pPr marL="342900" indent="-342900" algn="l">
              <a:buFont typeface="Arial" panose="020B0604020202020204" pitchFamily="34" charset="0"/>
              <a:buChar char="•"/>
            </a:pPr>
            <a:r>
              <a:rPr lang="en-US" kern="0" dirty="0"/>
              <a:t>Hermes (with a good model) may even ask you to clarify</a:t>
            </a:r>
          </a:p>
        </p:txBody>
      </p:sp>
    </p:spTree>
    <p:extLst>
      <p:ext uri="{BB962C8B-B14F-4D97-AF65-F5344CB8AC3E}">
        <p14:creationId xmlns:p14="http://schemas.microsoft.com/office/powerpoint/2010/main" val="423244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6778A-0BA8-5380-DEF1-2C508B6DEB0C}"/>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74FF4E3F-883F-6C2E-9C64-B63DBE2E8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1E8839EA-0259-0315-36D6-BEC1EEAAC8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4AFD31B2-2DFB-6E86-C148-0A65D14DF1C0}"/>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Auditing, Verification, and GitHub</a:t>
            </a:r>
          </a:p>
        </p:txBody>
      </p:sp>
      <p:sp>
        <p:nvSpPr>
          <p:cNvPr id="2" name="Content Placeholder 2">
            <a:extLst>
              <a:ext uri="{FF2B5EF4-FFF2-40B4-BE49-F238E27FC236}">
                <a16:creationId xmlns:a16="http://schemas.microsoft.com/office/drawing/2014/main" id="{FB410998-8A68-D8AE-1625-FAD48751E61E}"/>
              </a:ext>
            </a:extLst>
          </p:cNvPr>
          <p:cNvSpPr txBox="1">
            <a:spLocks/>
          </p:cNvSpPr>
          <p:nvPr/>
        </p:nvSpPr>
        <p:spPr bwMode="auto">
          <a:xfrm>
            <a:off x="228600" y="933450"/>
            <a:ext cx="5486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sz="2200" kern="0" dirty="0"/>
              <a:t>Never trust anything your agent does</a:t>
            </a:r>
          </a:p>
          <a:p>
            <a:pPr marL="342900" indent="-342900" algn="l">
              <a:buFont typeface="Arial" panose="020B0604020202020204" pitchFamily="34" charset="0"/>
              <a:buChar char="•"/>
            </a:pPr>
            <a:r>
              <a:rPr lang="en-US" sz="2200" b="1" i="1" kern="0" dirty="0"/>
              <a:t>You</a:t>
            </a:r>
            <a:r>
              <a:rPr lang="en-US" sz="2200" kern="0" dirty="0"/>
              <a:t> must review, audit, check, verify</a:t>
            </a:r>
          </a:p>
          <a:p>
            <a:pPr marL="342900" indent="-342900" algn="l">
              <a:buFont typeface="Arial" panose="020B0604020202020204" pitchFamily="34" charset="0"/>
              <a:buChar char="•"/>
            </a:pPr>
            <a:r>
              <a:rPr lang="en-US" sz="2200" kern="0" dirty="0"/>
              <a:t>Ask your model to summarize everything it did in the last turn(s) and commit this record to GitHub</a:t>
            </a:r>
          </a:p>
          <a:p>
            <a:pPr marL="342900" indent="-342900" algn="l">
              <a:buFont typeface="Arial" panose="020B0604020202020204" pitchFamily="34" charset="0"/>
              <a:buChar char="•"/>
            </a:pPr>
            <a:r>
              <a:rPr lang="en-US" sz="2200" kern="0" dirty="0"/>
              <a:t>Maintaining code on GitHub helps provide context for future work as well as recovery from mistakes/problems (e.g., by reverting commits)</a:t>
            </a:r>
          </a:p>
        </p:txBody>
      </p:sp>
      <p:pic>
        <p:nvPicPr>
          <p:cNvPr id="5" name="Picture 4">
            <a:extLst>
              <a:ext uri="{FF2B5EF4-FFF2-40B4-BE49-F238E27FC236}">
                <a16:creationId xmlns:a16="http://schemas.microsoft.com/office/drawing/2014/main" id="{438D83B2-DEEB-62C9-4E29-BA6E0422839A}"/>
              </a:ext>
            </a:extLst>
          </p:cNvPr>
          <p:cNvPicPr>
            <a:picLocks noChangeAspect="1"/>
          </p:cNvPicPr>
          <p:nvPr/>
        </p:nvPicPr>
        <p:blipFill>
          <a:blip r:embed="rId4"/>
          <a:stretch>
            <a:fillRect/>
          </a:stretch>
        </p:blipFill>
        <p:spPr>
          <a:xfrm>
            <a:off x="5714999" y="933449"/>
            <a:ext cx="3085515" cy="1540817"/>
          </a:xfrm>
          <a:prstGeom prst="rect">
            <a:avLst/>
          </a:prstGeom>
        </p:spPr>
      </p:pic>
      <p:sp>
        <p:nvSpPr>
          <p:cNvPr id="6" name="TextBox 5">
            <a:extLst>
              <a:ext uri="{FF2B5EF4-FFF2-40B4-BE49-F238E27FC236}">
                <a16:creationId xmlns:a16="http://schemas.microsoft.com/office/drawing/2014/main" id="{80ED86F5-F2E8-A505-101A-375605C522C9}"/>
              </a:ext>
            </a:extLst>
          </p:cNvPr>
          <p:cNvSpPr txBox="1"/>
          <p:nvPr/>
        </p:nvSpPr>
        <p:spPr>
          <a:xfrm>
            <a:off x="5997575" y="4432483"/>
            <a:ext cx="2797576" cy="461665"/>
          </a:xfrm>
          <a:prstGeom prst="rect">
            <a:avLst/>
          </a:prstGeom>
          <a:noFill/>
        </p:spPr>
        <p:txBody>
          <a:bodyPr wrap="square" rtlCol="0">
            <a:spAutoFit/>
          </a:bodyPr>
          <a:lstStyle/>
          <a:p>
            <a:pPr algn="r"/>
            <a:r>
              <a:rPr lang="en-US" sz="1200" b="1" dirty="0">
                <a:latin typeface="Arial" panose="020B0604020202020204" pitchFamily="34" charset="0"/>
                <a:cs typeface="Arial" panose="020B0604020202020204" pitchFamily="34" charset="0"/>
              </a:rPr>
              <a:t>Sources: </a:t>
            </a:r>
            <a:r>
              <a:rPr lang="en-US" sz="1200" dirty="0">
                <a:latin typeface="Arial" panose="020B0604020202020204" pitchFamily="34" charset="0"/>
                <a:cs typeface="Arial" panose="020B0604020202020204" pitchFamily="34" charset="0"/>
              </a:rPr>
              <a:t>Acuna, K. (2015, March 31); Nolan, C. (2014)</a:t>
            </a:r>
          </a:p>
        </p:txBody>
      </p:sp>
      <p:sp>
        <p:nvSpPr>
          <p:cNvPr id="8" name="TextBox 7">
            <a:extLst>
              <a:ext uri="{FF2B5EF4-FFF2-40B4-BE49-F238E27FC236}">
                <a16:creationId xmlns:a16="http://schemas.microsoft.com/office/drawing/2014/main" id="{7EA1C687-15E4-F876-F61E-7DB71584742D}"/>
              </a:ext>
            </a:extLst>
          </p:cNvPr>
          <p:cNvSpPr txBox="1"/>
          <p:nvPr/>
        </p:nvSpPr>
        <p:spPr>
          <a:xfrm>
            <a:off x="5714999" y="2631307"/>
            <a:ext cx="3080152" cy="1077218"/>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“What’s your trust setting, TARS?</a:t>
            </a:r>
          </a:p>
          <a:p>
            <a:pPr algn="ctr"/>
            <a:r>
              <a:rPr lang="en-US" sz="1600" b="1" dirty="0">
                <a:latin typeface="Arial" panose="020B0604020202020204" pitchFamily="34" charset="0"/>
                <a:cs typeface="Arial" panose="020B0604020202020204" pitchFamily="34" charset="0"/>
              </a:rPr>
              <a:t>Lower than yours apparently...”</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549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C2156-01FC-4E54-E059-EA0B5079F3A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BB5BD45-A47A-918B-BDEB-0CC770BCCD30}"/>
              </a:ext>
            </a:extLst>
          </p:cNvPr>
          <p:cNvSpPr txBox="1">
            <a:spLocks/>
          </p:cNvSpPr>
          <p:nvPr/>
        </p:nvSpPr>
        <p:spPr bwMode="auto">
          <a:xfrm>
            <a:off x="228600" y="2314575"/>
            <a:ext cx="8686800" cy="51435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dirty="0"/>
              <a:t>Prompting with Hermes Agent</a:t>
            </a:r>
          </a:p>
        </p:txBody>
      </p:sp>
    </p:spTree>
    <p:extLst>
      <p:ext uri="{BB962C8B-B14F-4D97-AF65-F5344CB8AC3E}">
        <p14:creationId xmlns:p14="http://schemas.microsoft.com/office/powerpoint/2010/main" val="300336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4A84F-7DE7-3972-F9BA-AA7282B74454}"/>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368068C5-F6C5-C0BD-C950-D497F4C74D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3D62338B-F52A-C3AC-0D0E-FD65FB618A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0A7F279E-D9EF-7070-78C2-A9F037D5ADFE}"/>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Hermes Agent Commands</a:t>
            </a:r>
          </a:p>
        </p:txBody>
      </p:sp>
      <p:sp>
        <p:nvSpPr>
          <p:cNvPr id="2" name="Content Placeholder 2">
            <a:extLst>
              <a:ext uri="{FF2B5EF4-FFF2-40B4-BE49-F238E27FC236}">
                <a16:creationId xmlns:a16="http://schemas.microsoft.com/office/drawing/2014/main" id="{B50408CA-961E-2FF9-A8BB-68A9E1817CAB}"/>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Beyond just typing prompts, Hermes provides several commands to help manage more complex tasks, including:</a:t>
            </a:r>
          </a:p>
          <a:p>
            <a:pPr marL="692150" lvl="1" indent="-233363"/>
            <a:r>
              <a:rPr lang="en-US" b="1" dirty="0"/>
              <a:t>/prompt </a:t>
            </a:r>
            <a:r>
              <a:rPr lang="en-US" dirty="0"/>
              <a:t>– Compose your next prompt in $EDITOR (markdown), then send it (aka </a:t>
            </a:r>
            <a:r>
              <a:rPr lang="en-US" b="1" dirty="0"/>
              <a:t>/compose</a:t>
            </a:r>
            <a:r>
              <a:rPr lang="en-US" dirty="0"/>
              <a:t>)</a:t>
            </a:r>
          </a:p>
          <a:p>
            <a:pPr marL="692150" lvl="1" indent="-233363"/>
            <a:r>
              <a:rPr lang="en-US" b="1" dirty="0"/>
              <a:t>/queue</a:t>
            </a:r>
            <a:r>
              <a:rPr lang="en-US" dirty="0"/>
              <a:t> – Queue a prompt for the next turn (doesn’t interrupt)</a:t>
            </a:r>
          </a:p>
          <a:p>
            <a:pPr marL="692150" lvl="1" indent="-233363"/>
            <a:r>
              <a:rPr lang="en-US" b="1" dirty="0"/>
              <a:t>/steer</a:t>
            </a:r>
            <a:r>
              <a:rPr lang="en-US" dirty="0"/>
              <a:t> – Inject a message after the next tool call without interrupting</a:t>
            </a:r>
            <a:endParaRPr lang="en-US" b="1" dirty="0"/>
          </a:p>
          <a:p>
            <a:pPr marL="692150" lvl="1" indent="-233363"/>
            <a:r>
              <a:rPr lang="en-US" b="1" dirty="0"/>
              <a:t>/goal</a:t>
            </a:r>
            <a:r>
              <a:rPr lang="en-US" dirty="0"/>
              <a:t> – Set a standing goal Hermes works on until achieved</a:t>
            </a:r>
          </a:p>
          <a:p>
            <a:pPr marL="692150" lvl="1" indent="-233363"/>
            <a:r>
              <a:rPr lang="en-US" b="1" dirty="0"/>
              <a:t>/subgoal</a:t>
            </a:r>
            <a:r>
              <a:rPr lang="en-US" dirty="0"/>
              <a:t> – Add or manage extra criteria on the active goal</a:t>
            </a:r>
          </a:p>
          <a:p>
            <a:pPr marL="692150" lvl="1" indent="-233363"/>
            <a:r>
              <a:rPr lang="en-US" b="1" dirty="0"/>
              <a:t>/plan</a:t>
            </a:r>
            <a:r>
              <a:rPr lang="en-US" dirty="0"/>
              <a:t> – Write a markdown implementation plan…without executing anything</a:t>
            </a:r>
          </a:p>
          <a:p>
            <a:pPr marL="692150" lvl="1" indent="-233363"/>
            <a:r>
              <a:rPr lang="en-US" b="1" dirty="0"/>
              <a:t>/kanban</a:t>
            </a:r>
            <a:r>
              <a:rPr lang="en-US" dirty="0"/>
              <a:t> – Multi-profile collaboration board (tasks, links, comments)</a:t>
            </a:r>
          </a:p>
          <a:p>
            <a:pPr marL="692150" lvl="1" indent="-233363"/>
            <a:endParaRPr lang="en-US" dirty="0"/>
          </a:p>
          <a:p>
            <a:pPr marL="692150" lvl="1" indent="-233363"/>
            <a:endParaRPr lang="en-US" dirty="0"/>
          </a:p>
          <a:p>
            <a:pPr marL="342900" indent="-342900" algn="l">
              <a:buFont typeface="Arial" panose="020B0604020202020204" pitchFamily="34" charset="0"/>
              <a:buChar char="•"/>
            </a:pPr>
            <a:r>
              <a:rPr lang="en-US" kern="0" dirty="0"/>
              <a:t>The following slides present key summaries from pg. 14 of Lee &amp; Palmer (2025)</a:t>
            </a:r>
          </a:p>
          <a:p>
            <a:pPr marL="692150" lvl="1" indent="-233363"/>
            <a:endParaRPr lang="en-US" kern="0" dirty="0"/>
          </a:p>
        </p:txBody>
      </p:sp>
    </p:spTree>
    <p:extLst>
      <p:ext uri="{BB962C8B-B14F-4D97-AF65-F5344CB8AC3E}">
        <p14:creationId xmlns:p14="http://schemas.microsoft.com/office/powerpoint/2010/main" val="2085179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DE89-ED9A-5F62-EF00-CBDD7790EFCD}"/>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B08D4273-A385-05E5-F7A8-7DF9D2623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998AB09B-2F0F-BEED-5B74-F413792882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83BBF8D8-4B51-22C1-B21D-9A016D51B586}"/>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Hermes and Projects</a:t>
            </a:r>
          </a:p>
        </p:txBody>
      </p:sp>
      <p:sp>
        <p:nvSpPr>
          <p:cNvPr id="2" name="Content Placeholder 2">
            <a:extLst>
              <a:ext uri="{FF2B5EF4-FFF2-40B4-BE49-F238E27FC236}">
                <a16:creationId xmlns:a16="http://schemas.microsoft.com/office/drawing/2014/main" id="{31F0EE3F-1183-F3E5-EFEE-92D1533EE12B}"/>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To help organize, use the projects feature in the desktop application (see slide notes) or ask Hermes to create a project on the command line interface (CLI)</a:t>
            </a:r>
          </a:p>
          <a:p>
            <a:pPr marL="342900" indent="-342900" algn="l">
              <a:buFont typeface="Arial" panose="020B0604020202020204" pitchFamily="34" charset="0"/>
              <a:buChar char="•"/>
            </a:pPr>
            <a:r>
              <a:rPr lang="en-US" kern="0" dirty="0"/>
              <a:t>Make use of Hermes’ </a:t>
            </a:r>
            <a:r>
              <a:rPr lang="en-US" kern="0" dirty="0">
                <a:hlinkClick r:id="rId4"/>
              </a:rPr>
              <a:t>context files</a:t>
            </a:r>
            <a:r>
              <a:rPr lang="en-US" kern="0" dirty="0"/>
              <a:t> including:</a:t>
            </a:r>
            <a:endParaRPr lang="en-US" dirty="0"/>
          </a:p>
          <a:p>
            <a:pPr marL="692150" lvl="1" indent="-233363"/>
            <a:r>
              <a:rPr lang="en-US" b="1" kern="0" dirty="0" err="1"/>
              <a:t>HERMES.md</a:t>
            </a:r>
            <a:r>
              <a:rPr lang="en-US" b="1" kern="0" dirty="0"/>
              <a:t> </a:t>
            </a:r>
            <a:r>
              <a:rPr lang="en-US" kern="0" dirty="0"/>
              <a:t>– Project instructions (highest priority)</a:t>
            </a:r>
          </a:p>
          <a:p>
            <a:pPr marL="692150" lvl="1" indent="-233363"/>
            <a:r>
              <a:rPr lang="en-US" b="1" kern="0" dirty="0" err="1"/>
              <a:t>AGENTS.md</a:t>
            </a:r>
            <a:r>
              <a:rPr lang="en-US" b="1" kern="0" dirty="0"/>
              <a:t> </a:t>
            </a:r>
            <a:r>
              <a:rPr lang="en-US" kern="0" dirty="0"/>
              <a:t>– </a:t>
            </a:r>
            <a:r>
              <a:rPr lang="en-US" dirty="0"/>
              <a:t>Project instructions, conventions, architecture</a:t>
            </a:r>
          </a:p>
          <a:p>
            <a:pPr marL="692150" lvl="1" indent="-233363"/>
            <a:r>
              <a:rPr lang="en-US" b="1" dirty="0" err="1"/>
              <a:t>CLAUDE.md</a:t>
            </a:r>
            <a:r>
              <a:rPr lang="en-US" dirty="0"/>
              <a:t> – Claude Code context files (also detected)</a:t>
            </a:r>
          </a:p>
          <a:p>
            <a:pPr marL="692150" lvl="1" indent="-233363"/>
            <a:r>
              <a:rPr lang="en-US" b="1" dirty="0"/>
              <a:t>SOUL.md</a:t>
            </a:r>
            <a:r>
              <a:rPr lang="en-US" dirty="0"/>
              <a:t> – Global personality and tone customization</a:t>
            </a:r>
          </a:p>
        </p:txBody>
      </p:sp>
    </p:spTree>
    <p:extLst>
      <p:ext uri="{BB962C8B-B14F-4D97-AF65-F5344CB8AC3E}">
        <p14:creationId xmlns:p14="http://schemas.microsoft.com/office/powerpoint/2010/main" val="3637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75EF-3D41-1C86-7B10-97C216C93203}"/>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063E54BF-7CDD-0CE4-DE69-2BE600EAB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3D5F3DCB-EAAC-B4BC-88C8-0ADD6F322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AAC29904-F0EA-6F9E-7DF7-958B6E529253}"/>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Advice from Hermes’ Docs</a:t>
            </a:r>
          </a:p>
        </p:txBody>
      </p:sp>
      <p:sp>
        <p:nvSpPr>
          <p:cNvPr id="2" name="Content Placeholder 2">
            <a:extLst>
              <a:ext uri="{FF2B5EF4-FFF2-40B4-BE49-F238E27FC236}">
                <a16:creationId xmlns:a16="http://schemas.microsoft.com/office/drawing/2014/main" id="{26685A98-A50B-CE66-7EEE-402F1266CC08}"/>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B39A4038-9779-53C6-4D0E-F2F2B0EDF2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249" y="895351"/>
            <a:ext cx="8803502" cy="3565245"/>
          </a:xfrm>
          <a:prstGeom prst="rect">
            <a:avLst/>
          </a:prstGeom>
        </p:spPr>
      </p:pic>
      <p:sp>
        <p:nvSpPr>
          <p:cNvPr id="9" name="TextBox 8">
            <a:extLst>
              <a:ext uri="{FF2B5EF4-FFF2-40B4-BE49-F238E27FC236}">
                <a16:creationId xmlns:a16="http://schemas.microsoft.com/office/drawing/2014/main" id="{A368A602-A503-BDB7-47CF-744E37907854}"/>
              </a:ext>
            </a:extLst>
          </p:cNvPr>
          <p:cNvSpPr txBox="1"/>
          <p:nvPr/>
        </p:nvSpPr>
        <p:spPr>
          <a:xfrm>
            <a:off x="5105399" y="4735956"/>
            <a:ext cx="3733800" cy="276999"/>
          </a:xfrm>
          <a:prstGeom prst="rect">
            <a:avLst/>
          </a:prstGeom>
          <a:noFill/>
        </p:spPr>
        <p:txBody>
          <a:bodyPr wrap="square" rtlCol="0">
            <a:spAutoFit/>
          </a:bodyPr>
          <a:lstStyle/>
          <a:p>
            <a:pPr algn="r"/>
            <a:r>
              <a:rPr lang="en-US" sz="1200" b="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hlinkClick r:id="rId5"/>
              </a:rPr>
              <a:t>Hermes Agent Docs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6281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B8CD-5D56-669F-774E-E7D133E4B1F9}"/>
            </a:ext>
          </a:extLst>
        </p:cNvPr>
        <p:cNvGrpSpPr/>
        <p:nvPr/>
      </p:nvGrpSpPr>
      <p:grpSpPr>
        <a:xfrm>
          <a:off x="0" y="0"/>
          <a:ext cx="0" cy="0"/>
          <a:chOff x="0" y="0"/>
          <a:chExt cx="0" cy="0"/>
        </a:xfrm>
      </p:grpSpPr>
      <p:pic>
        <p:nvPicPr>
          <p:cNvPr id="3" name="Picture 2" descr="A white background with black dots&#10;&#10;AI-generated content may be incorrect.">
            <a:extLst>
              <a:ext uri="{FF2B5EF4-FFF2-40B4-BE49-F238E27FC236}">
                <a16:creationId xmlns:a16="http://schemas.microsoft.com/office/drawing/2014/main" id="{C24BECB1-AE94-640F-C6D8-E4905D8C4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25" y="4705351"/>
            <a:ext cx="2351509" cy="438150"/>
          </a:xfrm>
          <a:prstGeom prst="rect">
            <a:avLst/>
          </a:prstGeom>
        </p:spPr>
      </p:pic>
      <p:pic>
        <p:nvPicPr>
          <p:cNvPr id="4" name="Picture 3" descr="A white background with black dots&#10;&#10;AI-generated content may be incorrect.">
            <a:extLst>
              <a:ext uri="{FF2B5EF4-FFF2-40B4-BE49-F238E27FC236}">
                <a16:creationId xmlns:a16="http://schemas.microsoft.com/office/drawing/2014/main" id="{10CED39F-3F45-ED88-233A-0C1756937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 y="4552950"/>
            <a:ext cx="565150" cy="568606"/>
          </a:xfrm>
          <a:prstGeom prst="rect">
            <a:avLst/>
          </a:prstGeom>
        </p:spPr>
      </p:pic>
      <p:sp>
        <p:nvSpPr>
          <p:cNvPr id="14" name="Title 1">
            <a:extLst>
              <a:ext uri="{FF2B5EF4-FFF2-40B4-BE49-F238E27FC236}">
                <a16:creationId xmlns:a16="http://schemas.microsoft.com/office/drawing/2014/main" id="{F4837A91-F5F3-7384-62FD-F7F37891606F}"/>
              </a:ext>
            </a:extLst>
          </p:cNvPr>
          <p:cNvSpPr txBox="1">
            <a:spLocks/>
          </p:cNvSpPr>
          <p:nvPr/>
        </p:nvSpPr>
        <p:spPr bwMode="auto">
          <a:xfrm>
            <a:off x="228600" y="209550"/>
            <a:ext cx="8566550" cy="45720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US" kern="0" dirty="0"/>
              <a:t>Hermes Learns from and Remembers You</a:t>
            </a:r>
          </a:p>
        </p:txBody>
      </p:sp>
      <p:sp>
        <p:nvSpPr>
          <p:cNvPr id="2" name="Content Placeholder 2">
            <a:extLst>
              <a:ext uri="{FF2B5EF4-FFF2-40B4-BE49-F238E27FC236}">
                <a16:creationId xmlns:a16="http://schemas.microsoft.com/office/drawing/2014/main" id="{26D064F6-7FFF-45FC-ACF1-3053F1AF198F}"/>
              </a:ext>
            </a:extLst>
          </p:cNvPr>
          <p:cNvSpPr txBox="1">
            <a:spLocks/>
          </p:cNvSpPr>
          <p:nvPr/>
        </p:nvSpPr>
        <p:spPr bwMode="auto">
          <a:xfrm>
            <a:off x="228600" y="933450"/>
            <a:ext cx="85665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0" indent="0" algn="ctr" rtl="0" eaLnBrk="1" fontAlgn="base" hangingPunct="1">
              <a:spcBef>
                <a:spcPct val="20000"/>
              </a:spcBef>
              <a:spcAft>
                <a:spcPct val="0"/>
              </a:spcAft>
              <a:buClr>
                <a:srgbClr val="CFB87C"/>
              </a:buClr>
              <a:buFontTx/>
              <a:buNone/>
              <a:defRPr sz="2400" smtClean="0">
                <a:solidFill>
                  <a:schemeClr val="tx1"/>
                </a:solidFill>
                <a:latin typeface="+mn-lt"/>
                <a:ea typeface="+mn-ea"/>
                <a:cs typeface="+mn-cs"/>
              </a:defRPr>
            </a:lvl1pPr>
            <a:lvl2pPr marL="742950" indent="-285750" algn="l" rtl="0" eaLnBrk="1" fontAlgn="base" hangingPunct="1">
              <a:spcBef>
                <a:spcPct val="20000"/>
              </a:spcBef>
              <a:spcAft>
                <a:spcPct val="0"/>
              </a:spcAft>
              <a:buClr>
                <a:srgbClr val="CFB87C"/>
              </a:buClr>
              <a:buFont typeface="Arial" pitchFamily="34" charset="0"/>
              <a:buChar char="•"/>
              <a:defRPr sz="2000">
                <a:solidFill>
                  <a:schemeClr val="tx1"/>
                </a:solidFill>
                <a:latin typeface="+mn-lt"/>
              </a:defRPr>
            </a:lvl2pPr>
            <a:lvl3pPr marL="11430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3pPr>
            <a:lvl4pPr marL="1600200" indent="-228600" algn="l" rtl="0" eaLnBrk="1" fontAlgn="base" hangingPunct="1">
              <a:spcBef>
                <a:spcPct val="20000"/>
              </a:spcBef>
              <a:spcAft>
                <a:spcPct val="0"/>
              </a:spcAft>
              <a:buClr>
                <a:srgbClr val="CFB87C"/>
              </a:buClr>
              <a:buFont typeface="Arial" pitchFamily="34" charset="0"/>
              <a:buChar char="•"/>
              <a:defRPr>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a:lstStyle>
          <a:p>
            <a:pPr marL="342900" indent="-342900" algn="l">
              <a:buFont typeface="Arial" panose="020B0604020202020204" pitchFamily="34" charset="0"/>
              <a:buChar char="•"/>
            </a:pPr>
            <a:r>
              <a:rPr lang="en-US" kern="0" dirty="0"/>
              <a:t>As you use Hermes, it will start making notes about you via </a:t>
            </a:r>
            <a:r>
              <a:rPr lang="en-US" kern="0" dirty="0">
                <a:hlinkClick r:id="rId4"/>
              </a:rPr>
              <a:t>persistent memory</a:t>
            </a:r>
            <a:r>
              <a:rPr lang="en-US" kern="0" dirty="0"/>
              <a:t> files, including:</a:t>
            </a:r>
          </a:p>
          <a:p>
            <a:pPr marL="692150" lvl="1" indent="-233363"/>
            <a:r>
              <a:rPr lang="en-US" b="1" kern="0" dirty="0" err="1"/>
              <a:t>MEMORY.md</a:t>
            </a:r>
            <a:r>
              <a:rPr lang="en-US" b="1" kern="0" dirty="0"/>
              <a:t> </a:t>
            </a:r>
            <a:r>
              <a:rPr lang="en-US" kern="0" dirty="0"/>
              <a:t>– </a:t>
            </a:r>
            <a:r>
              <a:rPr lang="en-US" dirty="0"/>
              <a:t>Agent’s personal notes, including environment facts, conventions, things learned</a:t>
            </a:r>
          </a:p>
          <a:p>
            <a:pPr marL="692150" lvl="1" indent="-233363"/>
            <a:r>
              <a:rPr lang="en-US" b="1" dirty="0" err="1"/>
              <a:t>USER.md</a:t>
            </a:r>
            <a:r>
              <a:rPr lang="en-US" dirty="0"/>
              <a:t> – User profile, including your preferences, communication style, expectations</a:t>
            </a:r>
          </a:p>
          <a:p>
            <a:pPr marL="342900" indent="-342900" algn="l">
              <a:buFont typeface="Arial" panose="020B0604020202020204" pitchFamily="34" charset="0"/>
              <a:buChar char="•"/>
            </a:pPr>
            <a:r>
              <a:rPr lang="en-US" kern="0" dirty="0"/>
              <a:t>Hermes comes with out-of-the-box </a:t>
            </a:r>
            <a:r>
              <a:rPr lang="en-US" kern="0" dirty="0">
                <a:hlinkClick r:id="rId5"/>
              </a:rPr>
              <a:t>skills</a:t>
            </a:r>
            <a:r>
              <a:rPr lang="en-US" kern="0" dirty="0"/>
              <a:t> to help solve tasks, but it can also learn new ones as you work with it (automatically or manually):</a:t>
            </a:r>
          </a:p>
          <a:p>
            <a:pPr marL="692150" lvl="1" indent="-233363"/>
            <a:r>
              <a:rPr lang="en-US" b="1" kern="0" dirty="0"/>
              <a:t>/skills </a:t>
            </a:r>
            <a:r>
              <a:rPr lang="en-US" kern="0" dirty="0"/>
              <a:t>– Search, install, inspect, or manage skills</a:t>
            </a:r>
          </a:p>
          <a:p>
            <a:pPr marL="692150" lvl="1" indent="-233363"/>
            <a:r>
              <a:rPr lang="en-US" b="1" kern="0" dirty="0"/>
              <a:t>/learn </a:t>
            </a:r>
            <a:r>
              <a:rPr lang="en-US" kern="0" dirty="0"/>
              <a:t>– Learn a reusable skill from anything you describe</a:t>
            </a:r>
            <a:endParaRPr lang="en-US" dirty="0"/>
          </a:p>
          <a:p>
            <a:pPr marL="692150" lvl="1" indent="-233363"/>
            <a:endParaRPr lang="en-US" dirty="0"/>
          </a:p>
        </p:txBody>
      </p:sp>
    </p:spTree>
    <p:extLst>
      <p:ext uri="{BB962C8B-B14F-4D97-AF65-F5344CB8AC3E}">
        <p14:creationId xmlns:p14="http://schemas.microsoft.com/office/powerpoint/2010/main" val="379678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B0166-C317-2082-EF67-5C9B0F05A15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126A62E-F9B9-6409-669E-624C6B822861}"/>
              </a:ext>
            </a:extLst>
          </p:cNvPr>
          <p:cNvSpPr txBox="1">
            <a:spLocks/>
          </p:cNvSpPr>
          <p:nvPr/>
        </p:nvSpPr>
        <p:spPr bwMode="auto">
          <a:xfrm>
            <a:off x="228600" y="2314575"/>
            <a:ext cx="8686800" cy="514350"/>
          </a:xfrm>
          <a:prstGeom prst="rect">
            <a:avLst/>
          </a:prstGeom>
          <a:noFill/>
          <a:ln>
            <a:noFill/>
          </a:ln>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200" b="1" smtClean="0">
                <a:solidFill>
                  <a:srgbClr val="000000"/>
                </a:solidFill>
                <a:latin typeface="+mj-lt"/>
                <a:ea typeface="+mj-ea"/>
                <a:cs typeface="+mj-cs"/>
              </a:defRPr>
            </a:lvl1pPr>
            <a:lvl2pPr algn="ctr" rtl="0" eaLnBrk="1" fontAlgn="base" hangingPunct="1">
              <a:spcBef>
                <a:spcPct val="0"/>
              </a:spcBef>
              <a:spcAft>
                <a:spcPct val="0"/>
              </a:spcAft>
              <a:defRPr sz="2800" b="1">
                <a:solidFill>
                  <a:srgbClr val="A80000"/>
                </a:solidFill>
                <a:latin typeface="Arial" charset="0"/>
              </a:defRPr>
            </a:lvl2pPr>
            <a:lvl3pPr algn="ctr" rtl="0" eaLnBrk="1" fontAlgn="base" hangingPunct="1">
              <a:spcBef>
                <a:spcPct val="0"/>
              </a:spcBef>
              <a:spcAft>
                <a:spcPct val="0"/>
              </a:spcAft>
              <a:defRPr sz="2800" b="1">
                <a:solidFill>
                  <a:srgbClr val="A80000"/>
                </a:solidFill>
                <a:latin typeface="Arial" charset="0"/>
              </a:defRPr>
            </a:lvl3pPr>
            <a:lvl4pPr algn="ctr" rtl="0" eaLnBrk="1" fontAlgn="base" hangingPunct="1">
              <a:spcBef>
                <a:spcPct val="0"/>
              </a:spcBef>
              <a:spcAft>
                <a:spcPct val="0"/>
              </a:spcAft>
              <a:defRPr sz="2800" b="1">
                <a:solidFill>
                  <a:srgbClr val="A80000"/>
                </a:solidFill>
                <a:latin typeface="Arial" charset="0"/>
              </a:defRPr>
            </a:lvl4pPr>
            <a:lvl5pPr algn="ctr" rtl="0" eaLnBrk="1" fontAlgn="base" hangingPunct="1">
              <a:spcBef>
                <a:spcPct val="0"/>
              </a:spcBef>
              <a:spcAft>
                <a:spcPct val="0"/>
              </a:spcAft>
              <a:defRPr sz="2800" b="1">
                <a:solidFill>
                  <a:srgbClr val="A80000"/>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a:t>Class Exercise</a:t>
            </a:r>
            <a:endParaRPr lang="en-US" dirty="0"/>
          </a:p>
        </p:txBody>
      </p:sp>
    </p:spTree>
    <p:extLst>
      <p:ext uri="{BB962C8B-B14F-4D97-AF65-F5344CB8AC3E}">
        <p14:creationId xmlns:p14="http://schemas.microsoft.com/office/powerpoint/2010/main" val="577028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Boulder">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5689"/>
      </a:hlink>
      <a:folHlink>
        <a:srgbClr val="00568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UBoulder" id="{22C9E7FD-29F8-440A-83A3-6026F7243698}" vid="{C4BF4658-6518-4491-BFF2-1B126C95D8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INAL CU LEEDS COLORS">
    <a:dk1>
      <a:srgbClr val="000000"/>
    </a:dk1>
    <a:lt1>
      <a:srgbClr val="FFFFFF"/>
    </a:lt1>
    <a:dk2>
      <a:srgbClr val="1D1D1D"/>
    </a:dk2>
    <a:lt2>
      <a:srgbClr val="E7E6E6"/>
    </a:lt2>
    <a:accent1>
      <a:srgbClr val="CEB87B"/>
    </a:accent1>
    <a:accent2>
      <a:srgbClr val="AF8356"/>
    </a:accent2>
    <a:accent3>
      <a:srgbClr val="A0A3AE"/>
    </a:accent3>
    <a:accent4>
      <a:srgbClr val="5E5E64"/>
    </a:accent4>
    <a:accent5>
      <a:srgbClr val="1D1D1D"/>
    </a:accent5>
    <a:accent6>
      <a:srgbClr val="000000"/>
    </a:accent6>
    <a:hlink>
      <a:srgbClr val="CEB87B"/>
    </a:hlink>
    <a:folHlink>
      <a:srgbClr val="AF8356"/>
    </a:folHlink>
  </a:clrScheme>
</a:themeOverride>
</file>

<file path=docProps/app.xml><?xml version="1.0" encoding="utf-8"?>
<Properties xmlns="http://schemas.openxmlformats.org/officeDocument/2006/extended-properties" xmlns:vt="http://schemas.openxmlformats.org/officeDocument/2006/docPropsVTypes">
  <Template>CUBoulder</Template>
  <TotalTime>16143</TotalTime>
  <Words>3167</Words>
  <Application>Microsoft Office PowerPoint</Application>
  <PresentationFormat>On-screen Show (16:9)</PresentationFormat>
  <Paragraphs>315</Paragraphs>
  <Slides>33</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Consolas</vt:lpstr>
      <vt:lpstr>Georgia</vt:lpstr>
      <vt:lpstr>Times New Roman</vt:lpstr>
      <vt:lpstr>CUBoulder</vt:lpstr>
      <vt:lpstr>MBAX 6418 Prompt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McIntire School of Commerce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Dobolyi</dc:creator>
  <cp:lastModifiedBy>Christopher Burnham</cp:lastModifiedBy>
  <cp:revision>344</cp:revision>
  <dcterms:created xsi:type="dcterms:W3CDTF">2017-01-22T22:53:20Z</dcterms:created>
  <dcterms:modified xsi:type="dcterms:W3CDTF">2026-10-04T22:17:27Z</dcterms:modified>
</cp:coreProperties>
</file>