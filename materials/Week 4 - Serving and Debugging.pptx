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8"/>
  </p:notesMasterIdLst>
  <p:sldIdLst>
    <p:sldId id="1056" r:id="rId2"/>
    <p:sldId id="337" r:id="rId3"/>
    <p:sldId id="1136" r:id="rId4"/>
    <p:sldId id="1180" r:id="rId5"/>
    <p:sldId id="1181" r:id="rId6"/>
    <p:sldId id="1234" r:id="rId7"/>
    <p:sldId id="1207" r:id="rId8"/>
    <p:sldId id="1208" r:id="rId9"/>
    <p:sldId id="1209" r:id="rId10"/>
    <p:sldId id="1211" r:id="rId11"/>
    <p:sldId id="1210" r:id="rId12"/>
    <p:sldId id="1212" r:id="rId13"/>
    <p:sldId id="1213" r:id="rId14"/>
    <p:sldId id="1220" r:id="rId15"/>
    <p:sldId id="1221" r:id="rId16"/>
    <p:sldId id="1222" r:id="rId17"/>
    <p:sldId id="1223" r:id="rId18"/>
    <p:sldId id="1224" r:id="rId19"/>
    <p:sldId id="1225" r:id="rId20"/>
    <p:sldId id="1226" r:id="rId21"/>
    <p:sldId id="1227" r:id="rId22"/>
    <p:sldId id="1233" r:id="rId23"/>
    <p:sldId id="1228" r:id="rId24"/>
    <p:sldId id="1229" r:id="rId25"/>
    <p:sldId id="1230" r:id="rId26"/>
    <p:sldId id="1231" r:id="rId27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092"/>
    <a:srgbClr val="0B853E"/>
    <a:srgbClr val="FF7003"/>
    <a:srgbClr val="9D9F83"/>
    <a:srgbClr val="406C99"/>
    <a:srgbClr val="98CDEA"/>
    <a:srgbClr val="C0C1C3"/>
    <a:srgbClr val="FF40FF"/>
    <a:srgbClr val="0432FF"/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2904" autoAdjust="0"/>
  </p:normalViewPr>
  <p:slideViewPr>
    <p:cSldViewPr>
      <p:cViewPr varScale="1">
        <p:scale>
          <a:sx n="86" d="100"/>
          <a:sy n="86" d="100"/>
        </p:scale>
        <p:origin x="67" y="37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40" d="100"/>
          <a:sy n="140" d="100"/>
        </p:scale>
        <p:origin x="461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Burnham" userId="314c339e45d28f8c" providerId="LiveId" clId="{C5C10EC0-9A2E-4F3E-A8A3-EC75B04A5AB6}"/>
    <pc:docChg chg="modSld">
      <pc:chgData name="Christopher Burnham" userId="314c339e45d28f8c" providerId="LiveId" clId="{C5C10EC0-9A2E-4F3E-A8A3-EC75B04A5AB6}" dt="2026-10-05T17:29:31.848" v="9" actId="113"/>
      <pc:docMkLst>
        <pc:docMk/>
      </pc:docMkLst>
      <pc:sldChg chg="modSp mod">
        <pc:chgData name="Christopher Burnham" userId="314c339e45d28f8c" providerId="LiveId" clId="{C5C10EC0-9A2E-4F3E-A8A3-EC75B04A5AB6}" dt="2026-10-05T17:29:31.848" v="9" actId="113"/>
        <pc:sldMkLst>
          <pc:docMk/>
          <pc:sldMk cId="1614475808" sldId="1212"/>
        </pc:sldMkLst>
        <pc:spChg chg="mod">
          <ac:chgData name="Christopher Burnham" userId="314c339e45d28f8c" providerId="LiveId" clId="{C5C10EC0-9A2E-4F3E-A8A3-EC75B04A5AB6}" dt="2026-10-05T17:29:31.848" v="9" actId="113"/>
          <ac:spMkLst>
            <pc:docMk/>
            <pc:sldMk cId="1614475808" sldId="1212"/>
            <ac:spMk id="2" creationId="{8E7A9FDD-D1BD-C799-D9FE-E62ED539F5E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0CEEB0C-5F5D-40CD-B7D2-65054E4BAA98}" type="datetimeFigureOut">
              <a:rPr lang="en-US"/>
              <a:pPr>
                <a:defRPr/>
              </a:pPr>
              <a:t>10/5/2026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C8291F1-6C4E-4372-8D3B-2C87FC6248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5737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08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5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339E-C7A0-2CB7-A45A-742E1CED0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094F3-BCB8-1CC0-9737-3B9F11327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CF3AB-A298-1ED1-CE0D-7D7B09729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D4977-0704-73D2-7724-821EC01DC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647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950E-F906-8D97-10E8-3D810946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B4D3E-1A7D-5B4A-436B-888D9590A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D17DC-567A-EA74-AD87-DF86C3FAB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gradio.app</a:t>
            </a:r>
            <a:r>
              <a:rPr lang="en-US" dirty="0"/>
              <a:t>/guides/</a:t>
            </a:r>
            <a:r>
              <a:rPr lang="en-US" dirty="0" err="1"/>
              <a:t>quickstart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23145-B52A-12D7-7D15-D6ADF92CD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540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38999-CD30-4058-1428-99D259501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91A6D-2D7C-25FA-247A-E6DF6C80F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DB5A2-F0BC-EDD2-D2C3-849076A6B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gradio.app</a:t>
            </a:r>
            <a:r>
              <a:rPr lang="en-US" dirty="0"/>
              <a:t>/guides/sharing-your-app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745E2-11F2-C259-03B8-B9494A57DE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881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9D447-AC41-A8BC-3C00-A27892E1A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ED3B3-0889-6EE7-AD29-29A369894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A348B-E4E4-3CA7-432A-98B8C4ACB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gradio.app</a:t>
            </a:r>
            <a:r>
              <a:rPr lang="en-US" dirty="0"/>
              <a:t>/guides/sharing-your-app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88C1C-0C4A-2402-5127-DCF29EDF3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844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61A9-DAE5-DBA3-77F0-44ADC254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3A9FD-03FD-63FD-0EBD-FC702B4F5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F6C02-0705-85A1-4079-8B46B7D76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gradio.app</a:t>
            </a:r>
            <a:r>
              <a:rPr lang="en-US" dirty="0"/>
              <a:t>/guides/sharing-your-app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F2FAC-87BA-CF99-D17B-E2E417CFC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786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B5F46-23C5-F23F-443C-37339DA4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384541-2452-C09D-0C0F-4CACEB8C8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780CB-91F9-5EC5-D18C-1D95BEA42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E8CE4-D570-4F87-C484-F0941123C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4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FA137-F3C2-3991-4A4D-80756A821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CA6C9-A005-D5FF-18D7-BED261C75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5B19E-8037-244F-0E8E-999C20A5B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</a:t>
            </a:r>
            <a:r>
              <a:rPr lang="en-US" dirty="0" err="1"/>
              <a:t>developers.openai.com</a:t>
            </a:r>
            <a:r>
              <a:rPr lang="en-US" dirty="0"/>
              <a:t>/</a:t>
            </a:r>
            <a:r>
              <a:rPr lang="en-US" dirty="0" err="1"/>
              <a:t>api</a:t>
            </a:r>
            <a:r>
              <a:rPr lang="en-US" dirty="0"/>
              <a:t>/docs/models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F09BE-481A-B5EE-108C-6CE195787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227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476C4-3A7F-E488-3625-830FB89B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0B095-B934-6046-1DFA-68532282B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07CF6-E49F-AEA1-F1E9-E5250015A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Notes:</a:t>
            </a:r>
          </a:p>
          <a:p>
            <a:pPr marL="171450" indent="-171450">
              <a:buFontTx/>
              <a:buChar char="-"/>
            </a:pPr>
            <a:r>
              <a:rPr lang="en-US" dirty="0"/>
              <a:t>URL: 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Uniform Resource Locator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B8F62-2201-D0D1-1A4E-3CB1C8FE0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47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45A6-F5AC-26E1-ECB8-1CE784099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73325-6B30-ED37-17A7-0C6C3282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A0896-98CE-9756-5D89-296373F72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curl http://dobolyi.com:9001/v1/chat/completions \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-H "Authorization: Bearer removed" \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-H "Content-Type: application/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\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-d '{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"model":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cyankiwi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/Qwen3.6-35B-A3B-AWQ-4bit",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"messages": [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{"role": "system", "content": "You are a helpful assistant."},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{"role": "user", "content": "Explain quantum computing in one sentence."}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],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"temperature": 0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}'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8ED3F-1C04-0F43-1013-A3E599E2E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570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7F30-3C83-EDAA-5BA0-373C1045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10245-4772-9254-CDF6-A901172FE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1C41D-2D83-5E1C-5845-3B194986D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www.reddit.com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/r/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ProgrammerHumor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/comments/1s2tf6/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pic_i_made_for_our_inhouse_programmer_thought_you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</a:p>
          <a:p>
            <a:pPr marL="171450" indent="-171450">
              <a:buFontTx/>
              <a:buChar char="-"/>
            </a:pP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443AB-B714-3651-4C18-F80C71D17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561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83099-A3FA-FBCF-A0D8-2249EFCC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ADB37-F9AE-99FC-B17C-0AA81E590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D2F0F-AB48-2B3F-EE4B-B14E04E2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bugzilla.mozilla.org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page.cgi?id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=bug-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writing.html</a:t>
            </a: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developer.apple.com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/news/?id=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vvrgkboh</a:t>
            </a: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5575D-ABFA-BFF9-260C-E066FF7E4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96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C8289-C1D6-87FF-3C7B-D199A02E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22847-4E56-B635-2210-B52493617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9F39C-89DF-6F8B-B391-45FCB02BD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www.atlassian.com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/continuous-delivery/software-testing/types-of-software-testing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BA8C1-26DC-C938-73B7-7CEE60D11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503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E7E5A-E329-FD78-E56D-D361724F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AA408-8CCF-7CFA-2F5D-96683B0D6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720A3-BF48-D582-AC0C-B155505D6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docs.github.com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/get-started/start-your-journey</a:t>
            </a:r>
          </a:p>
          <a:p>
            <a:pPr marL="171450" indent="-171450">
              <a:buFontTx/>
              <a:buChar char="-"/>
            </a:pP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docs.github.com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/get-started/start-your-journey/what-is-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62432-E98C-0557-5C14-3C5B4A414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841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B2CA-DF55-E66F-D049-BD90FB64A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91277-5984-5260-20E5-85AB000E0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BC237-80A4-EDE2-C511-C4AFBAE71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Sources:</a:t>
            </a:r>
          </a:p>
          <a:p>
            <a:pPr marL="171450" indent="-171450">
              <a:buFontTx/>
              <a:buChar char="-"/>
            </a:pP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docs.github.com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/get-started/start-your-journey/creating-a-repository-for-your-project-on-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E8C31-54E7-10ED-EB38-7BC8089B7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323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2B35-0F8B-1DEC-751D-2CE8AB25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2B8FE-675B-6E0E-DDBD-4C60B63D3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797A4-C9FD-2260-5A9E-317E5B82C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49957-126F-247A-62A0-C78B0E514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3180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547BB-517B-E2D4-8CA4-80D309FC0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5A56E-30B5-8170-6B29-344971CB7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F1D70-EC2B-8D05-490C-49CB74DE5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D413F-27AD-F75E-4753-EB83B60B0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8063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E4BFA-8A5A-6D51-1B63-7AE10AA0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B27FD-2A07-3B8E-F33C-5FDE6B4A0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212709-DC97-36DE-2573-89EBF66C6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F3191-242F-9949-EB23-94B71D956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333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77739-7469-6213-3053-F6B674C9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84448B-3508-97B7-04C8-7446485D9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3AF6F-ED0B-07C1-D86D-FEC3DAA67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5B496-9B25-8E65-3F4E-8BA69DC01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745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8A965-0067-946F-6A61-FFAD1DF6A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93A170-87F8-FA35-B5F8-D37FEF118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F5969-005C-42ED-0EB4-D8F53C4C1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7F001-30FC-075C-EBBC-DAFE11898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5976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86CC4-8400-848E-E8E1-B6F64F8BE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8B53D-4829-EE76-B797-8EB44A234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B942F-6BC1-C6C7-E93C-5CDE38A18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sz="1200" b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32995-328D-129D-FAC5-28B6C557A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8291F1-6C4E-4372-8D3B-2C87FC62486A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877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ctrTitle"/>
          </p:nvPr>
        </p:nvSpPr>
        <p:spPr>
          <a:xfrm>
            <a:off x="685800" y="1597804"/>
            <a:ext cx="7772400" cy="1102519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7043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52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55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759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28700"/>
            <a:ext cx="3810000" cy="3200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028700"/>
            <a:ext cx="3810000" cy="3200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21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576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55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98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322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445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60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00" y="400050"/>
            <a:ext cx="1943100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0050"/>
            <a:ext cx="5676900" cy="3829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553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orizontal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67466" y="4492091"/>
            <a:ext cx="2447134" cy="55699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E93289-8F70-44EC-896F-3F66D5B34438}"/>
              </a:ext>
            </a:extLst>
          </p:cNvPr>
          <p:cNvSpPr/>
          <p:nvPr userDrawn="1"/>
        </p:nvSpPr>
        <p:spPr>
          <a:xfrm>
            <a:off x="4572001" y="0"/>
            <a:ext cx="4571999" cy="5143500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BCFCAA-8D44-4EEB-9872-98662755C93C}"/>
              </a:ext>
            </a:extLst>
          </p:cNvPr>
          <p:cNvGrpSpPr/>
          <p:nvPr userDrawn="1"/>
        </p:nvGrpSpPr>
        <p:grpSpPr>
          <a:xfrm>
            <a:off x="524225" y="361989"/>
            <a:ext cx="8105000" cy="4265791"/>
            <a:chOff x="708393" y="482651"/>
            <a:chExt cx="10806667" cy="568772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C81AA0B-DEDC-4094-B5AC-745C0EC47914}"/>
                </a:ext>
              </a:extLst>
            </p:cNvPr>
            <p:cNvSpPr/>
            <p:nvPr/>
          </p:nvSpPr>
          <p:spPr>
            <a:xfrm>
              <a:off x="5227385" y="482651"/>
              <a:ext cx="6287675" cy="4732131"/>
            </a:xfrm>
            <a:prstGeom prst="rect">
              <a:avLst/>
            </a:prstGeom>
            <a:noFill/>
            <a:ln w="25400">
              <a:gradFill>
                <a:gsLst>
                  <a:gs pos="0">
                    <a:srgbClr val="CEB87B"/>
                  </a:gs>
                  <a:gs pos="99000">
                    <a:srgbClr val="B08456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2142EF-542A-4952-BD7D-E53E6054C19D}"/>
                </a:ext>
              </a:extLst>
            </p:cNvPr>
            <p:cNvSpPr/>
            <p:nvPr/>
          </p:nvSpPr>
          <p:spPr>
            <a:xfrm>
              <a:off x="708393" y="1438241"/>
              <a:ext cx="6287675" cy="4732131"/>
            </a:xfrm>
            <a:prstGeom prst="rect">
              <a:avLst/>
            </a:prstGeom>
            <a:noFill/>
            <a:ln w="25400">
              <a:gradFill>
                <a:gsLst>
                  <a:gs pos="0">
                    <a:srgbClr val="CEB87B"/>
                  </a:gs>
                  <a:gs pos="99000">
                    <a:srgbClr val="B08456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DE6F95-DCB7-411B-B006-AEA1742811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101D1B-33AC-41C7-9B0A-909D8999DE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08" y="1379927"/>
            <a:ext cx="2709646" cy="99417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>
                <a:solidFill>
                  <a:srgbClr val="191919"/>
                </a:solidFill>
                <a:latin typeface="Georgia" panose="02040502050405020303" pitchFamily="18" charset="0"/>
              </a:rPr>
              <a:t>This is a slide 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41236E6-839F-4858-B1A1-343973B583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14750" y="615553"/>
            <a:ext cx="4716066" cy="3548063"/>
          </a:xfr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64CE03A-04B7-4EBB-9410-C0DC30F4F5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0581" y="2491164"/>
            <a:ext cx="2709863" cy="484584"/>
          </a:xfrm>
        </p:spPr>
        <p:txBody>
          <a:bodyPr/>
          <a:lstStyle>
            <a:lvl1pPr>
              <a:defRPr sz="1650" i="0" baseline="0">
                <a:latin typeface="Georgia" panose="02040502050405020303" pitchFamily="18" charset="0"/>
              </a:defRPr>
            </a:lvl1pPr>
            <a:lvl2pPr>
              <a:defRPr sz="1350" i="1" baseline="0">
                <a:latin typeface="Georgia" panose="02040502050405020303" pitchFamily="18" charset="0"/>
              </a:defRPr>
            </a:lvl2pPr>
            <a:lvl3pPr>
              <a:defRPr sz="1350" i="1" baseline="0">
                <a:latin typeface="Georgia" panose="02040502050405020303" pitchFamily="18" charset="0"/>
              </a:defRPr>
            </a:lvl3pPr>
            <a:lvl4pPr>
              <a:defRPr sz="1350" i="1" baseline="0">
                <a:latin typeface="Georgia" panose="02040502050405020303" pitchFamily="18" charset="0"/>
              </a:defRPr>
            </a:lvl4pPr>
            <a:lvl5pPr>
              <a:defRPr sz="1350" i="1" baseline="0">
                <a:latin typeface="Georgia" panose="02040502050405020303" pitchFamily="18" charset="0"/>
              </a:defRPr>
            </a:lvl5pPr>
          </a:lstStyle>
          <a:p>
            <a:pPr lvl="0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D6B7D3-148E-4146-BC58-09A90389A4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921" y="3528187"/>
            <a:ext cx="2447134" cy="41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1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61950"/>
            <a:ext cx="8686800" cy="514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33450"/>
            <a:ext cx="86868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03BFF8-C785-9E59-0812-2B0269F705D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69" y="4629150"/>
            <a:ext cx="2250831" cy="34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5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A80000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A80000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A80000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A80000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FB87C"/>
        </a:buClr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FB87C"/>
        </a:buClr>
        <a:buFont typeface="Arial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FB87C"/>
        </a:buClr>
        <a:buFont typeface="Arial" pitchFamily="34" charset="0"/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CFB87C"/>
        </a:buClr>
        <a:buFont typeface="Arial" pitchFamily="34" charset="0"/>
        <a:buChar char="•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docs.streamlit.io/develop/api-reference/widgets" TargetMode="External"/><Relationship Id="rId4" Type="http://schemas.openxmlformats.org/officeDocument/2006/relationships/hyperlink" Target="https://gradio.app/main/docs/gradio/introduction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60de1eaeaeb5f2b135.gradio.live/" TargetMode="External"/><Relationship Id="rId5" Type="http://schemas.openxmlformats.org/officeDocument/2006/relationships/hyperlink" Target="http://localhost:7860/" TargetMode="External"/><Relationship Id="rId4" Type="http://schemas.openxmlformats.org/officeDocument/2006/relationships/hyperlink" Target="http://127.0.0.1:786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hyperlink" Target="https://github.com/openai/openai-python" TargetMode="External"/><Relationship Id="rId4" Type="http://schemas.openxmlformats.org/officeDocument/2006/relationships/hyperlink" Target="https://developers.openai.com/api/doc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dobolyi.com:9000/v1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dobolyi.com:9001/v1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github.com/en/get-started/using-git/about-git" TargetMode="External"/><Relationship Id="rId5" Type="http://schemas.openxmlformats.org/officeDocument/2006/relationships/hyperlink" Target="https://docs.github.com/en/get-started/start-your-journey/what-is-github" TargetMode="External"/><Relationship Id="rId4" Type="http://schemas.openxmlformats.org/officeDocument/2006/relationships/hyperlink" Target="https://docs.github.com/en/get-started/start-your-journey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gnup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sktop.github.com/download/" TargetMode="External"/><Relationship Id="rId4" Type="http://schemas.openxmlformats.org/officeDocument/2006/relationships/hyperlink" Target="https://github.com/new?ref_product=github&amp;ref_type=engagement&amp;ref_style=text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baggery.com/2008/04/19/a-note-about-git-commit-messages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3BE453-A145-42E1-A483-742B5F1F76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7" name="Picture 8" descr="TIM_7770-Edit-Edit-Edit-9 Koelbel Exterior Rankings Banner.jpg">
            <a:extLst>
              <a:ext uri="{FF2B5EF4-FFF2-40B4-BE49-F238E27FC236}">
                <a16:creationId xmlns:a16="http://schemas.microsoft.com/office/drawing/2014/main" id="{722B4232-198F-4E06-9A7D-C5C3FE8E2F1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50AD390-DF3E-4529-BB9B-C368A7F6B3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0581" y="2315766"/>
            <a:ext cx="2709863" cy="484584"/>
          </a:xfrm>
        </p:spPr>
        <p:txBody>
          <a:bodyPr/>
          <a:lstStyle/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/>
              <a:t>David Dobolyi, PhD</a:t>
            </a:r>
          </a:p>
          <a:p>
            <a:pPr marL="0" indent="0" algn="ctr">
              <a:buNone/>
            </a:pPr>
            <a:r>
              <a:rPr lang="en-US" sz="1200" dirty="0"/>
              <a:t>Assistant Professor</a:t>
            </a:r>
          </a:p>
          <a:p>
            <a:pPr marL="0" indent="0" algn="ctr">
              <a:buNone/>
            </a:pPr>
            <a:r>
              <a:rPr lang="en-US" sz="1200" dirty="0"/>
              <a:t>Stone Family Faculty Scholar</a:t>
            </a:r>
          </a:p>
          <a:p>
            <a:pPr marL="0" indent="0" algn="ctr">
              <a:buNone/>
            </a:pPr>
            <a:r>
              <a:rPr lang="en-US" sz="1200" dirty="0"/>
              <a:t>david.dobolyi@colorado.edu</a:t>
            </a:r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DE9893AF-79D8-56BF-590C-1A8B05FD69BE}"/>
              </a:ext>
            </a:extLst>
          </p:cNvPr>
          <p:cNvSpPr txBox="1">
            <a:spLocks/>
          </p:cNvSpPr>
          <p:nvPr/>
        </p:nvSpPr>
        <p:spPr bwMode="auto">
          <a:xfrm>
            <a:off x="825316" y="1395412"/>
            <a:ext cx="2740392" cy="994172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2000" dirty="0"/>
              <a:t>MBAX 6418</a:t>
            </a:r>
            <a:br>
              <a:rPr lang="en-US" sz="2000" dirty="0"/>
            </a:br>
            <a:r>
              <a:rPr lang="en-US" sz="2000" dirty="0"/>
              <a:t>Serving and Debugging</a:t>
            </a: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911340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76300"/>
            <a:ext cx="8686800" cy="3543300"/>
          </a:xfrm>
        </p:spPr>
        <p:txBody>
          <a:bodyPr/>
          <a:lstStyle/>
          <a:p>
            <a:r>
              <a:rPr lang="en-US" dirty="0"/>
              <a:t>Building, Serving, and Sharing</a:t>
            </a:r>
          </a:p>
          <a:p>
            <a:r>
              <a:rPr lang="en-US" dirty="0"/>
              <a:t>Incorporating APIs</a:t>
            </a:r>
          </a:p>
          <a:p>
            <a:r>
              <a:rPr lang="en-US" dirty="0"/>
              <a:t>Debugging</a:t>
            </a:r>
          </a:p>
          <a:p>
            <a:r>
              <a:rPr lang="en-US" dirty="0"/>
              <a:t>GitHub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FF55F-6AD4-9B05-D537-23840181E8B6}"/>
              </a:ext>
            </a:extLst>
          </p:cNvPr>
          <p:cNvSpPr txBox="1"/>
          <p:nvPr/>
        </p:nvSpPr>
        <p:spPr>
          <a:xfrm>
            <a:off x="8649730" y="4916329"/>
            <a:ext cx="4942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00A98A8-CDB6-824A-B288-C8279A020685}" type="slidenum">
              <a:rPr lang="en-US" sz="1000" smtClean="0">
                <a:latin typeface="+mn-lt"/>
              </a:rPr>
              <a:pPr algn="r"/>
              <a:t>2</a:t>
            </a:fld>
            <a:endParaRPr lang="en-US" sz="1000" dirty="0">
              <a:latin typeface="+mn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DB8D80-7F93-0601-7797-AE146549C089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69342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Topics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54730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F23D3-6D9B-4AD8-6F1E-E67C81F0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8CFB14-49AD-676D-82F7-C75B3237D650}"/>
              </a:ext>
            </a:extLst>
          </p:cNvPr>
          <p:cNvSpPr txBox="1">
            <a:spLocks/>
          </p:cNvSpPr>
          <p:nvPr/>
        </p:nvSpPr>
        <p:spPr bwMode="auto">
          <a:xfrm>
            <a:off x="228600" y="2314575"/>
            <a:ext cx="8686800" cy="514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Building, Serving, and Sharing</a:t>
            </a:r>
          </a:p>
        </p:txBody>
      </p:sp>
    </p:spTree>
    <p:extLst>
      <p:ext uri="{BB962C8B-B14F-4D97-AF65-F5344CB8AC3E}">
        <p14:creationId xmlns:p14="http://schemas.microsoft.com/office/powerpoint/2010/main" val="283907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8F31-42DA-D04C-0B69-B3CD11A2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94C856A-0CAE-A044-9BF7-810BB0095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F864FDC-AF9F-E338-8E34-E2795EE6D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2D6E1C0F-B691-13D4-CFAC-F6A6D62016C7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Building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8CEFB06-3351-A04E-34E4-9FCAC9AD2795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50292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Let’s create a small web app, add features (including one with AI), and share it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We’ll also commit it to GitHub for version control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/>
              <a:t>Starter prompt:</a:t>
            </a:r>
          </a:p>
          <a:p>
            <a:pPr marL="692150" lvl="1" indent="-233363"/>
            <a:r>
              <a:rPr lang="en-US" kern="0" dirty="0"/>
              <a:t>“</a:t>
            </a:r>
            <a:r>
              <a:rPr lang="en-US" dirty="0"/>
              <a:t>build a python app using </a:t>
            </a:r>
            <a:r>
              <a:rPr lang="en-US" dirty="0" err="1"/>
              <a:t>gradio</a:t>
            </a:r>
            <a:r>
              <a:rPr lang="en-US" dirty="0"/>
              <a:t> for a pizza ordering website where customers can customize their pizzas with things like toppings, size, crust, etc.”</a:t>
            </a:r>
            <a:endParaRPr lang="en-US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AAC620-979B-5609-6CD4-4A5F202771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133350"/>
            <a:ext cx="3747948" cy="4730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F48A31-8854-F8DE-EDCB-30720AC77676}"/>
              </a:ext>
            </a:extLst>
          </p:cNvPr>
          <p:cNvSpPr txBox="1"/>
          <p:nvPr/>
        </p:nvSpPr>
        <p:spPr>
          <a:xfrm>
            <a:off x="5257800" y="4735956"/>
            <a:ext cx="3747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Made with Hermes Agent and GPT-6 Astra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76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22E53-6EEA-9F7C-2A6A-5AAFA096F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A1AF6AC-412B-C5A1-407F-A166D2A49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8" name="Picture 7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BD4D9AE-B336-1765-545F-F02A0728C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A3EC3A5E-9E8A-0EE2-153A-E3811BA4CA34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Choosing an Interface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047B3C6-BF86-D623-94A2-80CC71CC994C}"/>
              </a:ext>
            </a:extLst>
          </p:cNvPr>
          <p:cNvSpPr txBox="1">
            <a:spLocks/>
          </p:cNvSpPr>
          <p:nvPr/>
        </p:nvSpPr>
        <p:spPr bwMode="auto">
          <a:xfrm>
            <a:off x="228600" y="3981452"/>
            <a:ext cx="8566550" cy="495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We have many interface options, but for Python, </a:t>
            </a:r>
            <a:r>
              <a:rPr lang="en-US" sz="2000" i="1" kern="0" dirty="0"/>
              <a:t>Gradio</a:t>
            </a:r>
            <a:r>
              <a:rPr lang="en-US" sz="2000" kern="0" dirty="0"/>
              <a:t> and </a:t>
            </a:r>
            <a:r>
              <a:rPr lang="en-US" sz="2000" i="1" kern="0" dirty="0"/>
              <a:t>Streamlit</a:t>
            </a:r>
            <a:r>
              <a:rPr lang="en-US" sz="2000" kern="0" dirty="0"/>
              <a:t> are good, </a:t>
            </a:r>
            <a:r>
              <a:rPr lang="en-US" sz="2000" b="1" kern="0" dirty="0"/>
              <a:t>high</a:t>
            </a:r>
            <a:r>
              <a:rPr lang="en-US" sz="2000" kern="0" dirty="0"/>
              <a:t> </a:t>
            </a:r>
            <a:r>
              <a:rPr lang="en-US" sz="2000" b="1" kern="0" dirty="0"/>
              <a:t>abstraction</a:t>
            </a:r>
            <a:r>
              <a:rPr lang="en-US" sz="2000" kern="0" dirty="0"/>
              <a:t> options (i.e., they handle many of the technical details for us)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01D7A5-5F3B-1807-2E63-3B168114D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781053"/>
            <a:ext cx="6857998" cy="32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7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22552-360F-6397-11A6-DBBA3D4C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8C23EE7-F7F5-DBF9-4C68-A00194A6B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BDA5013-9D2C-90FD-15B0-E3B7DC1F3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443520F-3A58-8E78-1594-042881724E67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kern="0" dirty="0"/>
              <a:t>Components and Widgets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86527BD-15CA-C0AE-3D31-B014B95FE0F8}"/>
              </a:ext>
            </a:extLst>
          </p:cNvPr>
          <p:cNvSpPr txBox="1">
            <a:spLocks/>
          </p:cNvSpPr>
          <p:nvPr/>
        </p:nvSpPr>
        <p:spPr bwMode="auto">
          <a:xfrm>
            <a:off x="228599" y="933450"/>
            <a:ext cx="4919767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Gradio and Streamlit provide prebuilt user interface (UI) elements (e.g., buttons, sliders, and text inputs) to help you quickly build interactive Python apps</a:t>
            </a:r>
            <a:r>
              <a:rPr lang="en-US" sz="2000" kern="0" dirty="0"/>
              <a:t>:</a:t>
            </a:r>
          </a:p>
          <a:p>
            <a:pPr marL="692150" lvl="1" indent="-233363"/>
            <a:r>
              <a:rPr lang="en-US" kern="0" dirty="0">
                <a:hlinkClick r:id="rId4"/>
              </a:rPr>
              <a:t>Gradio Components</a:t>
            </a:r>
            <a:endParaRPr lang="en-US" kern="0" dirty="0"/>
          </a:p>
          <a:p>
            <a:pPr marL="692150" lvl="1" indent="-233363"/>
            <a:r>
              <a:rPr lang="en-US" kern="0" dirty="0">
                <a:hlinkClick r:id="rId5"/>
              </a:rPr>
              <a:t>Streamlit Elements/Widgets</a:t>
            </a:r>
            <a:endParaRPr lang="en-US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27F5E6-1970-27FC-964C-9F885C3A618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792" y="933450"/>
            <a:ext cx="3668609" cy="407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24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AE1C-2A11-A5F5-0196-745A7FF2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9A3A5B21-1340-6593-F085-C760E3CD2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4F49807-B174-3AB9-309E-AFBF787354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C4DF37B-56C8-7C24-0A41-31690ABCDD1B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Serving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82D0CF3-6AB1-4FB6-9230-3AC87BA3E303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4311334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Gradio provides easy serving without web hosting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You can open your app locally using the default port, 7860:</a:t>
            </a:r>
          </a:p>
          <a:p>
            <a:pPr marL="692150" lvl="1" indent="-233363"/>
            <a:r>
              <a:rPr lang="en-US" kern="0" dirty="0">
                <a:hlinkClick r:id="rId4"/>
              </a:rPr>
              <a:t>http://127.0.0.1:7860</a:t>
            </a:r>
            <a:endParaRPr lang="en-US" kern="0" dirty="0"/>
          </a:p>
          <a:p>
            <a:pPr marL="692150" lvl="1" indent="-233363"/>
            <a:r>
              <a:rPr lang="en-US" kern="0" dirty="0">
                <a:hlinkClick r:id="rId5"/>
              </a:rPr>
              <a:t>http://localhost:7860</a:t>
            </a:r>
            <a:endParaRPr lang="en-US" sz="2000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Adding </a:t>
            </a:r>
            <a:r>
              <a:rPr lang="en-US" sz="2000" dirty="0">
                <a:solidFill>
                  <a:srgbClr val="FF7003"/>
                </a:solidFill>
              </a:rPr>
              <a:t>share=</a:t>
            </a:r>
            <a:r>
              <a:rPr lang="en-US" sz="2000" dirty="0">
                <a:solidFill>
                  <a:srgbClr val="0B853E"/>
                </a:solidFill>
              </a:rPr>
              <a:t>True</a:t>
            </a:r>
            <a:r>
              <a:rPr lang="en-US" sz="2000" dirty="0"/>
              <a:t> to </a:t>
            </a:r>
            <a:r>
              <a:rPr lang="en-US" sz="2000" dirty="0">
                <a:solidFill>
                  <a:srgbClr val="942092"/>
                </a:solidFill>
              </a:rPr>
              <a:t>launch()</a:t>
            </a:r>
            <a:r>
              <a:rPr lang="en-US" sz="2000" dirty="0"/>
              <a:t> provides a temporary link, e.g., </a:t>
            </a:r>
            <a:r>
              <a:rPr lang="en-US" sz="2000" dirty="0">
                <a:hlinkClick r:id="rId6"/>
              </a:rPr>
              <a:t>60de1eaeaeb5f2b135.gradio.live/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You must keep your computer running so others are able to load your app in their browser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CF3C34-375C-AC88-83D1-93580D59E7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39934" y="1219601"/>
            <a:ext cx="4255215" cy="27237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09FD31-7E7B-299A-F453-5452874059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595360" y="1188720"/>
            <a:ext cx="125181" cy="74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7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8A3E-2C05-04D9-96EF-9606323B3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AA5102D-3959-1277-E9DC-49946801D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10230DE-E528-CBF2-7A78-EC80C9373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3516790-6C0E-E5D8-53E6-84B66A405DC5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Gradio vs. Streamlit vs. …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21492CA-0DA4-3E6D-0847-4AEDF7DD7C60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3925066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Gradio is one Python-based option, and Streamlit is another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Both have their pros and cons, and each is better at some tasks vs. others</a:t>
            </a:r>
          </a:p>
          <a:p>
            <a:pPr marL="692150" lvl="1" indent="-233363"/>
            <a:r>
              <a:rPr lang="en-US" sz="1600" kern="0" dirty="0"/>
              <a:t>Chatbots, RAG apps, model interfaces, etc.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Ultimately, use whatever you think works (or looks) best for your task (and explore alternatives)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AAF4E5-7409-3852-4C80-FA83F6C62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0827" y="933450"/>
            <a:ext cx="4584323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1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E630-469D-6E2A-74AB-F77371246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57DBA69-3BB7-1FB4-B00F-00A3626CA3D7}"/>
              </a:ext>
            </a:extLst>
          </p:cNvPr>
          <p:cNvSpPr txBox="1">
            <a:spLocks/>
          </p:cNvSpPr>
          <p:nvPr/>
        </p:nvSpPr>
        <p:spPr bwMode="auto">
          <a:xfrm>
            <a:off x="228600" y="2314575"/>
            <a:ext cx="8686800" cy="514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Incorporating APIs</a:t>
            </a:r>
          </a:p>
        </p:txBody>
      </p:sp>
    </p:spTree>
    <p:extLst>
      <p:ext uri="{BB962C8B-B14F-4D97-AF65-F5344CB8AC3E}">
        <p14:creationId xmlns:p14="http://schemas.microsoft.com/office/powerpoint/2010/main" val="269926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C3143-3DA3-E171-E7EF-9DA25BC5A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CBB00BC-D6F0-5F98-22D2-71E2BA298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D64D639-7B07-5ECB-964B-3F837CD84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43CFFB2-DC32-FA12-D83A-DE359CF516D1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Application Programing Interface (API)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60DD49-C476-84B2-FBCE-2F1D442C2085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85665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kern="0" dirty="0"/>
              <a:t>Application programming interfaces (APIs) </a:t>
            </a:r>
            <a:r>
              <a:rPr lang="en-US" kern="0" dirty="0"/>
              <a:t>provide a structured way for software applications to talk to each other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Your app sends a request and receives a response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We’ll use APIs to allow our apps to do things like:</a:t>
            </a:r>
          </a:p>
          <a:p>
            <a:pPr marL="692150" lvl="1" indent="-233363"/>
            <a:r>
              <a:rPr lang="en-US" kern="0" dirty="0"/>
              <a:t>Talk to large language models (LLMs) to generate text, power chatbots, classify data, etc.</a:t>
            </a:r>
          </a:p>
          <a:p>
            <a:pPr marL="692150" lvl="1" indent="-233363"/>
            <a:r>
              <a:rPr lang="en-US" kern="0" dirty="0"/>
              <a:t>Interpret or generate images</a:t>
            </a:r>
          </a:p>
          <a:p>
            <a:pPr marL="692150" lvl="1" indent="-233363"/>
            <a:r>
              <a:rPr lang="en-US" kern="0" dirty="0"/>
              <a:t>Transcribe or generate audio/video</a:t>
            </a:r>
          </a:p>
          <a:p>
            <a:pPr marL="692150" lvl="1" indent="-233363"/>
            <a:r>
              <a:rPr lang="en-US" kern="0" dirty="0"/>
              <a:t>Search the web via search APIs or tools</a:t>
            </a:r>
          </a:p>
        </p:txBody>
      </p:sp>
    </p:spTree>
    <p:extLst>
      <p:ext uri="{BB962C8B-B14F-4D97-AF65-F5344CB8AC3E}">
        <p14:creationId xmlns:p14="http://schemas.microsoft.com/office/powerpoint/2010/main" val="92715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AF82A-6651-8712-782A-FB557D0B7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E8D5060-E827-6B76-D900-85917082F4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3B72761-DC98-34FB-1AC8-5B2F8B1BE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8CDD069-0175-E06C-A6D8-39048915D30C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OpenAI API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4AB9623-F14C-4387-3A78-A077B31BD207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28194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For example, OpenAI provides developers an </a:t>
            </a:r>
            <a:r>
              <a:rPr lang="en-US" sz="2000" kern="0" dirty="0">
                <a:hlinkClick r:id="rId4"/>
              </a:rPr>
              <a:t>API Platform</a:t>
            </a:r>
            <a:r>
              <a:rPr lang="en-US" sz="2000" kern="0" dirty="0"/>
              <a:t> with all kinds of models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You pay per request (e.g., input/output price per million tokens, or </a:t>
            </a:r>
            <a:r>
              <a:rPr lang="en-US" sz="2000" kern="0" dirty="0" err="1"/>
              <a:t>MTok</a:t>
            </a:r>
            <a:r>
              <a:rPr lang="en-US" sz="2000" kern="0" dirty="0"/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The </a:t>
            </a:r>
            <a:r>
              <a:rPr lang="en-US" sz="2000" kern="0" dirty="0">
                <a:hlinkClick r:id="rId5"/>
              </a:rPr>
              <a:t>OpenAI Python API library</a:t>
            </a:r>
            <a:r>
              <a:rPr lang="en-US" sz="2000" kern="0" dirty="0"/>
              <a:t> is one way to connect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B392C7-87ED-65D0-CD76-FD806811E0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11283"/>
            <a:ext cx="4953000" cy="29700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3B6978-8F0B-94A9-60A8-FC5AB8EF8F1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1" y="3239422"/>
            <a:ext cx="5813460" cy="169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97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D4B2E-8689-A684-BBD4-AD88FE7BA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04C2B46D-A323-4AA3-5E9E-00EC9999B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4EB99AD-C543-743A-5678-14FFF14A9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581611B-2773-9123-4B0C-BD4B8D358E98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OpenAI-Compatible Endpoints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7A9FDD-D1BD-C799-D9FE-E62ED539F5EB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85665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The OpenAI Python API library is designed to work with OpenAI models, but you can also use it to talk to </a:t>
            </a:r>
            <a:r>
              <a:rPr lang="en-US" b="1" kern="0" dirty="0"/>
              <a:t>OpenAI-compatible endpoints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These endpoints communicate the same way as the official OpenAI API Platform, but can be hosted elsewhere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For example, we are already using a free, OpenAI-compatible endpoint for our class LLM (served via </a:t>
            </a:r>
            <a:r>
              <a:rPr lang="en-US" kern="0" dirty="0" err="1"/>
              <a:t>vLLM</a:t>
            </a:r>
            <a:r>
              <a:rPr lang="en-US" kern="0" dirty="0"/>
              <a:t>):</a:t>
            </a:r>
          </a:p>
          <a:p>
            <a:pPr marL="692150" lvl="1" indent="-233363"/>
            <a:r>
              <a:rPr lang="en-US" b="1" kern="0" dirty="0"/>
              <a:t>Base URL: </a:t>
            </a:r>
            <a:r>
              <a:rPr lang="en-US" dirty="0">
                <a:hlinkClick r:id="rId4"/>
              </a:rPr>
              <a:t>http://dobolyi.com:9000/v1</a:t>
            </a:r>
            <a:endParaRPr lang="en-US" dirty="0"/>
          </a:p>
          <a:p>
            <a:pPr marL="692150" lvl="1" indent="-233363"/>
            <a:r>
              <a:rPr lang="en-US" b="1" kern="0" dirty="0"/>
              <a:t>API Key: </a:t>
            </a:r>
            <a:r>
              <a:rPr lang="en-US" kern="0" dirty="0"/>
              <a:t>removed</a:t>
            </a:r>
          </a:p>
          <a:p>
            <a:pPr marL="692150" lvl="1" indent="-233363"/>
            <a:r>
              <a:rPr lang="en-US" b="1" dirty="0"/>
              <a:t>Model Name:</a:t>
            </a:r>
            <a:r>
              <a:rPr lang="en-US" dirty="0"/>
              <a:t> DeepSeek-V4-Flash-0731</a:t>
            </a:r>
          </a:p>
        </p:txBody>
      </p:sp>
    </p:spTree>
    <p:extLst>
      <p:ext uri="{BB962C8B-B14F-4D97-AF65-F5344CB8AC3E}">
        <p14:creationId xmlns:p14="http://schemas.microsoft.com/office/powerpoint/2010/main" val="161447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47DF6-2634-8D76-17D9-96DFD664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E26320A-A256-7794-86B1-F7C4301CC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C4F16EA-EBCB-F480-8BCA-3B3E92EE2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294933D-9323-234C-9973-ADBCA6F246C6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More Endpoints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2E00FF3-146B-EC29-2BFB-23A61B15261B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85665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Throughout this class, I will provide more endpoints to help with various tasks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For example, here is a new endpoint we can use for augmenting vision and for classification tasks:</a:t>
            </a:r>
          </a:p>
          <a:p>
            <a:pPr marL="692150" lvl="1" indent="-233363"/>
            <a:r>
              <a:rPr lang="en-US" b="1" kern="0" dirty="0"/>
              <a:t>Base URL: </a:t>
            </a:r>
            <a:r>
              <a:rPr lang="en-US" dirty="0">
                <a:hlinkClick r:id="rId4"/>
              </a:rPr>
              <a:t>http://dobolyi.com:9001/v1</a:t>
            </a:r>
            <a:endParaRPr lang="en-US" dirty="0"/>
          </a:p>
          <a:p>
            <a:pPr marL="692150" lvl="1" indent="-233363"/>
            <a:r>
              <a:rPr lang="en-US" b="1" kern="0" dirty="0"/>
              <a:t>API Key: </a:t>
            </a:r>
            <a:r>
              <a:rPr lang="en-US" kern="0" dirty="0"/>
              <a:t>removed</a:t>
            </a:r>
          </a:p>
          <a:p>
            <a:pPr marL="692150" lvl="1" indent="-233363"/>
            <a:r>
              <a:rPr lang="en-US" b="1" dirty="0"/>
              <a:t>Model Name:</a:t>
            </a:r>
            <a:r>
              <a:rPr lang="en-US" dirty="0"/>
              <a:t> </a:t>
            </a:r>
            <a:r>
              <a:rPr lang="en-US" dirty="0" err="1"/>
              <a:t>cyankiwi</a:t>
            </a:r>
            <a:r>
              <a:rPr lang="en-US" dirty="0"/>
              <a:t>/Qwen3.6-35B-A3B-AWQ-4bit</a:t>
            </a:r>
            <a:endParaRPr lang="en-US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We’ll also talk about models for embeddings, multimodal generation, etc. in future classes</a:t>
            </a:r>
          </a:p>
        </p:txBody>
      </p:sp>
    </p:spTree>
    <p:extLst>
      <p:ext uri="{BB962C8B-B14F-4D97-AF65-F5344CB8AC3E}">
        <p14:creationId xmlns:p14="http://schemas.microsoft.com/office/powerpoint/2010/main" val="350309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DF2EA-F438-6C1B-9E49-BB46F4DB7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FAC6867-8E51-365E-FD86-7AFC492D6382}"/>
              </a:ext>
            </a:extLst>
          </p:cNvPr>
          <p:cNvSpPr txBox="1">
            <a:spLocks/>
          </p:cNvSpPr>
          <p:nvPr/>
        </p:nvSpPr>
        <p:spPr bwMode="auto">
          <a:xfrm>
            <a:off x="228600" y="2314575"/>
            <a:ext cx="8686800" cy="514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33972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6171C-0BC5-38DC-4793-FC5057BC0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0090B8B-4C30-2AD5-63CF-F36A3120E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1C15453-6FF6-3577-7B69-7E35965CB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B11BE91-1411-5B57-9480-910999E37B6C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Bugs and Bug Reports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7CF3A37-3BDE-FC57-5E4A-0B3D82ED0721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44009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While you build and test your app, your code will invariably contain </a:t>
            </a:r>
            <a:r>
              <a:rPr lang="en-US" sz="2000" b="1" kern="0" dirty="0"/>
              <a:t>bugs</a:t>
            </a:r>
            <a:r>
              <a:rPr lang="en-US" sz="2000" kern="0" dirty="0"/>
              <a:t>, which are errors in the software that cause it to fail or not work as intended</a:t>
            </a:r>
            <a:endParaRPr lang="en-US" sz="2000" b="1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To fix bugs, you need to create a thorough </a:t>
            </a:r>
            <a:r>
              <a:rPr lang="en-US" sz="2000" b="1" kern="0" dirty="0"/>
              <a:t>bug report</a:t>
            </a:r>
            <a:r>
              <a:rPr lang="en-US" sz="2000" kern="0" dirty="0"/>
              <a:t>, which helps document, reproduce, and ultimately fix each issue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>
                <a:solidFill>
                  <a:srgbClr val="FF0000"/>
                </a:solidFill>
              </a:rPr>
              <a:t>Warning!</a:t>
            </a:r>
            <a:r>
              <a:rPr lang="en-US" sz="2000" kern="0" dirty="0">
                <a:solidFill>
                  <a:srgbClr val="FF0000"/>
                </a:solidFill>
              </a:rPr>
              <a:t> </a:t>
            </a:r>
            <a:r>
              <a:rPr lang="en-US" sz="2000" kern="0" dirty="0"/>
              <a:t>Just because an agent says a bug was fixed doesn’t mean it’s true! </a:t>
            </a:r>
            <a:r>
              <a:rPr lang="en-US" sz="2000" b="1" u="sng" kern="0" dirty="0"/>
              <a:t>You</a:t>
            </a:r>
            <a:r>
              <a:rPr lang="en-US" sz="2000" kern="0" dirty="0"/>
              <a:t> must check!</a:t>
            </a:r>
            <a:endParaRPr lang="en-US" sz="2000" b="1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F6CE59-3B4C-2A28-567D-6271D609F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550" y="1638300"/>
            <a:ext cx="4165600" cy="2133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823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0BE3-229E-CF09-F9E8-05BF1E53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2B42B2D-D1CB-70BE-C84F-0AD00C764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9FE08F4-8C72-548F-0603-12CD83ECF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84B0CB6-25D4-5E73-EBC7-F6182AF0B2D8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Writing Useful Bug Reports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ED5D44C-DD61-2668-5505-73535B7944E0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54102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/>
              <a:t>Key Questions</a:t>
            </a:r>
          </a:p>
          <a:p>
            <a:pPr marL="692150" lvl="1" indent="-233363"/>
            <a:r>
              <a:rPr lang="en-US" sz="2000" kern="0" dirty="0"/>
              <a:t>What is the problem?</a:t>
            </a:r>
          </a:p>
          <a:p>
            <a:pPr marL="692150" lvl="1" indent="-233363"/>
            <a:r>
              <a:rPr lang="en-US" kern="0" dirty="0"/>
              <a:t>Where in the app does it happen?</a:t>
            </a:r>
            <a:endParaRPr lang="en-US" sz="2000" kern="0" dirty="0"/>
          </a:p>
          <a:p>
            <a:pPr marL="692150" lvl="1" indent="-233363"/>
            <a:r>
              <a:rPr lang="en-US" sz="2000" kern="0" dirty="0"/>
              <a:t>What did you expect to happen?</a:t>
            </a:r>
          </a:p>
          <a:p>
            <a:pPr marL="692150" lvl="1" indent="-233363"/>
            <a:r>
              <a:rPr lang="en-US" sz="2000" kern="0" dirty="0"/>
              <a:t>What actually happened?</a:t>
            </a:r>
          </a:p>
          <a:p>
            <a:pPr marL="692150" lvl="1" indent="-233363"/>
            <a:r>
              <a:rPr lang="en-US" i="1" kern="0" dirty="0"/>
              <a:t>How do you reproduce it?</a:t>
            </a:r>
            <a:endParaRPr lang="en-US" sz="2000" i="1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kern="0" dirty="0"/>
              <a:t>Supporting Evidence</a:t>
            </a:r>
          </a:p>
          <a:p>
            <a:pPr marL="692150" lvl="1" indent="-233363"/>
            <a:r>
              <a:rPr lang="en-US" kern="0" dirty="0"/>
              <a:t>Was there an </a:t>
            </a:r>
            <a:r>
              <a:rPr lang="en-US" kern="0" dirty="0">
                <a:solidFill>
                  <a:srgbClr val="FF0000"/>
                </a:solidFill>
              </a:rPr>
              <a:t>error message</a:t>
            </a:r>
            <a:r>
              <a:rPr lang="en-US" kern="0" dirty="0"/>
              <a:t>?</a:t>
            </a:r>
          </a:p>
          <a:p>
            <a:pPr marL="692150" lvl="1" indent="-233363"/>
            <a:r>
              <a:rPr lang="en-US" sz="2000" kern="0" dirty="0"/>
              <a:t>Can you provide a screenshot?</a:t>
            </a:r>
          </a:p>
          <a:p>
            <a:pPr marL="692150" lvl="1" indent="-233363"/>
            <a:r>
              <a:rPr lang="en-US" kern="0" dirty="0"/>
              <a:t>Does it happen every time or only sometimes?</a:t>
            </a:r>
            <a:endParaRPr lang="en-US" sz="2000" kern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FE005F-E063-96CF-4106-940EF2F61A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658210"/>
            <a:ext cx="4191000" cy="471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7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FC92-D80B-8395-0DF0-66131C5E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3629AFC-BA41-72BF-47E1-6E9262A65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15EEA5E-96C9-0B9C-7C84-651622689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5BBCC01-C467-DAD1-306B-9E97B62356EB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Working with Hermes to Fix Bugs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D1A133A-5A40-F7BA-2244-2523E3061E3A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85665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Provide each bug report to Hermes and ask for a </a:t>
            </a:r>
            <a:r>
              <a:rPr lang="en-US" sz="2000" b="1" kern="0" dirty="0"/>
              <a:t>targeted, testable fix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Verify every fix by trying your reproduction steps: no matter what Hermes claims, </a:t>
            </a:r>
            <a:r>
              <a:rPr lang="en-US" sz="2000" i="1" kern="0" dirty="0"/>
              <a:t>test, retest, and test again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Check related features: fixing one bug can introduce others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To make repeated testing easier, consider asking Hermes for </a:t>
            </a:r>
            <a:r>
              <a:rPr lang="en-US" sz="2000" b="1" kern="0" dirty="0"/>
              <a:t>automated tests </a:t>
            </a:r>
            <a:r>
              <a:rPr lang="en-US" sz="2000" kern="0" dirty="0"/>
              <a:t>(as opposed to your own </a:t>
            </a:r>
            <a:r>
              <a:rPr lang="en-US" sz="2000" b="1" kern="0" dirty="0"/>
              <a:t>manual tests</a:t>
            </a:r>
            <a:r>
              <a:rPr lang="en-US" sz="2000" kern="0" dirty="0"/>
              <a:t>), including:</a:t>
            </a:r>
            <a:endParaRPr lang="en-US" sz="2000" b="1" kern="0" dirty="0"/>
          </a:p>
          <a:p>
            <a:pPr marL="692150" lvl="1" indent="-233363"/>
            <a:r>
              <a:rPr lang="en-US" b="1" kern="0" dirty="0"/>
              <a:t>Unit tests </a:t>
            </a:r>
            <a:r>
              <a:rPr lang="en-US" kern="0" dirty="0"/>
              <a:t>–</a:t>
            </a:r>
            <a:r>
              <a:rPr lang="en-US" b="1" kern="0" dirty="0"/>
              <a:t> </a:t>
            </a:r>
            <a:r>
              <a:rPr lang="en-US" kern="0" dirty="0"/>
              <a:t>tests for small, specific parts of your software</a:t>
            </a:r>
          </a:p>
          <a:p>
            <a:pPr marL="692150" lvl="1" indent="-233363"/>
            <a:r>
              <a:rPr lang="en-US" b="1" kern="0" dirty="0"/>
              <a:t>Smoke tests </a:t>
            </a:r>
            <a:r>
              <a:rPr lang="en-US" kern="0" dirty="0"/>
              <a:t>– quick/inexpensive tests that ensure your app starts/runs and the basic functions work</a:t>
            </a:r>
          </a:p>
          <a:p>
            <a:pPr marL="692150" lvl="1" indent="-233363"/>
            <a:r>
              <a:rPr lang="en-US" b="1" kern="0" dirty="0"/>
              <a:t>End-to-end tests</a:t>
            </a:r>
            <a:r>
              <a:rPr lang="en-US" kern="0" dirty="0"/>
              <a:t> – perform and verify a complete workflow</a:t>
            </a:r>
          </a:p>
        </p:txBody>
      </p:sp>
    </p:spTree>
    <p:extLst>
      <p:ext uri="{BB962C8B-B14F-4D97-AF65-F5344CB8AC3E}">
        <p14:creationId xmlns:p14="http://schemas.microsoft.com/office/powerpoint/2010/main" val="293414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1948E-A621-D540-1DFA-1B6601BDD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E3BDD55-6B54-4305-0120-9A8F7932B093}"/>
              </a:ext>
            </a:extLst>
          </p:cNvPr>
          <p:cNvSpPr txBox="1">
            <a:spLocks/>
          </p:cNvSpPr>
          <p:nvPr/>
        </p:nvSpPr>
        <p:spPr bwMode="auto">
          <a:xfrm>
            <a:off x="228600" y="2314575"/>
            <a:ext cx="8686800" cy="514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474358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AD09-94A5-95A1-0795-46423A46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B99DCC5-3787-1ED7-3B6C-5C7DA5FDD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95BA049-29FE-49B0-9443-648924D39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DD077DA-3C56-22BD-F093-0771EB4A5E44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What is GitHub?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B1A90C-7BAE-241D-4B02-CBBC33DC7B07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85665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GitHub’s first </a:t>
            </a:r>
            <a:r>
              <a:rPr lang="en-US" sz="2000" kern="0" dirty="0">
                <a:hlinkClick r:id="rId4"/>
              </a:rPr>
              <a:t>Start Your Journey</a:t>
            </a:r>
            <a:r>
              <a:rPr lang="en-US" sz="2000" kern="0" dirty="0"/>
              <a:t> tutorial asks, </a:t>
            </a:r>
            <a:r>
              <a:rPr lang="en-US" sz="2000" kern="0" dirty="0">
                <a:hlinkClick r:id="rId5"/>
              </a:rPr>
              <a:t>“What is GitHub?”</a:t>
            </a:r>
            <a:r>
              <a:rPr lang="en-US" sz="2000" kern="0" dirty="0"/>
              <a:t>:</a:t>
            </a:r>
          </a:p>
          <a:p>
            <a:pPr marL="692150" lvl="1" indent="-233363"/>
            <a:r>
              <a:rPr lang="en-US" kern="0" dirty="0"/>
              <a:t>“GitHub is a platform that supports your entire software development process, from planning work to deploying and operating software.”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GitHub is built on the open-source </a:t>
            </a:r>
            <a:r>
              <a:rPr lang="en-US" sz="2000" b="1" kern="0" dirty="0"/>
              <a:t>version control</a:t>
            </a:r>
            <a:r>
              <a:rPr lang="en-US" sz="2000" kern="0" dirty="0"/>
              <a:t> system called </a:t>
            </a:r>
            <a:r>
              <a:rPr lang="en-US" sz="2000" kern="0" dirty="0">
                <a:hlinkClick r:id="rId6"/>
              </a:rPr>
              <a:t>Git</a:t>
            </a:r>
            <a:r>
              <a:rPr lang="en-US" sz="2000" kern="0" dirty="0"/>
              <a:t>, which records changes to project files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We’ll use Git and GitHub primarily to: </a:t>
            </a:r>
            <a:endParaRPr lang="en-US" kern="0" dirty="0"/>
          </a:p>
          <a:p>
            <a:pPr marL="692150" lvl="1" indent="-233363"/>
            <a:r>
              <a:rPr lang="en-US" kern="0" dirty="0"/>
              <a:t>Manage our code</a:t>
            </a:r>
          </a:p>
          <a:p>
            <a:pPr marL="692150" lvl="1" indent="-233363"/>
            <a:r>
              <a:rPr lang="en-US" sz="2000" kern="0" dirty="0"/>
              <a:t>Recover earlier versions</a:t>
            </a:r>
          </a:p>
          <a:p>
            <a:pPr marL="692150" lvl="1" indent="-233363"/>
            <a:r>
              <a:rPr lang="en-US" kern="0" dirty="0"/>
              <a:t>Collaborate with others</a:t>
            </a:r>
            <a:endParaRPr lang="en-US" sz="2000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All of this will happen inside a </a:t>
            </a:r>
            <a:r>
              <a:rPr lang="en-US" sz="2000" b="1" kern="0" dirty="0"/>
              <a:t>repository (or repo)</a:t>
            </a:r>
            <a:r>
              <a:rPr lang="en-US" sz="2000" kern="0" dirty="0"/>
              <a:t>, which stores a project’s files, its history, privacy/collaboration settings, etc.</a:t>
            </a:r>
          </a:p>
        </p:txBody>
      </p:sp>
    </p:spTree>
    <p:extLst>
      <p:ext uri="{BB962C8B-B14F-4D97-AF65-F5344CB8AC3E}">
        <p14:creationId xmlns:p14="http://schemas.microsoft.com/office/powerpoint/2010/main" val="150312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F0A5-613F-0EE9-3A7A-B98F4D815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9DFD42CE-6787-D282-A048-67A8DB9FA300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Working with GitHub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63745C4-F6CB-41B6-9D43-F671BB374360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85665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Before creating a repo on GitHub, you need an account</a:t>
            </a:r>
            <a:r>
              <a:rPr lang="en-US" kern="0" dirty="0"/>
              <a:t>:</a:t>
            </a:r>
          </a:p>
          <a:p>
            <a:pPr marL="692150" lvl="1" indent="-233363"/>
            <a:r>
              <a:rPr lang="en-US" u="sng" dirty="0">
                <a:hlinkClick r:id="rId3"/>
              </a:rPr>
              <a:t>https://github.com/signup</a:t>
            </a:r>
            <a:endParaRPr lang="en-US" kern="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With an account, you can create your first repo via the </a:t>
            </a:r>
            <a:r>
              <a:rPr lang="en-US" kern="0" dirty="0">
                <a:hlinkClick r:id="rId4"/>
              </a:rPr>
              <a:t>website</a:t>
            </a:r>
            <a:r>
              <a:rPr lang="en-US" kern="0" dirty="0"/>
              <a:t> or locally using the </a:t>
            </a:r>
            <a:r>
              <a:rPr lang="en-US" kern="0" dirty="0">
                <a:hlinkClick r:id="rId5"/>
              </a:rPr>
              <a:t>GitHub Desktop</a:t>
            </a:r>
            <a:r>
              <a:rPr lang="en-US" kern="0" dirty="0"/>
              <a:t> application (which you can later </a:t>
            </a:r>
            <a:r>
              <a:rPr lang="en-US" i="1" kern="0" dirty="0"/>
              <a:t>push</a:t>
            </a:r>
            <a:r>
              <a:rPr lang="en-US" kern="0" dirty="0"/>
              <a:t> to GitHub)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kern="0" dirty="0"/>
              <a:t>Or just ask Hermes:</a:t>
            </a:r>
          </a:p>
          <a:p>
            <a:pPr marL="692150" lvl="1" indent="-233363"/>
            <a:r>
              <a:rPr lang="en-US" kern="0" dirty="0"/>
              <a:t>“Help me connect to my GitHub account”</a:t>
            </a:r>
          </a:p>
          <a:p>
            <a:pPr marL="692150" lvl="1" indent="-233363"/>
            <a:r>
              <a:rPr lang="en-US" kern="0" dirty="0"/>
              <a:t>“Create and connect a new GitHub repo for this project before we begin”</a:t>
            </a:r>
          </a:p>
        </p:txBody>
      </p:sp>
    </p:spTree>
    <p:extLst>
      <p:ext uri="{BB962C8B-B14F-4D97-AF65-F5344CB8AC3E}">
        <p14:creationId xmlns:p14="http://schemas.microsoft.com/office/powerpoint/2010/main" val="166304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BB64E-7CB9-3C1B-E2A4-A903733C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752DDD85-B1C7-5B20-7D27-17F8DA779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4B0903B-A1E5-D63C-D383-F0ECD61D8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AC67009-E9EE-A661-FDD8-E212D2D771CD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Hermes and GitHub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8121C5-599B-0399-8689-500410F93F7A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85665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If you ask it to (e.g., “Let’s use GitHub for version control”), Hermes will take care of Git/GitHub on your behalf, including common commands:</a:t>
            </a:r>
          </a:p>
          <a:p>
            <a:pPr marL="692150" lvl="1" indent="-233363"/>
            <a:r>
              <a:rPr lang="en-US" b="1" kern="0" dirty="0"/>
              <a:t>git </a:t>
            </a:r>
            <a:r>
              <a:rPr lang="en-US" b="1" kern="0" dirty="0" err="1"/>
              <a:t>init</a:t>
            </a:r>
            <a:r>
              <a:rPr lang="en-US" b="1" kern="0" dirty="0"/>
              <a:t> </a:t>
            </a:r>
            <a:r>
              <a:rPr lang="en-US" kern="0" dirty="0"/>
              <a:t>– create a new local repository</a:t>
            </a:r>
          </a:p>
          <a:p>
            <a:pPr marL="692150" lvl="1" indent="-233363"/>
            <a:r>
              <a:rPr lang="en-US" b="1" kern="0" dirty="0"/>
              <a:t>git clone </a:t>
            </a:r>
            <a:r>
              <a:rPr lang="en-US" kern="0" dirty="0"/>
              <a:t>– copy an existing repository to your computer</a:t>
            </a:r>
          </a:p>
          <a:p>
            <a:pPr marL="692150" lvl="1" indent="-233363"/>
            <a:r>
              <a:rPr lang="en-US" b="1" kern="0" dirty="0"/>
              <a:t>git status </a:t>
            </a:r>
            <a:r>
              <a:rPr lang="en-US" kern="0" dirty="0"/>
              <a:t>– </a:t>
            </a:r>
            <a:r>
              <a:rPr lang="en-US" dirty="0"/>
              <a:t>show local changes and what’s ready to commit</a:t>
            </a:r>
          </a:p>
          <a:p>
            <a:pPr marL="692150" lvl="1" indent="-233363"/>
            <a:r>
              <a:rPr lang="en-US" b="1" kern="0" dirty="0"/>
              <a:t>git add </a:t>
            </a:r>
            <a:r>
              <a:rPr lang="en-US" kern="0" dirty="0"/>
              <a:t>– select changes to include in the next commit</a:t>
            </a:r>
          </a:p>
          <a:p>
            <a:pPr marL="692150" lvl="1" indent="-233363"/>
            <a:r>
              <a:rPr lang="en-US" b="1" kern="0" dirty="0"/>
              <a:t>git commit</a:t>
            </a:r>
            <a:r>
              <a:rPr lang="en-US" kern="0" dirty="0"/>
              <a:t> – record selected changes as a checkpoint</a:t>
            </a:r>
          </a:p>
          <a:p>
            <a:pPr marL="692150" lvl="1" indent="-233363"/>
            <a:r>
              <a:rPr lang="en-US" b="1" kern="0" dirty="0"/>
              <a:t>git push </a:t>
            </a:r>
            <a:r>
              <a:rPr lang="en-US" kern="0" dirty="0"/>
              <a:t>– send commits to a remote repository, e.g., GitHub</a:t>
            </a:r>
          </a:p>
          <a:p>
            <a:pPr marL="692150" lvl="1" indent="-233363"/>
            <a:r>
              <a:rPr lang="en-US" b="1" kern="0" dirty="0"/>
              <a:t>git revert</a:t>
            </a:r>
            <a:r>
              <a:rPr lang="en-US" kern="0" dirty="0"/>
              <a:t> – create a new commit that reverses a previous commit</a:t>
            </a:r>
            <a:endParaRPr lang="en-US" b="1" kern="0" dirty="0"/>
          </a:p>
          <a:p>
            <a:pPr marL="692150" lvl="1" indent="-233363"/>
            <a:r>
              <a:rPr lang="en-US" b="1" kern="0" dirty="0"/>
              <a:t>git pull</a:t>
            </a:r>
            <a:r>
              <a:rPr lang="en-US" kern="0" dirty="0"/>
              <a:t> – retrieve/incorporate remote changes to your local copy</a:t>
            </a:r>
          </a:p>
          <a:p>
            <a:pPr marL="692150" lvl="1" indent="-233363"/>
            <a:r>
              <a:rPr lang="en-US" b="1" kern="0" dirty="0"/>
              <a:t>git diff </a:t>
            </a:r>
            <a:r>
              <a:rPr lang="en-US" kern="0" dirty="0"/>
              <a:t>– compare changes between file versions</a:t>
            </a:r>
          </a:p>
        </p:txBody>
      </p:sp>
    </p:spTree>
    <p:extLst>
      <p:ext uri="{BB962C8B-B14F-4D97-AF65-F5344CB8AC3E}">
        <p14:creationId xmlns:p14="http://schemas.microsoft.com/office/powerpoint/2010/main" val="413200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C961D-70F3-E528-AC68-7592074F7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20821D7C-1419-0577-B446-E0418B3E9D11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 err="1"/>
              <a:t>README.md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F5F9B51-30CA-F4C1-48D6-EA7E4FF853D7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50292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When you create a repo or make your first commit, include a </a:t>
            </a:r>
            <a:r>
              <a:rPr lang="en-US" sz="2000" b="1" dirty="0" err="1"/>
              <a:t>README.md</a:t>
            </a:r>
            <a:r>
              <a:rPr lang="en-US" sz="2000" dirty="0"/>
              <a:t>, which describes the project, how to set it up, and how to use it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Update this file as your project changes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Hermes will typically create this file for you, but you can also ask it to directly:</a:t>
            </a:r>
          </a:p>
          <a:p>
            <a:pPr marL="692150" lvl="1" indent="-233363"/>
            <a:r>
              <a:rPr lang="en-US" dirty="0"/>
              <a:t>“Create a </a:t>
            </a:r>
            <a:r>
              <a:rPr lang="en-US" dirty="0" err="1"/>
              <a:t>README.md</a:t>
            </a:r>
            <a:r>
              <a:rPr lang="en-US" dirty="0"/>
              <a:t> explaining this project and how to use it”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024585-9C2C-E75A-A8B6-7BB9926F36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7696" y="353148"/>
            <a:ext cx="4003570" cy="470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9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04804-7297-A5CF-7FCC-6832AD4C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90C4986-79F0-44DE-6B97-B1AF77B90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8" name="Picture 7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D69CEE5-14D3-8F13-7EFC-23ED6E9D9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24DDC18-97DC-F402-289C-CF726C94AFCC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Commits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41F7D7C-3859-C0EA-8D94-13C7CAD5ADD5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85665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Ask Hermes to create a </a:t>
            </a:r>
            <a:r>
              <a:rPr lang="en-US" sz="2000" b="1" dirty="0"/>
              <a:t>commit </a:t>
            </a:r>
            <a:r>
              <a:rPr lang="en-US" sz="2000" dirty="0"/>
              <a:t>with each meaningful change and consider grouping related changes into checkpoints, especially when debugging or experimenting with </a:t>
            </a:r>
            <a:r>
              <a:rPr lang="en-US" sz="2000" b="1" dirty="0"/>
              <a:t>user interface (UI)</a:t>
            </a:r>
            <a:r>
              <a:rPr lang="en-US" sz="2000" dirty="0"/>
              <a:t> styling:</a:t>
            </a:r>
          </a:p>
          <a:p>
            <a:pPr marL="692150" lvl="1" indent="-233363"/>
            <a:r>
              <a:rPr lang="en-US" kern="0" dirty="0"/>
              <a:t>“Review these changes and commit them with a clear summary”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Hermes will write commit messages for you which include:</a:t>
            </a:r>
          </a:p>
          <a:p>
            <a:pPr marL="692150" lvl="1" indent="-233363"/>
            <a:r>
              <a:rPr lang="en-US" b="1" kern="0" dirty="0"/>
              <a:t>Summary (Subject) </a:t>
            </a:r>
            <a:r>
              <a:rPr lang="en-US" kern="0" dirty="0"/>
              <a:t>– a summary of changes (50 characters or fewer </a:t>
            </a:r>
            <a:r>
              <a:rPr lang="en-US" kern="0" dirty="0">
                <a:hlinkClick r:id="rId4"/>
              </a:rPr>
              <a:t>recommended</a:t>
            </a:r>
            <a:r>
              <a:rPr lang="en-US" kern="0" dirty="0"/>
              <a:t>)</a:t>
            </a:r>
          </a:p>
          <a:p>
            <a:pPr marL="692150" lvl="1" indent="-233363"/>
            <a:r>
              <a:rPr lang="en-US" b="1" kern="0" dirty="0"/>
              <a:t>Description (Body) </a:t>
            </a:r>
            <a:r>
              <a:rPr lang="en-US" kern="0" dirty="0"/>
              <a:t>– optional details of what changed and why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kern="0" dirty="0"/>
              <a:t>Ask Hermes to </a:t>
            </a:r>
            <a:r>
              <a:rPr lang="en-US" sz="2000" b="1" kern="0" dirty="0"/>
              <a:t>push</a:t>
            </a:r>
            <a:r>
              <a:rPr lang="en-US" sz="2000" kern="0" dirty="0"/>
              <a:t> regularly, or specify when to wait:</a:t>
            </a:r>
          </a:p>
          <a:p>
            <a:pPr marL="692150" lvl="1" indent="-233363"/>
            <a:r>
              <a:rPr lang="en-US" kern="0" dirty="0"/>
              <a:t>“</a:t>
            </a:r>
            <a:r>
              <a:rPr lang="en-US" sz="2000" kern="0" dirty="0"/>
              <a:t>Push all of the latest commits” or…</a:t>
            </a:r>
          </a:p>
          <a:p>
            <a:pPr marL="692150" lvl="1" indent="-233363"/>
            <a:r>
              <a:rPr lang="en-US" kern="0" dirty="0"/>
              <a:t>“</a:t>
            </a:r>
            <a:r>
              <a:rPr lang="en-US" sz="2000" kern="0" dirty="0"/>
              <a:t>Hold off on pushi</a:t>
            </a:r>
            <a:r>
              <a:rPr lang="en-US" kern="0" dirty="0"/>
              <a:t>ng until I say so” </a:t>
            </a: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35952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BB36D-CF3A-EA01-7ABC-7D3C69C7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A9A97A9-93B8-9F3C-3EAE-32D6874C5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B239BB3-3551-D4B3-8122-7748ED16D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01AB4CD3-102C-C005-7F46-6CCD8D7D1D26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Reverting Commits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657414-879B-BF77-AA0D-FD1C08108EF2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50292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Commits are useful for tracking and recovering from mistakes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If a new bug appears, work with Hermes to review your commit history on GitHub to help identify which change introduced it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Ask Hermes to </a:t>
            </a:r>
            <a:r>
              <a:rPr lang="en-US" sz="2000" b="1" dirty="0"/>
              <a:t>revert</a:t>
            </a:r>
            <a:r>
              <a:rPr lang="en-US" sz="2000" dirty="0"/>
              <a:t> the relevant commit, undoing the changes:</a:t>
            </a:r>
          </a:p>
          <a:p>
            <a:pPr marL="692150" lvl="1" indent="-233363"/>
            <a:r>
              <a:rPr lang="en-US" sz="2000" dirty="0"/>
              <a:t>“This worked before the last commit: find and undo what broke it”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Test again to confirm the problem is actually resolved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F36D07-F5CA-7E74-B5FD-776D8F87AC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7696" y="353148"/>
            <a:ext cx="4003570" cy="470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7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84E4F-2BB6-F754-301F-8430E651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0A75F6F4-2DBA-0B98-48FC-9E31C8AC57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5" y="4705351"/>
            <a:ext cx="2351509" cy="438150"/>
          </a:xfrm>
          <a:prstGeom prst="rect">
            <a:avLst/>
          </a:prstGeom>
        </p:spPr>
      </p:pic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5ED6EDD-2D42-E374-5F34-8450A4BE3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" y="4552950"/>
            <a:ext cx="565150" cy="56860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E0AF6E2-633B-C73F-3116-9828FF64D371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Branching and Merging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AA996D8-0927-4183-C1D3-15F6248D38BA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85665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Use </a:t>
            </a:r>
            <a:r>
              <a:rPr lang="en-US" sz="2000" b="1" dirty="0"/>
              <a:t>branch</a:t>
            </a:r>
            <a:r>
              <a:rPr lang="en-US" sz="2000" dirty="0"/>
              <a:t> to create separate lines of work in a repo to safely:</a:t>
            </a:r>
          </a:p>
          <a:p>
            <a:pPr marL="692150" lvl="1" indent="-233363"/>
            <a:r>
              <a:rPr lang="en-US" kern="0" dirty="0"/>
              <a:t>Develop a new feature</a:t>
            </a:r>
          </a:p>
          <a:p>
            <a:pPr marL="692150" lvl="1" indent="-233363"/>
            <a:r>
              <a:rPr lang="en-US" kern="0" dirty="0"/>
              <a:t>Fix a bug</a:t>
            </a:r>
          </a:p>
          <a:p>
            <a:pPr marL="692150" lvl="1" indent="-233363"/>
            <a:r>
              <a:rPr lang="en-US" kern="0" dirty="0"/>
              <a:t>Experiment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The default branch is typically called </a:t>
            </a:r>
            <a:r>
              <a:rPr lang="en-US" sz="2000" b="1" dirty="0"/>
              <a:t>main</a:t>
            </a:r>
            <a:r>
              <a:rPr lang="en-US" sz="2000" dirty="0"/>
              <a:t>, and it holds the primary version you build from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You can create and name other branches (e.g., dev)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Use </a:t>
            </a:r>
            <a:r>
              <a:rPr lang="en-US" sz="2000" b="1" dirty="0"/>
              <a:t>merge</a:t>
            </a:r>
            <a:r>
              <a:rPr lang="en-US" sz="2000" dirty="0"/>
              <a:t> to combine changes across branches (e.g., dev into main)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Ask Hermes:</a:t>
            </a:r>
            <a:endParaRPr lang="en-US" kern="0" dirty="0"/>
          </a:p>
          <a:p>
            <a:pPr marL="692150" lvl="1" indent="-233363"/>
            <a:r>
              <a:rPr lang="en-US" kern="0" dirty="0"/>
              <a:t>“Create a branch for this feature and test it before merging into main”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242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BC914-D24A-E3BA-DA99-DD067DE7E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C789047-25D3-0E49-02EB-B911D1FB6997}"/>
              </a:ext>
            </a:extLst>
          </p:cNvPr>
          <p:cNvSpPr txBox="1">
            <a:spLocks/>
          </p:cNvSpPr>
          <p:nvPr/>
        </p:nvSpPr>
        <p:spPr bwMode="auto">
          <a:xfrm>
            <a:off x="228600" y="209550"/>
            <a:ext cx="856655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smtClean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A80000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en-US" dirty="0"/>
              <a:t>Collaboration: Issues and PRs</a:t>
            </a:r>
            <a:endParaRPr lang="en-US" kern="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27E745C-BC3F-8E28-BC87-A2C1D03F30B1}"/>
              </a:ext>
            </a:extLst>
          </p:cNvPr>
          <p:cNvSpPr txBox="1">
            <a:spLocks/>
          </p:cNvSpPr>
          <p:nvPr/>
        </p:nvSpPr>
        <p:spPr bwMode="auto">
          <a:xfrm>
            <a:off x="228600" y="933450"/>
            <a:ext cx="85665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Tx/>
              <a:buNone/>
              <a:defRPr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FB87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Create </a:t>
            </a:r>
            <a:r>
              <a:rPr lang="en-US" sz="2000" b="1" dirty="0"/>
              <a:t>issues</a:t>
            </a:r>
            <a:r>
              <a:rPr lang="en-US" sz="2000" dirty="0"/>
              <a:t> to provide a record of tasks, discussions, and progress, giving you, collaborators, and Hermes useful context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Create </a:t>
            </a:r>
            <a:r>
              <a:rPr lang="en-US" sz="2000" b="1" dirty="0"/>
              <a:t>pull requests (PRs) </a:t>
            </a:r>
            <a:r>
              <a:rPr lang="en-US" sz="2000" dirty="0"/>
              <a:t>to propose changes you want to merge (e.g., fixes to issues), allowing for review, discussion, and tracking</a:t>
            </a:r>
          </a:p>
          <a:p>
            <a:pPr marL="692150" lvl="1" indent="-233363"/>
            <a:r>
              <a:rPr lang="en-US" kern="0" dirty="0"/>
              <a:t>C</a:t>
            </a:r>
            <a:r>
              <a:rPr lang="en-US" sz="2000" kern="0" dirty="0"/>
              <a:t>ollaborators can suggest revisions before you merge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Ask Hermes:</a:t>
            </a:r>
            <a:endParaRPr lang="en-US" kern="0" dirty="0"/>
          </a:p>
          <a:p>
            <a:pPr marL="692150" lvl="1" indent="-233363"/>
            <a:r>
              <a:rPr lang="en-US" kern="0" dirty="0"/>
              <a:t>“Create an issue from this bug report”</a:t>
            </a:r>
          </a:p>
          <a:p>
            <a:pPr marL="692150" lvl="1" indent="-233363"/>
            <a:r>
              <a:rPr lang="en-US" kern="0" dirty="0"/>
              <a:t>“</a:t>
            </a:r>
            <a:r>
              <a:rPr lang="en-US" dirty="0"/>
              <a:t>Open a pull request for this feature and summarize the changes and testing”</a:t>
            </a:r>
          </a:p>
        </p:txBody>
      </p:sp>
    </p:spTree>
    <p:extLst>
      <p:ext uri="{BB962C8B-B14F-4D97-AF65-F5344CB8AC3E}">
        <p14:creationId xmlns:p14="http://schemas.microsoft.com/office/powerpoint/2010/main" val="193272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Boulder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5689"/>
      </a:hlink>
      <a:folHlink>
        <a:srgbClr val="005689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UBoulder" id="{22C9E7FD-29F8-440A-83A3-6026F7243698}" vid="{C4BF4658-6518-4491-BFF2-1B126C95D8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INAL CU LEEDS COLORS">
    <a:dk1>
      <a:srgbClr val="000000"/>
    </a:dk1>
    <a:lt1>
      <a:srgbClr val="FFFFFF"/>
    </a:lt1>
    <a:dk2>
      <a:srgbClr val="1D1D1D"/>
    </a:dk2>
    <a:lt2>
      <a:srgbClr val="E7E6E6"/>
    </a:lt2>
    <a:accent1>
      <a:srgbClr val="CEB87B"/>
    </a:accent1>
    <a:accent2>
      <a:srgbClr val="AF8356"/>
    </a:accent2>
    <a:accent3>
      <a:srgbClr val="A0A3AE"/>
    </a:accent3>
    <a:accent4>
      <a:srgbClr val="5E5E64"/>
    </a:accent4>
    <a:accent5>
      <a:srgbClr val="1D1D1D"/>
    </a:accent5>
    <a:accent6>
      <a:srgbClr val="000000"/>
    </a:accent6>
    <a:hlink>
      <a:srgbClr val="CEB87B"/>
    </a:hlink>
    <a:folHlink>
      <a:srgbClr val="AF835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CUBoulder</Template>
  <TotalTime>17784</TotalTime>
  <Words>1937</Words>
  <Application>Microsoft Office PowerPoint</Application>
  <PresentationFormat>On-screen Show (16:9)</PresentationFormat>
  <Paragraphs>211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Georgia</vt:lpstr>
      <vt:lpstr>Times New Roman</vt:lpstr>
      <vt:lpstr>CUBoulder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McIntire School of Commerce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Dobolyi</dc:creator>
  <cp:lastModifiedBy>Christopher Burnham</cp:lastModifiedBy>
  <cp:revision>378</cp:revision>
  <dcterms:created xsi:type="dcterms:W3CDTF">2017-01-22T22:53:20Z</dcterms:created>
  <dcterms:modified xsi:type="dcterms:W3CDTF">2026-10-05T17:29:34Z</dcterms:modified>
</cp:coreProperties>
</file>